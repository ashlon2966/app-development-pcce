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8" r:id="rId3"/>
    <p:sldId id="481" r:id="rId4"/>
    <p:sldId id="543" r:id="rId5"/>
    <p:sldId id="544" r:id="rId6"/>
    <p:sldId id="545" r:id="rId7"/>
    <p:sldId id="546" r:id="rId8"/>
    <p:sldId id="547" r:id="rId9"/>
    <p:sldId id="549" r:id="rId10"/>
    <p:sldId id="523" r:id="rId11"/>
    <p:sldId id="555" r:id="rId12"/>
    <p:sldId id="556" r:id="rId13"/>
    <p:sldId id="557" r:id="rId14"/>
    <p:sldId id="558" r:id="rId15"/>
    <p:sldId id="559" r:id="rId16"/>
    <p:sldId id="524" r:id="rId17"/>
    <p:sldId id="551" r:id="rId18"/>
    <p:sldId id="553" r:id="rId19"/>
    <p:sldId id="552" r:id="rId20"/>
    <p:sldId id="554" r:id="rId21"/>
    <p:sldId id="550" r:id="rId22"/>
    <p:sldId id="641" r:id="rId23"/>
    <p:sldId id="642" r:id="rId24"/>
    <p:sldId id="643" r:id="rId25"/>
    <p:sldId id="644" r:id="rId26"/>
    <p:sldId id="646" r:id="rId27"/>
    <p:sldId id="539" r:id="rId28"/>
    <p:sldId id="572" r:id="rId29"/>
    <p:sldId id="573" r:id="rId30"/>
    <p:sldId id="574" r:id="rId31"/>
    <p:sldId id="575" r:id="rId32"/>
    <p:sldId id="576" r:id="rId33"/>
    <p:sldId id="577" r:id="rId34"/>
    <p:sldId id="578" r:id="rId35"/>
    <p:sldId id="579" r:id="rId36"/>
    <p:sldId id="581" r:id="rId37"/>
    <p:sldId id="582" r:id="rId38"/>
    <p:sldId id="583" r:id="rId39"/>
    <p:sldId id="584" r:id="rId40"/>
    <p:sldId id="585" r:id="rId41"/>
    <p:sldId id="586" r:id="rId42"/>
    <p:sldId id="587" r:id="rId43"/>
    <p:sldId id="588" r:id="rId44"/>
    <p:sldId id="589" r:id="rId45"/>
    <p:sldId id="591" r:id="rId46"/>
    <p:sldId id="590" r:id="rId47"/>
    <p:sldId id="593" r:id="rId48"/>
    <p:sldId id="540" r:id="rId49"/>
    <p:sldId id="560" r:id="rId50"/>
    <p:sldId id="564" r:id="rId51"/>
    <p:sldId id="561" r:id="rId52"/>
    <p:sldId id="563" r:id="rId53"/>
    <p:sldId id="565" r:id="rId54"/>
    <p:sldId id="566" r:id="rId55"/>
    <p:sldId id="567" r:id="rId56"/>
    <p:sldId id="568" r:id="rId57"/>
    <p:sldId id="569" r:id="rId58"/>
    <p:sldId id="570" r:id="rId59"/>
    <p:sldId id="571" r:id="rId60"/>
    <p:sldId id="541" r:id="rId61"/>
    <p:sldId id="594" r:id="rId62"/>
    <p:sldId id="604" r:id="rId63"/>
    <p:sldId id="595" r:id="rId64"/>
    <p:sldId id="605" r:id="rId65"/>
    <p:sldId id="596" r:id="rId66"/>
    <p:sldId id="606" r:id="rId67"/>
    <p:sldId id="597" r:id="rId68"/>
    <p:sldId id="607" r:id="rId69"/>
    <p:sldId id="598" r:id="rId70"/>
    <p:sldId id="608" r:id="rId71"/>
    <p:sldId id="609" r:id="rId72"/>
    <p:sldId id="610" r:id="rId73"/>
    <p:sldId id="599" r:id="rId74"/>
    <p:sldId id="611" r:id="rId75"/>
    <p:sldId id="613" r:id="rId76"/>
    <p:sldId id="612" r:id="rId77"/>
    <p:sldId id="614" r:id="rId78"/>
    <p:sldId id="600" r:id="rId79"/>
    <p:sldId id="615" r:id="rId80"/>
    <p:sldId id="601" r:id="rId81"/>
    <p:sldId id="616" r:id="rId82"/>
    <p:sldId id="617" r:id="rId83"/>
    <p:sldId id="627" r:id="rId84"/>
    <p:sldId id="602" r:id="rId85"/>
    <p:sldId id="621" r:id="rId86"/>
    <p:sldId id="623" r:id="rId87"/>
    <p:sldId id="622" r:id="rId88"/>
    <p:sldId id="624" r:id="rId89"/>
    <p:sldId id="603" r:id="rId90"/>
    <p:sldId id="626" r:id="rId91"/>
    <p:sldId id="647"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3B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66"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4F831BA-3058-4AF6-8A31-34D71894BE9D}"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23046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975591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F831BA-3058-4AF6-8A31-34D71894BE9D}"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6836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F831BA-3058-4AF6-8A31-34D71894BE9D}"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2607080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F831BA-3058-4AF6-8A31-34D71894BE9D}"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60804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F831BA-3058-4AF6-8A31-34D71894BE9D}" type="datetimeFigureOut">
              <a:rPr lang="en-US" smtClean="0"/>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2105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F831BA-3058-4AF6-8A31-34D71894BE9D}" type="datetimeFigureOut">
              <a:rPr lang="en-US" smtClean="0"/>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72478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80941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56631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339892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17937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831BA-3058-4AF6-8A31-34D71894BE9D}" type="datetimeFigureOut">
              <a:rPr lang="en-US" smtClean="0"/>
              <a:t>7/24/2025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9D014-865D-4D0D-9906-86C262C93F34}" type="slidenum">
              <a:rPr lang="en-US" smtClean="0"/>
              <a:t>‹#›</a:t>
            </a:fld>
            <a:endParaRPr lang="en-US"/>
          </a:p>
        </p:txBody>
      </p:sp>
    </p:spTree>
    <p:extLst>
      <p:ext uri="{BB962C8B-B14F-4D97-AF65-F5344CB8AC3E}">
        <p14:creationId xmlns:p14="http://schemas.microsoft.com/office/powerpoint/2010/main" val="1245554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630" y="412122"/>
            <a:ext cx="10582141" cy="4159877"/>
          </a:xfrm>
        </p:spPr>
        <p:txBody>
          <a:bodyPr>
            <a:normAutofit/>
          </a:bodyPr>
          <a:lstStyle/>
          <a:p>
            <a:r>
              <a:rPr lang="en-US" sz="3600" dirty="0"/>
              <a:t>Bachelor Of Engineering </a:t>
            </a:r>
            <a:br>
              <a:rPr lang="en-US" sz="3600" dirty="0"/>
            </a:br>
            <a:r>
              <a:rPr lang="en-US" sz="3600" dirty="0"/>
              <a:t>In </a:t>
            </a:r>
            <a:br>
              <a:rPr lang="en-US" sz="3600" dirty="0"/>
            </a:br>
            <a:r>
              <a:rPr lang="en-US" sz="3600" dirty="0"/>
              <a:t>Information Technology</a:t>
            </a:r>
            <a:br>
              <a:rPr lang="en-US" sz="3600" dirty="0"/>
            </a:br>
            <a:r>
              <a:rPr lang="en-US" sz="3600" dirty="0"/>
              <a:t/>
            </a:r>
            <a:br>
              <a:rPr lang="en-US" sz="3600" dirty="0"/>
            </a:br>
            <a:r>
              <a:rPr lang="en-US" sz="3600" dirty="0"/>
              <a:t>Semester Three, Second Year(Odd semester)</a:t>
            </a:r>
            <a:br>
              <a:rPr lang="en-US" sz="3600" dirty="0"/>
            </a:br>
            <a:r>
              <a:rPr lang="en-US" sz="3600" dirty="0"/>
              <a:t>14</a:t>
            </a:r>
            <a:r>
              <a:rPr lang="en-US" sz="3600" baseline="30000" dirty="0"/>
              <a:t>th</a:t>
            </a:r>
            <a:r>
              <a:rPr lang="en-US" sz="3600" dirty="0"/>
              <a:t> July  2025 to 22</a:t>
            </a:r>
            <a:r>
              <a:rPr lang="en-US" sz="3600" baseline="30000" dirty="0"/>
              <a:t>nd</a:t>
            </a:r>
            <a:r>
              <a:rPr lang="en-US" sz="3600" dirty="0"/>
              <a:t> November 2025</a:t>
            </a:r>
            <a:br>
              <a:rPr lang="en-US" sz="3600" dirty="0"/>
            </a:br>
            <a:endParaRPr lang="en-US" sz="3600" dirty="0"/>
          </a:p>
        </p:txBody>
      </p:sp>
      <p:sp>
        <p:nvSpPr>
          <p:cNvPr id="3" name="Subtitle 2"/>
          <p:cNvSpPr>
            <a:spLocks noGrp="1"/>
          </p:cNvSpPr>
          <p:nvPr>
            <p:ph type="subTitle" idx="1"/>
          </p:nvPr>
        </p:nvSpPr>
        <p:spPr>
          <a:xfrm>
            <a:off x="1431700" y="4735379"/>
            <a:ext cx="9144000" cy="1655762"/>
          </a:xfrm>
        </p:spPr>
        <p:txBody>
          <a:bodyPr/>
          <a:lstStyle/>
          <a:p>
            <a:r>
              <a:rPr lang="en-US" dirty="0"/>
              <a:t>Padre </a:t>
            </a:r>
            <a:r>
              <a:rPr lang="en-US" dirty="0" err="1"/>
              <a:t>Conceicao</a:t>
            </a:r>
            <a:r>
              <a:rPr lang="en-US" dirty="0"/>
              <a:t> College of Engineering</a:t>
            </a:r>
          </a:p>
          <a:p>
            <a:r>
              <a:rPr lang="en-US" dirty="0"/>
              <a:t>Verna Goa 403722 India</a:t>
            </a:r>
          </a:p>
        </p:txBody>
      </p:sp>
    </p:spTree>
    <p:extLst>
      <p:ext uri="{BB962C8B-B14F-4D97-AF65-F5344CB8AC3E}">
        <p14:creationId xmlns:p14="http://schemas.microsoft.com/office/powerpoint/2010/main" val="15659187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App Development</a:t>
            </a:r>
          </a:p>
        </p:txBody>
      </p:sp>
      <p:sp>
        <p:nvSpPr>
          <p:cNvPr id="3" name="Subtitle 2"/>
          <p:cNvSpPr>
            <a:spLocks noGrp="1"/>
          </p:cNvSpPr>
          <p:nvPr>
            <p:ph type="subTitle" idx="1"/>
          </p:nvPr>
        </p:nvSpPr>
        <p:spPr/>
        <p:txBody>
          <a:bodyPr/>
          <a:lstStyle/>
          <a:p>
            <a:r>
              <a:rPr lang="en-IN" dirty="0"/>
              <a:t>SEC-241</a:t>
            </a:r>
          </a:p>
          <a:p>
            <a:r>
              <a:rPr lang="en-US" dirty="0"/>
              <a:t>22</a:t>
            </a:r>
            <a:r>
              <a:rPr lang="en-US" baseline="30000" dirty="0"/>
              <a:t>nd </a:t>
            </a:r>
            <a:r>
              <a:rPr lang="en-US" dirty="0"/>
              <a:t> July  2025 </a:t>
            </a:r>
            <a:endParaRPr lang="en-IN" dirty="0"/>
          </a:p>
        </p:txBody>
      </p:sp>
    </p:spTree>
    <p:extLst>
      <p:ext uri="{BB962C8B-B14F-4D97-AF65-F5344CB8AC3E}">
        <p14:creationId xmlns:p14="http://schemas.microsoft.com/office/powerpoint/2010/main" val="39984964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079" y="296214"/>
            <a:ext cx="10515600" cy="2125013"/>
          </a:xfrm>
        </p:spPr>
        <p:txBody>
          <a:bodyPr>
            <a:normAutofit/>
          </a:bodyPr>
          <a:lstStyle/>
          <a:p>
            <a:r>
              <a:rPr lang="en-IN" sz="2700" dirty="0">
                <a:latin typeface="Arial" panose="020B0604020202020204" pitchFamily="34" charset="0"/>
                <a:cs typeface="Arial" panose="020B0604020202020204" pitchFamily="34" charset="0"/>
              </a:rPr>
              <a:t>UNIT 1 :</a:t>
            </a:r>
            <a:r>
              <a:rPr lang="en-US" sz="2700" dirty="0">
                <a:latin typeface="Arial" panose="020B0604020202020204" pitchFamily="34" charset="0"/>
                <a:cs typeface="Arial" panose="020B0604020202020204" pitchFamily="34" charset="0"/>
              </a:rPr>
              <a:t>HTML</a:t>
            </a:r>
            <a:br>
              <a:rPr lang="en-US" sz="2700" dirty="0">
                <a:latin typeface="Arial" panose="020B0604020202020204" pitchFamily="34" charset="0"/>
                <a:cs typeface="Arial" panose="020B0604020202020204" pitchFamily="34" charset="0"/>
              </a:rPr>
            </a:br>
            <a:r>
              <a:rPr lang="en-US" sz="2800" dirty="0"/>
              <a:t/>
            </a:r>
            <a:br>
              <a:rPr lang="en-US" sz="2800" dirty="0"/>
            </a:b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11025645"/>
              </p:ext>
            </p:extLst>
          </p:nvPr>
        </p:nvGraphicFramePr>
        <p:xfrm>
          <a:off x="966989" y="2550016"/>
          <a:ext cx="9877022" cy="3360215"/>
        </p:xfrm>
        <a:graphic>
          <a:graphicData uri="http://schemas.openxmlformats.org/drawingml/2006/table">
            <a:tbl>
              <a:tblPr firstRow="1" bandRow="1">
                <a:tableStyleId>{93296810-A885-4BE3-A3E7-6D5BEEA58F35}</a:tableStyleId>
              </a:tblPr>
              <a:tblGrid>
                <a:gridCol w="879233">
                  <a:extLst>
                    <a:ext uri="{9D8B030D-6E8A-4147-A177-3AD203B41FA5}">
                      <a16:colId xmlns:a16="http://schemas.microsoft.com/office/drawing/2014/main" xmlns="" val="20000"/>
                    </a:ext>
                  </a:extLst>
                </a:gridCol>
                <a:gridCol w="8997789">
                  <a:extLst>
                    <a:ext uri="{9D8B030D-6E8A-4147-A177-3AD203B41FA5}">
                      <a16:colId xmlns:a16="http://schemas.microsoft.com/office/drawing/2014/main" xmlns="" val="20001"/>
                    </a:ext>
                  </a:extLst>
                </a:gridCol>
              </a:tblGrid>
              <a:tr h="552452">
                <a:tc>
                  <a:txBody>
                    <a:bodyPr/>
                    <a:lstStyle/>
                    <a:p>
                      <a:r>
                        <a:rPr lang="en-IN" dirty="0"/>
                        <a:t>Sr.No</a:t>
                      </a:r>
                    </a:p>
                  </a:txBody>
                  <a:tcPr/>
                </a:tc>
                <a:tc>
                  <a:txBody>
                    <a:bodyPr/>
                    <a:lstStyle/>
                    <a:p>
                      <a:r>
                        <a:rPr lang="en-IN" dirty="0"/>
                        <a:t>Title</a:t>
                      </a:r>
                    </a:p>
                  </a:txBody>
                  <a:tcPr/>
                </a:tc>
                <a:extLst>
                  <a:ext uri="{0D108BD9-81ED-4DB2-BD59-A6C34878D82A}">
                    <a16:rowId xmlns:a16="http://schemas.microsoft.com/office/drawing/2014/main" xmlns="" val="10000"/>
                  </a:ext>
                </a:extLst>
              </a:tr>
              <a:tr h="344491">
                <a:tc>
                  <a:txBody>
                    <a:bodyPr/>
                    <a:lstStyle/>
                    <a:p>
                      <a:r>
                        <a:rPr lang="en-IN" b="0" dirty="0"/>
                        <a:t>1</a:t>
                      </a:r>
                    </a:p>
                  </a:txBody>
                  <a:tcPr/>
                </a:tc>
                <a:tc>
                  <a:txBody>
                    <a:bodyPr/>
                    <a:lstStyle/>
                    <a:p>
                      <a:r>
                        <a:rPr lang="en-US" dirty="0"/>
                        <a:t>Elements </a:t>
                      </a:r>
                    </a:p>
                  </a:txBody>
                  <a:tcPr/>
                </a:tc>
                <a:extLst>
                  <a:ext uri="{0D108BD9-81ED-4DB2-BD59-A6C34878D82A}">
                    <a16:rowId xmlns:a16="http://schemas.microsoft.com/office/drawing/2014/main" xmlns="" val="10001"/>
                  </a:ext>
                </a:extLst>
              </a:tr>
              <a:tr h="344491">
                <a:tc>
                  <a:txBody>
                    <a:bodyPr/>
                    <a:lstStyle/>
                    <a:p>
                      <a:r>
                        <a:rPr lang="en-IN" b="0" dirty="0"/>
                        <a:t>2</a:t>
                      </a:r>
                    </a:p>
                  </a:txBody>
                  <a:tcPr/>
                </a:tc>
                <a:tc>
                  <a:txBody>
                    <a:bodyPr/>
                    <a:lstStyle/>
                    <a:p>
                      <a:r>
                        <a:rPr lang="en-US" dirty="0"/>
                        <a:t>Attributes </a:t>
                      </a:r>
                    </a:p>
                  </a:txBody>
                  <a:tcPr/>
                </a:tc>
                <a:extLst>
                  <a:ext uri="{0D108BD9-81ED-4DB2-BD59-A6C34878D82A}">
                    <a16:rowId xmlns:a16="http://schemas.microsoft.com/office/drawing/2014/main" xmlns="" val="10002"/>
                  </a:ext>
                </a:extLst>
              </a:tr>
              <a:tr h="344491">
                <a:tc>
                  <a:txBody>
                    <a:bodyPr/>
                    <a:lstStyle/>
                    <a:p>
                      <a:r>
                        <a:rPr lang="en-IN" b="0" dirty="0"/>
                        <a:t>3</a:t>
                      </a:r>
                    </a:p>
                  </a:txBody>
                  <a:tcPr/>
                </a:tc>
                <a:tc>
                  <a:txBody>
                    <a:bodyPr/>
                    <a:lstStyle/>
                    <a:p>
                      <a:r>
                        <a:rPr lang="en-US" dirty="0"/>
                        <a:t>Tags </a:t>
                      </a:r>
                      <a:endParaRPr lang="en-US" b="0" dirty="0"/>
                    </a:p>
                  </a:txBody>
                  <a:tcPr/>
                </a:tc>
                <a:extLst>
                  <a:ext uri="{0D108BD9-81ED-4DB2-BD59-A6C34878D82A}">
                    <a16:rowId xmlns:a16="http://schemas.microsoft.com/office/drawing/2014/main" xmlns="" val="10003"/>
                  </a:ext>
                </a:extLst>
              </a:tr>
              <a:tr h="344491">
                <a:tc>
                  <a:txBody>
                    <a:bodyPr/>
                    <a:lstStyle/>
                    <a:p>
                      <a:r>
                        <a:rPr lang="en-IN" b="0" dirty="0"/>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Forms</a:t>
                      </a:r>
                      <a:endParaRPr lang="en-US" b="0" dirty="0"/>
                    </a:p>
                  </a:txBody>
                  <a:tcPr/>
                </a:tc>
                <a:extLst>
                  <a:ext uri="{0D108BD9-81ED-4DB2-BD59-A6C34878D82A}">
                    <a16:rowId xmlns:a16="http://schemas.microsoft.com/office/drawing/2014/main" xmlns="" val="10004"/>
                  </a:ext>
                </a:extLst>
              </a:tr>
              <a:tr h="344491">
                <a:tc>
                  <a:txBody>
                    <a:bodyPr/>
                    <a:lstStyle/>
                    <a:p>
                      <a:r>
                        <a:rPr lang="en-IN" b="0" dirty="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Frames</a:t>
                      </a:r>
                      <a:endParaRPr lang="en-US" b="0" dirty="0"/>
                    </a:p>
                  </a:txBody>
                  <a:tcPr/>
                </a:tc>
                <a:extLst>
                  <a:ext uri="{0D108BD9-81ED-4DB2-BD59-A6C34878D82A}">
                    <a16:rowId xmlns:a16="http://schemas.microsoft.com/office/drawing/2014/main" xmlns="" val="10005"/>
                  </a:ext>
                </a:extLst>
              </a:tr>
              <a:tr h="344491">
                <a:tc>
                  <a:txBody>
                    <a:bodyPr/>
                    <a:lstStyle/>
                    <a:p>
                      <a:r>
                        <a:rPr lang="en-IN" b="0" dirty="0"/>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Tables</a:t>
                      </a:r>
                      <a:endParaRPr lang="en-US" b="0" dirty="0"/>
                    </a:p>
                  </a:txBody>
                  <a:tcPr/>
                </a:tc>
                <a:extLst>
                  <a:ext uri="{0D108BD9-81ED-4DB2-BD59-A6C34878D82A}">
                    <a16:rowId xmlns:a16="http://schemas.microsoft.com/office/drawing/2014/main" xmlns="" val="10006"/>
                  </a:ext>
                </a:extLst>
              </a:tr>
              <a:tr h="613203">
                <a:tc>
                  <a:txBody>
                    <a:bodyPr/>
                    <a:lstStyle/>
                    <a:p>
                      <a:r>
                        <a:rPr lang="en-IN" b="0" dirty="0"/>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Overview and features of HTML5</a:t>
                      </a:r>
                      <a:endParaRPr lang="en-US" b="0" dirty="0"/>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497531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HTML?</a:t>
            </a:r>
          </a:p>
        </p:txBody>
      </p:sp>
      <p:sp>
        <p:nvSpPr>
          <p:cNvPr id="3" name="Content Placeholder 2"/>
          <p:cNvSpPr>
            <a:spLocks noGrp="1"/>
          </p:cNvSpPr>
          <p:nvPr>
            <p:ph idx="1"/>
          </p:nvPr>
        </p:nvSpPr>
        <p:spPr/>
        <p:txBody>
          <a:bodyPr/>
          <a:lstStyle/>
          <a:p>
            <a:r>
              <a:rPr lang="en-US" dirty="0"/>
              <a:t>HTML stands for Hyper Text Markup Language.</a:t>
            </a:r>
          </a:p>
          <a:p>
            <a:r>
              <a:rPr lang="en-US" dirty="0"/>
              <a:t>HTML file is a text file containing small markup tags.</a:t>
            </a:r>
          </a:p>
          <a:p>
            <a:r>
              <a:rPr lang="en-US" dirty="0"/>
              <a:t>The markup tags tell the Web browser how to display the page.</a:t>
            </a:r>
          </a:p>
          <a:p>
            <a:r>
              <a:rPr lang="en-US" dirty="0"/>
              <a:t>An HTML file must have </a:t>
            </a:r>
            <a:r>
              <a:rPr lang="en-US" dirty="0" err="1"/>
              <a:t>htm</a:t>
            </a:r>
            <a:r>
              <a:rPr lang="en-US" dirty="0"/>
              <a:t> or html file extension</a:t>
            </a:r>
          </a:p>
          <a:p>
            <a:r>
              <a:rPr lang="en-US" dirty="0"/>
              <a:t>An HTML file can be created using any simple text editor .</a:t>
            </a:r>
            <a:r>
              <a:rPr lang="en-US" dirty="0" err="1"/>
              <a:t>eg</a:t>
            </a:r>
            <a:r>
              <a:rPr lang="en-US" dirty="0"/>
              <a:t> Notepad.</a:t>
            </a:r>
          </a:p>
          <a:p>
            <a:r>
              <a:rPr lang="en-US" dirty="0"/>
              <a:t>HTML file can be saved in a directory of our choice and then open it in a browser.</a:t>
            </a:r>
          </a:p>
          <a:p>
            <a:pPr marL="0" indent="0">
              <a:buNone/>
            </a:pPr>
            <a:endParaRPr lang="en-US" dirty="0"/>
          </a:p>
        </p:txBody>
      </p:sp>
    </p:spTree>
    <p:extLst>
      <p:ext uri="{BB962C8B-B14F-4D97-AF65-F5344CB8AC3E}">
        <p14:creationId xmlns:p14="http://schemas.microsoft.com/office/powerpoint/2010/main" val="27752987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HTML (web) page</a:t>
            </a:r>
          </a:p>
        </p:txBody>
      </p:sp>
      <p:sp>
        <p:nvSpPr>
          <p:cNvPr id="3" name="Content Placeholder 2"/>
          <p:cNvSpPr>
            <a:spLocks noGrp="1"/>
          </p:cNvSpPr>
          <p:nvPr>
            <p:ph idx="1"/>
          </p:nvPr>
        </p:nvSpPr>
        <p:spPr/>
        <p:txBody>
          <a:bodyPr/>
          <a:lstStyle/>
          <a:p>
            <a:r>
              <a:rPr lang="en-US" dirty="0"/>
              <a:t>Figure 1 shows an example of a web page</a:t>
            </a:r>
          </a:p>
          <a:p>
            <a:endParaRPr lang="en-US" dirty="0"/>
          </a:p>
          <a:p>
            <a:endParaRPr lang="en-US" dirty="0"/>
          </a:p>
          <a:p>
            <a:endParaRPr lang="en-US" dirty="0"/>
          </a:p>
          <a:p>
            <a:r>
              <a:rPr lang="en-US" dirty="0"/>
              <a:t>Figure 2 shows an output on the Opera Browser</a:t>
            </a:r>
          </a:p>
          <a:p>
            <a:endParaRPr lang="en-US" dirty="0"/>
          </a:p>
          <a:p>
            <a:endParaRPr lang="en-US" dirty="0"/>
          </a:p>
        </p:txBody>
      </p:sp>
      <p:pic>
        <p:nvPicPr>
          <p:cNvPr id="5" name="Picture 4"/>
          <p:cNvPicPr>
            <a:picLocks noChangeAspect="1"/>
          </p:cNvPicPr>
          <p:nvPr/>
        </p:nvPicPr>
        <p:blipFill>
          <a:blip r:embed="rId2"/>
          <a:stretch>
            <a:fillRect/>
          </a:stretch>
        </p:blipFill>
        <p:spPr>
          <a:xfrm>
            <a:off x="7312182" y="2041156"/>
            <a:ext cx="3441677" cy="1833897"/>
          </a:xfrm>
          <a:prstGeom prst="rect">
            <a:avLst/>
          </a:prstGeom>
        </p:spPr>
      </p:pic>
      <p:pic>
        <p:nvPicPr>
          <p:cNvPr id="6" name="Picture 5"/>
          <p:cNvPicPr>
            <a:picLocks noChangeAspect="1"/>
          </p:cNvPicPr>
          <p:nvPr/>
        </p:nvPicPr>
        <p:blipFill>
          <a:blip r:embed="rId3"/>
          <a:stretch>
            <a:fillRect/>
          </a:stretch>
        </p:blipFill>
        <p:spPr>
          <a:xfrm>
            <a:off x="7081637" y="4380427"/>
            <a:ext cx="3257550" cy="1600200"/>
          </a:xfrm>
          <a:prstGeom prst="rect">
            <a:avLst/>
          </a:prstGeom>
        </p:spPr>
      </p:pic>
    </p:spTree>
    <p:extLst>
      <p:ext uri="{BB962C8B-B14F-4D97-AF65-F5344CB8AC3E}">
        <p14:creationId xmlns:p14="http://schemas.microsoft.com/office/powerpoint/2010/main" val="1778660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&lt;html&gt;</a:t>
            </a:r>
          </a:p>
        </p:txBody>
      </p:sp>
      <p:sp>
        <p:nvSpPr>
          <p:cNvPr id="3" name="Content Placeholder 2"/>
          <p:cNvSpPr>
            <a:spLocks noGrp="1"/>
          </p:cNvSpPr>
          <p:nvPr>
            <p:ph idx="1"/>
          </p:nvPr>
        </p:nvSpPr>
        <p:spPr/>
        <p:txBody>
          <a:bodyPr/>
          <a:lstStyle/>
          <a:p>
            <a:r>
              <a:rPr lang="en-US" dirty="0"/>
              <a:t>Every HTML page must begin with this line.</a:t>
            </a:r>
          </a:p>
          <a:p>
            <a:r>
              <a:rPr lang="en-US" dirty="0"/>
              <a:t>This line indicates that the current page should be interpreted by the web browser(when we ask the browser to open it) as an HTML page.</a:t>
            </a:r>
          </a:p>
          <a:p>
            <a:r>
              <a:rPr lang="en-US" dirty="0"/>
              <a:t>Because we enclose the word html inside the characters </a:t>
            </a:r>
            <a:r>
              <a:rPr lang="en-US" dirty="0">
                <a:solidFill>
                  <a:srgbClr val="C00000"/>
                </a:solidFill>
              </a:rPr>
              <a:t>&lt; </a:t>
            </a:r>
            <a:r>
              <a:rPr lang="en-US" dirty="0"/>
              <a:t>and </a:t>
            </a:r>
            <a:r>
              <a:rPr lang="en-US" dirty="0">
                <a:solidFill>
                  <a:srgbClr val="C00000"/>
                </a:solidFill>
              </a:rPr>
              <a:t>&gt;</a:t>
            </a:r>
            <a:r>
              <a:rPr lang="en-US" dirty="0"/>
              <a:t>, it is called a tag.</a:t>
            </a:r>
          </a:p>
          <a:p>
            <a:r>
              <a:rPr lang="en-US" dirty="0"/>
              <a:t>A tag in HTML conveys some information to the browser .</a:t>
            </a:r>
          </a:p>
          <a:p>
            <a:r>
              <a:rPr lang="en-US" dirty="0"/>
              <a:t>For example, here, the tag &lt;html&gt; tells the browser that the HTML page starts here.</a:t>
            </a:r>
          </a:p>
        </p:txBody>
      </p:sp>
    </p:spTree>
    <p:extLst>
      <p:ext uri="{BB962C8B-B14F-4D97-AF65-F5344CB8AC3E}">
        <p14:creationId xmlns:p14="http://schemas.microsoft.com/office/powerpoint/2010/main" val="11071308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8490"/>
            <a:ext cx="10515600" cy="5571656"/>
          </a:xfrm>
        </p:spPr>
        <p:txBody>
          <a:bodyPr>
            <a:normAutofit/>
          </a:bodyPr>
          <a:lstStyle/>
          <a:p>
            <a:r>
              <a:rPr lang="en-US" dirty="0"/>
              <a:t>An HTML page consists of two sections</a:t>
            </a:r>
          </a:p>
          <a:p>
            <a:pPr marL="514350" indent="-514350">
              <a:buFont typeface="+mj-lt"/>
              <a:buAutoNum type="arabicPeriod"/>
            </a:pPr>
            <a:r>
              <a:rPr lang="en-US" dirty="0"/>
              <a:t>The head of the page</a:t>
            </a:r>
          </a:p>
          <a:p>
            <a:pPr marL="514350" indent="-514350">
              <a:buFont typeface="+mj-lt"/>
              <a:buAutoNum type="arabicPeriod"/>
            </a:pPr>
            <a:r>
              <a:rPr lang="en-US" dirty="0"/>
              <a:t>The body of the page</a:t>
            </a:r>
          </a:p>
          <a:p>
            <a:pPr marL="514350" indent="-514350">
              <a:buFont typeface="+mj-lt"/>
              <a:buAutoNum type="arabicPeriod"/>
            </a:pPr>
            <a:endParaRPr lang="en-US" dirty="0"/>
          </a:p>
          <a:p>
            <a:pPr marL="514350" indent="-514350">
              <a:buFont typeface="+mj-lt"/>
              <a:buAutoNum type="arabicPeriod"/>
            </a:pPr>
            <a:r>
              <a:rPr lang="en-US" dirty="0"/>
              <a:t>These lines define the head part of an HTML page.</a:t>
            </a:r>
          </a:p>
          <a:p>
            <a:pPr marL="514350" indent="-514350">
              <a:buFont typeface="+mj-lt"/>
              <a:buAutoNum type="arabicPeriod"/>
            </a:pPr>
            <a:r>
              <a:rPr lang="en-US" dirty="0"/>
              <a:t>The title of the page is defined in the head section.</a:t>
            </a:r>
          </a:p>
          <a:p>
            <a:pPr marL="514350" indent="-514350">
              <a:buFont typeface="+mj-lt"/>
              <a:buAutoNum type="arabicPeriod"/>
            </a:pPr>
            <a:r>
              <a:rPr lang="en-US" dirty="0"/>
              <a:t>In figure 1 we have defined the title of the page as “Title of page”</a:t>
            </a:r>
          </a:p>
          <a:p>
            <a:pPr marL="514350" indent="-514350">
              <a:buFont typeface="+mj-lt"/>
              <a:buAutoNum type="arabicPeriod"/>
            </a:pPr>
            <a:r>
              <a:rPr lang="en-US" dirty="0"/>
              <a:t>If we look at the browser output, we will notice that this value is displayed at the top of the page</a:t>
            </a:r>
          </a:p>
          <a:p>
            <a:pPr marL="514350" indent="-514350">
              <a:buFont typeface="+mj-lt"/>
              <a:buAutoNum type="arabicPeriod"/>
            </a:pPr>
            <a:endParaRPr lang="en-US" dirty="0"/>
          </a:p>
        </p:txBody>
      </p:sp>
      <p:pic>
        <p:nvPicPr>
          <p:cNvPr id="5" name="Picture 4"/>
          <p:cNvPicPr>
            <a:picLocks noChangeAspect="1"/>
          </p:cNvPicPr>
          <p:nvPr/>
        </p:nvPicPr>
        <p:blipFill>
          <a:blip r:embed="rId2"/>
          <a:stretch>
            <a:fillRect/>
          </a:stretch>
        </p:blipFill>
        <p:spPr>
          <a:xfrm>
            <a:off x="7087538" y="1065190"/>
            <a:ext cx="2687526" cy="1346916"/>
          </a:xfrm>
          <a:prstGeom prst="rect">
            <a:avLst/>
          </a:prstGeom>
        </p:spPr>
      </p:pic>
      <p:pic>
        <p:nvPicPr>
          <p:cNvPr id="6" name="Picture 5"/>
          <p:cNvPicPr>
            <a:picLocks noChangeAspect="1"/>
          </p:cNvPicPr>
          <p:nvPr/>
        </p:nvPicPr>
        <p:blipFill>
          <a:blip r:embed="rId3"/>
          <a:stretch>
            <a:fillRect/>
          </a:stretch>
        </p:blipFill>
        <p:spPr>
          <a:xfrm>
            <a:off x="1486369" y="2261316"/>
            <a:ext cx="2476500" cy="533400"/>
          </a:xfrm>
          <a:prstGeom prst="rect">
            <a:avLst/>
          </a:prstGeom>
        </p:spPr>
      </p:pic>
      <p:pic>
        <p:nvPicPr>
          <p:cNvPr id="7" name="Picture 6"/>
          <p:cNvPicPr>
            <a:picLocks noChangeAspect="1"/>
          </p:cNvPicPr>
          <p:nvPr/>
        </p:nvPicPr>
        <p:blipFill>
          <a:blip r:embed="rId4"/>
          <a:stretch>
            <a:fillRect/>
          </a:stretch>
        </p:blipFill>
        <p:spPr>
          <a:xfrm>
            <a:off x="7339214" y="4778062"/>
            <a:ext cx="3257550" cy="1592084"/>
          </a:xfrm>
          <a:prstGeom prst="rect">
            <a:avLst/>
          </a:prstGeom>
        </p:spPr>
      </p:pic>
      <p:sp>
        <p:nvSpPr>
          <p:cNvPr id="8" name="Title 1"/>
          <p:cNvSpPr>
            <a:spLocks noGrp="1"/>
          </p:cNvSpPr>
          <p:nvPr>
            <p:ph type="title"/>
          </p:nvPr>
        </p:nvSpPr>
        <p:spPr>
          <a:xfrm>
            <a:off x="838200" y="135184"/>
            <a:ext cx="10515600" cy="470124"/>
          </a:xfrm>
        </p:spPr>
        <p:txBody>
          <a:bodyPr>
            <a:normAutofit fontScale="90000"/>
          </a:bodyPr>
          <a:lstStyle/>
          <a:p>
            <a:r>
              <a:rPr lang="en-US" dirty="0"/>
              <a:t>The head section</a:t>
            </a:r>
          </a:p>
        </p:txBody>
      </p:sp>
    </p:spTree>
    <p:extLst>
      <p:ext uri="{BB962C8B-B14F-4D97-AF65-F5344CB8AC3E}">
        <p14:creationId xmlns:p14="http://schemas.microsoft.com/office/powerpoint/2010/main" val="15802902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063"/>
            <a:ext cx="10515600" cy="665185"/>
          </a:xfrm>
        </p:spPr>
        <p:txBody>
          <a:bodyPr>
            <a:normAutofit fontScale="90000"/>
          </a:bodyPr>
          <a:lstStyle/>
          <a:p>
            <a:r>
              <a:rPr lang="en-US" dirty="0"/>
              <a:t>The body section</a:t>
            </a:r>
          </a:p>
        </p:txBody>
      </p:sp>
      <p:sp>
        <p:nvSpPr>
          <p:cNvPr id="3" name="Content Placeholder 2"/>
          <p:cNvSpPr>
            <a:spLocks noGrp="1"/>
          </p:cNvSpPr>
          <p:nvPr>
            <p:ph idx="1"/>
          </p:nvPr>
        </p:nvSpPr>
        <p:spPr>
          <a:xfrm>
            <a:off x="838200" y="978794"/>
            <a:ext cx="10515600" cy="5198169"/>
          </a:xfrm>
        </p:spPr>
        <p:txBody>
          <a:bodyPr/>
          <a:lstStyle/>
          <a:p>
            <a:r>
              <a:rPr lang="en-US" dirty="0"/>
              <a:t>The HTML page contains a body section.</a:t>
            </a:r>
          </a:p>
          <a:p>
            <a:r>
              <a:rPr lang="en-US" dirty="0"/>
              <a:t>The body section contains the tags that display the output on the browser screen other than the title. Here the body section contains some text, which is displayed as it is.</a:t>
            </a:r>
          </a:p>
          <a:p>
            <a:r>
              <a:rPr lang="en-US" dirty="0"/>
              <a:t>In figure 1,we have some text inside tags </a:t>
            </a:r>
            <a:r>
              <a:rPr lang="en-US" dirty="0">
                <a:solidFill>
                  <a:srgbClr val="C00000"/>
                </a:solidFill>
              </a:rPr>
              <a:t>&lt;</a:t>
            </a:r>
            <a:r>
              <a:rPr lang="en-US" dirty="0"/>
              <a:t>b</a:t>
            </a:r>
            <a:r>
              <a:rPr lang="en-US" dirty="0">
                <a:solidFill>
                  <a:srgbClr val="C00000"/>
                </a:solidFill>
              </a:rPr>
              <a:t>&gt;</a:t>
            </a:r>
            <a:r>
              <a:rPr lang="en-US" dirty="0"/>
              <a:t> and </a:t>
            </a:r>
            <a:r>
              <a:rPr lang="en-US" dirty="0">
                <a:solidFill>
                  <a:srgbClr val="C00000"/>
                </a:solidFill>
              </a:rPr>
              <a:t>&lt;</a:t>
            </a:r>
            <a:r>
              <a:rPr lang="en-US" dirty="0"/>
              <a:t>/b</a:t>
            </a:r>
            <a:r>
              <a:rPr lang="en-US" dirty="0">
                <a:solidFill>
                  <a:srgbClr val="C00000"/>
                </a:solidFill>
              </a:rPr>
              <a:t>&gt;</a:t>
            </a:r>
          </a:p>
          <a:p>
            <a:r>
              <a:rPr lang="en-US" dirty="0"/>
              <a:t>This indicates that whatever is enclosed inside these tags should be displayed in bold. b stands for bold</a:t>
            </a:r>
          </a:p>
          <a:p>
            <a:r>
              <a:rPr lang="en-US" dirty="0"/>
              <a:t>Here, we see that the text enclosed</a:t>
            </a:r>
          </a:p>
          <a:p>
            <a:pPr marL="0" indent="0">
              <a:buNone/>
            </a:pPr>
            <a:r>
              <a:rPr lang="en-US" dirty="0"/>
              <a:t>Inside </a:t>
            </a:r>
            <a:r>
              <a:rPr lang="en-US" dirty="0">
                <a:solidFill>
                  <a:srgbClr val="C00000"/>
                </a:solidFill>
              </a:rPr>
              <a:t>&lt;</a:t>
            </a:r>
            <a:r>
              <a:rPr lang="en-US" dirty="0"/>
              <a:t>b</a:t>
            </a:r>
            <a:r>
              <a:rPr lang="en-US" dirty="0">
                <a:solidFill>
                  <a:srgbClr val="C00000"/>
                </a:solidFill>
              </a:rPr>
              <a:t>&gt;</a:t>
            </a:r>
            <a:r>
              <a:rPr lang="en-US" dirty="0"/>
              <a:t>and </a:t>
            </a:r>
            <a:r>
              <a:rPr lang="en-US" dirty="0">
                <a:solidFill>
                  <a:srgbClr val="C00000"/>
                </a:solidFill>
              </a:rPr>
              <a:t>&lt;</a:t>
            </a:r>
            <a:r>
              <a:rPr lang="en-US" dirty="0"/>
              <a:t>/b</a:t>
            </a:r>
            <a:r>
              <a:rPr lang="en-US" dirty="0">
                <a:solidFill>
                  <a:srgbClr val="C00000"/>
                </a:solidFill>
              </a:rPr>
              <a:t>&gt;</a:t>
            </a:r>
            <a:r>
              <a:rPr lang="en-US" dirty="0"/>
              <a:t> tags is displayed in bold</a:t>
            </a:r>
          </a:p>
          <a:p>
            <a:pPr marL="0" indent="0">
              <a:buNone/>
            </a:pPr>
            <a:r>
              <a:rPr lang="en-US" dirty="0"/>
              <a:t>Font in the browser output.</a:t>
            </a:r>
          </a:p>
        </p:txBody>
      </p:sp>
      <p:pic>
        <p:nvPicPr>
          <p:cNvPr id="4" name="Picture 3"/>
          <p:cNvPicPr>
            <a:picLocks noChangeAspect="1"/>
          </p:cNvPicPr>
          <p:nvPr/>
        </p:nvPicPr>
        <p:blipFill>
          <a:blip r:embed="rId2"/>
          <a:stretch>
            <a:fillRect/>
          </a:stretch>
        </p:blipFill>
        <p:spPr>
          <a:xfrm>
            <a:off x="7693719" y="583506"/>
            <a:ext cx="2162175" cy="790575"/>
          </a:xfrm>
          <a:prstGeom prst="rect">
            <a:avLst/>
          </a:prstGeom>
        </p:spPr>
      </p:pic>
      <p:pic>
        <p:nvPicPr>
          <p:cNvPr id="5" name="Picture 4"/>
          <p:cNvPicPr>
            <a:picLocks noChangeAspect="1"/>
          </p:cNvPicPr>
          <p:nvPr/>
        </p:nvPicPr>
        <p:blipFill>
          <a:blip r:embed="rId3"/>
          <a:stretch>
            <a:fillRect/>
          </a:stretch>
        </p:blipFill>
        <p:spPr>
          <a:xfrm>
            <a:off x="7693719" y="3812146"/>
            <a:ext cx="3257550" cy="1592084"/>
          </a:xfrm>
          <a:prstGeom prst="rect">
            <a:avLst/>
          </a:prstGeom>
        </p:spPr>
      </p:pic>
    </p:spTree>
    <p:extLst>
      <p:ext uri="{BB962C8B-B14F-4D97-AF65-F5344CB8AC3E}">
        <p14:creationId xmlns:p14="http://schemas.microsoft.com/office/powerpoint/2010/main" val="30854048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&lt;/html&gt;</a:t>
            </a:r>
          </a:p>
        </p:txBody>
      </p:sp>
      <p:sp>
        <p:nvSpPr>
          <p:cNvPr id="3" name="Content Placeholder 2"/>
          <p:cNvSpPr>
            <a:spLocks noGrp="1"/>
          </p:cNvSpPr>
          <p:nvPr>
            <p:ph idx="1"/>
          </p:nvPr>
        </p:nvSpPr>
        <p:spPr/>
        <p:txBody>
          <a:bodyPr/>
          <a:lstStyle/>
          <a:p>
            <a:r>
              <a:rPr lang="en-US" dirty="0"/>
              <a:t>This tag indicates the end of the HTML document</a:t>
            </a:r>
          </a:p>
        </p:txBody>
      </p:sp>
      <p:pic>
        <p:nvPicPr>
          <p:cNvPr id="4" name="Picture 3"/>
          <p:cNvPicPr>
            <a:picLocks noChangeAspect="1"/>
          </p:cNvPicPr>
          <p:nvPr/>
        </p:nvPicPr>
        <p:blipFill>
          <a:blip r:embed="rId2"/>
          <a:stretch>
            <a:fillRect/>
          </a:stretch>
        </p:blipFill>
        <p:spPr>
          <a:xfrm>
            <a:off x="3989433" y="2813888"/>
            <a:ext cx="3441677" cy="1833897"/>
          </a:xfrm>
          <a:prstGeom prst="rect">
            <a:avLst/>
          </a:prstGeom>
        </p:spPr>
      </p:pic>
    </p:spTree>
    <p:extLst>
      <p:ext uri="{BB962C8B-B14F-4D97-AF65-F5344CB8AC3E}">
        <p14:creationId xmlns:p14="http://schemas.microsoft.com/office/powerpoint/2010/main" val="1794431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a:t>
            </a:r>
          </a:p>
        </p:txBody>
      </p:sp>
      <p:sp>
        <p:nvSpPr>
          <p:cNvPr id="3" name="Content Placeholder 2"/>
          <p:cNvSpPr>
            <a:spLocks noGrp="1"/>
          </p:cNvSpPr>
          <p:nvPr>
            <p:ph idx="1"/>
          </p:nvPr>
        </p:nvSpPr>
        <p:spPr/>
        <p:txBody>
          <a:bodyPr>
            <a:normAutofit lnSpcReduction="10000"/>
          </a:bodyPr>
          <a:lstStyle/>
          <a:p>
            <a:r>
              <a:rPr lang="en-US" dirty="0"/>
              <a:t>An HTML document formally begins with the &lt;!DOCTYPE&gt; element.</a:t>
            </a:r>
          </a:p>
          <a:p>
            <a:r>
              <a:rPr lang="en-US" dirty="0"/>
              <a:t>All the HTML code resides between &lt;html&gt; and &lt;/html&gt; tags.</a:t>
            </a:r>
          </a:p>
          <a:p>
            <a:r>
              <a:rPr lang="en-US" dirty="0"/>
              <a:t>The &lt;html&gt; element has two </a:t>
            </a:r>
            <a:r>
              <a:rPr lang="en-US" dirty="0" err="1"/>
              <a:t>subelements</a:t>
            </a:r>
            <a:r>
              <a:rPr lang="en-US" dirty="0"/>
              <a:t> inside it: &lt;head&gt; and &lt;body&gt;</a:t>
            </a:r>
          </a:p>
          <a:p>
            <a:endParaRPr lang="en-US" dirty="0"/>
          </a:p>
          <a:p>
            <a:endParaRPr lang="en-US" dirty="0"/>
          </a:p>
          <a:p>
            <a:endParaRPr lang="en-US" dirty="0"/>
          </a:p>
          <a:p>
            <a:r>
              <a:rPr lang="en-US" dirty="0"/>
              <a:t>The &lt;head&gt; element is used to specify information about the HTML Web page such as title of the Web page, whereas actual contents of the web page are specified inside the &lt;body&gt; element.</a:t>
            </a:r>
          </a:p>
          <a:p>
            <a:endParaRPr lang="en-US" dirty="0"/>
          </a:p>
        </p:txBody>
      </p:sp>
      <p:pic>
        <p:nvPicPr>
          <p:cNvPr id="4" name="Picture 3"/>
          <p:cNvPicPr>
            <a:picLocks noChangeAspect="1"/>
          </p:cNvPicPr>
          <p:nvPr/>
        </p:nvPicPr>
        <p:blipFill>
          <a:blip r:embed="rId2"/>
          <a:stretch>
            <a:fillRect/>
          </a:stretch>
        </p:blipFill>
        <p:spPr>
          <a:xfrm>
            <a:off x="4040948" y="3084345"/>
            <a:ext cx="3441677" cy="1833897"/>
          </a:xfrm>
          <a:prstGeom prst="rect">
            <a:avLst/>
          </a:prstGeom>
        </p:spPr>
      </p:pic>
    </p:spTree>
    <p:extLst>
      <p:ext uri="{BB962C8B-B14F-4D97-AF65-F5344CB8AC3E}">
        <p14:creationId xmlns:p14="http://schemas.microsoft.com/office/powerpoint/2010/main" val="33047936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&lt;!DOCTYPE&gt; Element</a:t>
            </a:r>
          </a:p>
        </p:txBody>
      </p:sp>
      <p:sp>
        <p:nvSpPr>
          <p:cNvPr id="3" name="Content Placeholder 2"/>
          <p:cNvSpPr>
            <a:spLocks noGrp="1"/>
          </p:cNvSpPr>
          <p:nvPr>
            <p:ph idx="1"/>
          </p:nvPr>
        </p:nvSpPr>
        <p:spPr/>
        <p:txBody>
          <a:bodyPr/>
          <a:lstStyle/>
          <a:p>
            <a:r>
              <a:rPr lang="en-US" dirty="0"/>
              <a:t>The &lt;!DOCTYPE&gt; Element is the first element in the HTML document, which specifies the Document Type Definition (DTD) used by the document.</a:t>
            </a:r>
          </a:p>
          <a:p>
            <a:r>
              <a:rPr lang="en-US" dirty="0"/>
              <a:t>The DTD is a separate file containing formal definition of grammar, such as supported elements and attributes used in markup language.</a:t>
            </a:r>
          </a:p>
          <a:p>
            <a:r>
              <a:rPr lang="en-US" dirty="0"/>
              <a:t>The browser checks the code of the document against the rules in the &lt;!DOCTYPE&gt;  declaration.</a:t>
            </a:r>
          </a:p>
          <a:p>
            <a:r>
              <a:rPr lang="en-US" dirty="0"/>
              <a:t>The &lt;!DOCTYPE&gt; Element does not have a closing tag.</a:t>
            </a:r>
          </a:p>
          <a:p>
            <a:endParaRPr lang="en-US" dirty="0"/>
          </a:p>
        </p:txBody>
      </p:sp>
    </p:spTree>
    <p:extLst>
      <p:ext uri="{BB962C8B-B14F-4D97-AF65-F5344CB8AC3E}">
        <p14:creationId xmlns:p14="http://schemas.microsoft.com/office/powerpoint/2010/main" val="1365675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&lt;html&gt; Element</a:t>
            </a:r>
          </a:p>
        </p:txBody>
      </p:sp>
      <p:sp>
        <p:nvSpPr>
          <p:cNvPr id="3" name="Content Placeholder 2"/>
          <p:cNvSpPr>
            <a:spLocks noGrp="1"/>
          </p:cNvSpPr>
          <p:nvPr>
            <p:ph idx="1"/>
          </p:nvPr>
        </p:nvSpPr>
        <p:spPr/>
        <p:txBody>
          <a:bodyPr/>
          <a:lstStyle/>
          <a:p>
            <a:r>
              <a:rPr lang="en-US" dirty="0"/>
              <a:t>The &lt;html&gt; Element starts an HTML document and it comes after the &lt;!DOCTYPE&gt; element in an HTML document.</a:t>
            </a:r>
          </a:p>
          <a:p>
            <a:r>
              <a:rPr lang="en-US" dirty="0"/>
              <a:t>It contains everything an HTML document contains except the &lt;!DOCTYPE&gt; element </a:t>
            </a:r>
          </a:p>
        </p:txBody>
      </p:sp>
      <p:pic>
        <p:nvPicPr>
          <p:cNvPr id="4" name="Picture 3"/>
          <p:cNvPicPr>
            <a:picLocks noChangeAspect="1"/>
          </p:cNvPicPr>
          <p:nvPr/>
        </p:nvPicPr>
        <p:blipFill>
          <a:blip r:embed="rId2"/>
          <a:stretch>
            <a:fillRect/>
          </a:stretch>
        </p:blipFill>
        <p:spPr>
          <a:xfrm>
            <a:off x="4953939" y="3273112"/>
            <a:ext cx="2876550" cy="2552700"/>
          </a:xfrm>
          <a:prstGeom prst="rect">
            <a:avLst/>
          </a:prstGeom>
        </p:spPr>
      </p:pic>
    </p:spTree>
    <p:extLst>
      <p:ext uri="{BB962C8B-B14F-4D97-AF65-F5344CB8AC3E}">
        <p14:creationId xmlns:p14="http://schemas.microsoft.com/office/powerpoint/2010/main" val="7022446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&lt;head&gt; Element</a:t>
            </a:r>
          </a:p>
        </p:txBody>
      </p:sp>
      <p:sp>
        <p:nvSpPr>
          <p:cNvPr id="3" name="Content Placeholder 2"/>
          <p:cNvSpPr>
            <a:spLocks noGrp="1"/>
          </p:cNvSpPr>
          <p:nvPr>
            <p:ph idx="1"/>
          </p:nvPr>
        </p:nvSpPr>
        <p:spPr/>
        <p:txBody>
          <a:bodyPr/>
          <a:lstStyle/>
          <a:p>
            <a:r>
              <a:rPr lang="en-US" dirty="0"/>
              <a:t>The &lt;head&gt; Element contains general information about the HTML document, such as its title, keywords for search engines, and a base address for URLs.</a:t>
            </a:r>
          </a:p>
        </p:txBody>
      </p:sp>
      <p:pic>
        <p:nvPicPr>
          <p:cNvPr id="4" name="Picture 3"/>
          <p:cNvPicPr>
            <a:picLocks noChangeAspect="1"/>
          </p:cNvPicPr>
          <p:nvPr/>
        </p:nvPicPr>
        <p:blipFill>
          <a:blip r:embed="rId2"/>
          <a:stretch>
            <a:fillRect/>
          </a:stretch>
        </p:blipFill>
        <p:spPr>
          <a:xfrm>
            <a:off x="4450254" y="2937724"/>
            <a:ext cx="2905125" cy="2476500"/>
          </a:xfrm>
          <a:prstGeom prst="rect">
            <a:avLst/>
          </a:prstGeom>
        </p:spPr>
      </p:pic>
    </p:spTree>
    <p:extLst>
      <p:ext uri="{BB962C8B-B14F-4D97-AF65-F5344CB8AC3E}">
        <p14:creationId xmlns:p14="http://schemas.microsoft.com/office/powerpoint/2010/main" val="943255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&lt;title&gt; Element</a:t>
            </a:r>
          </a:p>
        </p:txBody>
      </p:sp>
      <p:sp>
        <p:nvSpPr>
          <p:cNvPr id="3" name="Content Placeholder 2"/>
          <p:cNvSpPr>
            <a:spLocks noGrp="1"/>
          </p:cNvSpPr>
          <p:nvPr>
            <p:ph idx="1"/>
          </p:nvPr>
        </p:nvSpPr>
        <p:spPr/>
        <p:txBody>
          <a:bodyPr/>
          <a:lstStyle/>
          <a:p>
            <a:r>
              <a:rPr lang="en-US" dirty="0"/>
              <a:t>The &lt;title&gt; element contains the title of the HTML document, which appears in the title bar of the Web browser and is used by search engines to refer the document.</a:t>
            </a:r>
          </a:p>
          <a:p>
            <a:r>
              <a:rPr lang="en-US" dirty="0"/>
              <a:t>Each &lt;head&gt; element should contain a &lt;title&gt; element.</a:t>
            </a:r>
          </a:p>
          <a:p>
            <a:r>
              <a:rPr lang="en-US" dirty="0"/>
              <a:t>You should try to keep the title text relatively short and to the point because some browsers face difficulties in handling titles longer than 256 characters.</a:t>
            </a:r>
          </a:p>
        </p:txBody>
      </p:sp>
      <p:pic>
        <p:nvPicPr>
          <p:cNvPr id="4" name="Picture 3"/>
          <p:cNvPicPr>
            <a:picLocks noChangeAspect="1"/>
          </p:cNvPicPr>
          <p:nvPr/>
        </p:nvPicPr>
        <p:blipFill>
          <a:blip r:embed="rId2"/>
          <a:stretch>
            <a:fillRect/>
          </a:stretch>
        </p:blipFill>
        <p:spPr>
          <a:xfrm>
            <a:off x="4131099" y="4366743"/>
            <a:ext cx="2847975" cy="2400300"/>
          </a:xfrm>
          <a:prstGeom prst="rect">
            <a:avLst/>
          </a:prstGeom>
        </p:spPr>
      </p:pic>
    </p:spTree>
    <p:extLst>
      <p:ext uri="{BB962C8B-B14F-4D97-AF65-F5344CB8AC3E}">
        <p14:creationId xmlns:p14="http://schemas.microsoft.com/office/powerpoint/2010/main" val="23288407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&lt;body&gt; Element</a:t>
            </a:r>
          </a:p>
        </p:txBody>
      </p:sp>
      <p:sp>
        <p:nvSpPr>
          <p:cNvPr id="3" name="Content Placeholder 2"/>
          <p:cNvSpPr>
            <a:spLocks noGrp="1"/>
          </p:cNvSpPr>
          <p:nvPr>
            <p:ph idx="1"/>
          </p:nvPr>
        </p:nvSpPr>
        <p:spPr/>
        <p:txBody>
          <a:bodyPr/>
          <a:lstStyle/>
          <a:p>
            <a:r>
              <a:rPr lang="en-US" dirty="0"/>
              <a:t>The &lt;body&gt; element contains the body of the HTML document</a:t>
            </a:r>
          </a:p>
          <a:p>
            <a:r>
              <a:rPr lang="en-US" dirty="0"/>
              <a:t>The body of the HTML document includes the entire content that will appear in the Web browser.</a:t>
            </a:r>
          </a:p>
          <a:p>
            <a:r>
              <a:rPr lang="en-US" dirty="0"/>
              <a:t>It can also include text, images, and multimedia elements.</a:t>
            </a:r>
          </a:p>
          <a:p>
            <a:endParaRPr lang="en-US" dirty="0"/>
          </a:p>
        </p:txBody>
      </p:sp>
      <p:pic>
        <p:nvPicPr>
          <p:cNvPr id="4" name="Picture 3"/>
          <p:cNvPicPr>
            <a:picLocks noChangeAspect="1"/>
          </p:cNvPicPr>
          <p:nvPr/>
        </p:nvPicPr>
        <p:blipFill>
          <a:blip r:embed="rId2"/>
          <a:stretch>
            <a:fillRect/>
          </a:stretch>
        </p:blipFill>
        <p:spPr>
          <a:xfrm>
            <a:off x="3986614" y="3700463"/>
            <a:ext cx="2905125" cy="2476500"/>
          </a:xfrm>
          <a:prstGeom prst="rect">
            <a:avLst/>
          </a:prstGeom>
        </p:spPr>
      </p:pic>
    </p:spTree>
    <p:extLst>
      <p:ext uri="{BB962C8B-B14F-4D97-AF65-F5344CB8AC3E}">
        <p14:creationId xmlns:p14="http://schemas.microsoft.com/office/powerpoint/2010/main" val="10305715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sp>
        <p:nvSpPr>
          <p:cNvPr id="3" name="Content Placeholder 2"/>
          <p:cNvSpPr>
            <a:spLocks noGrp="1"/>
          </p:cNvSpPr>
          <p:nvPr>
            <p:ph idx="1"/>
          </p:nvPr>
        </p:nvSpPr>
        <p:spPr/>
        <p:txBody>
          <a:bodyPr/>
          <a:lstStyle/>
          <a:p>
            <a:r>
              <a:rPr lang="en-US" dirty="0"/>
              <a:t>Table 1 lists all the attributes of the &lt;html&gt; element</a:t>
            </a:r>
          </a:p>
        </p:txBody>
      </p:sp>
      <p:graphicFrame>
        <p:nvGraphicFramePr>
          <p:cNvPr id="4" name="Table 3"/>
          <p:cNvGraphicFramePr>
            <a:graphicFrameLocks noGrp="1"/>
          </p:cNvGraphicFramePr>
          <p:nvPr>
            <p:extLst>
              <p:ext uri="{D42A27DB-BD31-4B8C-83A1-F6EECF244321}">
                <p14:modId xmlns:p14="http://schemas.microsoft.com/office/powerpoint/2010/main" val="2067806534"/>
              </p:ext>
            </p:extLst>
          </p:nvPr>
        </p:nvGraphicFramePr>
        <p:xfrm>
          <a:off x="1233510" y="2316646"/>
          <a:ext cx="9906716" cy="3134360"/>
        </p:xfrm>
        <a:graphic>
          <a:graphicData uri="http://schemas.openxmlformats.org/drawingml/2006/table">
            <a:tbl>
              <a:tblPr firstRow="1" bandRow="1">
                <a:tableStyleId>{93296810-A885-4BE3-A3E7-6D5BEEA58F35}</a:tableStyleId>
              </a:tblPr>
              <a:tblGrid>
                <a:gridCol w="736958">
                  <a:extLst>
                    <a:ext uri="{9D8B030D-6E8A-4147-A177-3AD203B41FA5}">
                      <a16:colId xmlns:a16="http://schemas.microsoft.com/office/drawing/2014/main" xmlns="" val="20000"/>
                    </a:ext>
                  </a:extLst>
                </a:gridCol>
                <a:gridCol w="1262129">
                  <a:extLst>
                    <a:ext uri="{9D8B030D-6E8A-4147-A177-3AD203B41FA5}">
                      <a16:colId xmlns:a16="http://schemas.microsoft.com/office/drawing/2014/main" xmlns="" val="20001"/>
                    </a:ext>
                  </a:extLst>
                </a:gridCol>
                <a:gridCol w="7907629">
                  <a:extLst>
                    <a:ext uri="{9D8B030D-6E8A-4147-A177-3AD203B41FA5}">
                      <a16:colId xmlns:a16="http://schemas.microsoft.com/office/drawing/2014/main" xmlns="" val="20002"/>
                    </a:ext>
                  </a:extLst>
                </a:gridCol>
              </a:tblGrid>
              <a:tr h="370840">
                <a:tc>
                  <a:txBody>
                    <a:bodyPr/>
                    <a:lstStyle/>
                    <a:p>
                      <a:r>
                        <a:rPr lang="en-US" dirty="0"/>
                        <a:t>Sr.No</a:t>
                      </a:r>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pPr marL="0" indent="0">
                        <a:buFont typeface="+mj-lt"/>
                        <a:buNone/>
                      </a:pPr>
                      <a:r>
                        <a:rPr lang="en-US" dirty="0"/>
                        <a:t>1</a:t>
                      </a:r>
                    </a:p>
                  </a:txBody>
                  <a:tcPr/>
                </a:tc>
                <a:tc>
                  <a:txBody>
                    <a:bodyPr/>
                    <a:lstStyle/>
                    <a:p>
                      <a:r>
                        <a:rPr lang="en-US" dirty="0"/>
                        <a:t>class</a:t>
                      </a:r>
                    </a:p>
                  </a:txBody>
                  <a:tcPr/>
                </a:tc>
                <a:tc>
                  <a:txBody>
                    <a:bodyPr/>
                    <a:lstStyle/>
                    <a:p>
                      <a:r>
                        <a:rPr lang="en-US" dirty="0"/>
                        <a:t>Represents the class of the element and is used</a:t>
                      </a:r>
                      <a:r>
                        <a:rPr lang="en-US" baseline="0" dirty="0"/>
                        <a:t> to render the content</a:t>
                      </a:r>
                      <a:endParaRPr lang="en-US" dirty="0"/>
                    </a:p>
                  </a:txBody>
                  <a:tcPr/>
                </a:tc>
                <a:extLst>
                  <a:ext uri="{0D108BD9-81ED-4DB2-BD59-A6C34878D82A}">
                    <a16:rowId xmlns:a16="http://schemas.microsoft.com/office/drawing/2014/main" xmlns="" val="10001"/>
                  </a:ext>
                </a:extLst>
              </a:tr>
              <a:tr h="342913">
                <a:tc>
                  <a:txBody>
                    <a:bodyPr/>
                    <a:lstStyle/>
                    <a:p>
                      <a:pPr marL="0" indent="0">
                        <a:buFont typeface="+mj-lt"/>
                        <a:buNone/>
                      </a:pPr>
                      <a:r>
                        <a:rPr lang="en-US" dirty="0"/>
                        <a:t>2</a:t>
                      </a:r>
                    </a:p>
                  </a:txBody>
                  <a:tcPr/>
                </a:tc>
                <a:tc>
                  <a:txBody>
                    <a:bodyPr/>
                    <a:lstStyle/>
                    <a:p>
                      <a:r>
                        <a:rPr lang="en-US" dirty="0"/>
                        <a:t>dir</a:t>
                      </a:r>
                    </a:p>
                  </a:txBody>
                  <a:tcPr/>
                </a:tc>
                <a:tc>
                  <a:txBody>
                    <a:bodyPr/>
                    <a:lstStyle/>
                    <a:p>
                      <a:r>
                        <a:rPr lang="en-US" dirty="0"/>
                        <a:t>Gives the direction to directionally neutral text; you can set this attribute to </a:t>
                      </a:r>
                      <a:r>
                        <a:rPr lang="en-US" dirty="0" err="1"/>
                        <a:t>ltr</a:t>
                      </a:r>
                      <a:r>
                        <a:rPr lang="en-US" dirty="0"/>
                        <a:t> for</a:t>
                      </a:r>
                      <a:r>
                        <a:rPr lang="en-US" baseline="0" dirty="0"/>
                        <a:t> left to right text direction or </a:t>
                      </a:r>
                      <a:r>
                        <a:rPr lang="en-US" baseline="0" dirty="0" err="1"/>
                        <a:t>rtl</a:t>
                      </a:r>
                      <a:r>
                        <a:rPr lang="en-US" baseline="0" dirty="0"/>
                        <a:t> for right to left text direction</a:t>
                      </a:r>
                      <a:endParaRPr lang="en-US" dirty="0"/>
                    </a:p>
                  </a:txBody>
                  <a:tcPr/>
                </a:tc>
                <a:extLst>
                  <a:ext uri="{0D108BD9-81ED-4DB2-BD59-A6C34878D82A}">
                    <a16:rowId xmlns:a16="http://schemas.microsoft.com/office/drawing/2014/main" xmlns="" val="10002"/>
                  </a:ext>
                </a:extLst>
              </a:tr>
              <a:tr h="370840">
                <a:tc>
                  <a:txBody>
                    <a:bodyPr/>
                    <a:lstStyle/>
                    <a:p>
                      <a:pPr marL="0" indent="0">
                        <a:buFont typeface="+mj-lt"/>
                        <a:buNone/>
                      </a:pPr>
                      <a:r>
                        <a:rPr lang="en-US" dirty="0"/>
                        <a:t>3</a:t>
                      </a:r>
                    </a:p>
                  </a:txBody>
                  <a:tcPr/>
                </a:tc>
                <a:tc>
                  <a:txBody>
                    <a:bodyPr/>
                    <a:lstStyle/>
                    <a:p>
                      <a:r>
                        <a:rPr lang="en-US" dirty="0"/>
                        <a:t>id</a:t>
                      </a:r>
                    </a:p>
                  </a:txBody>
                  <a:tcPr/>
                </a:tc>
                <a:tc>
                  <a:txBody>
                    <a:bodyPr/>
                    <a:lstStyle/>
                    <a:p>
                      <a:r>
                        <a:rPr lang="en-US" dirty="0"/>
                        <a:t>Represents unique alphanumeric identifier for the element.</a:t>
                      </a:r>
                    </a:p>
                  </a:txBody>
                  <a:tcPr/>
                </a:tc>
                <a:extLst>
                  <a:ext uri="{0D108BD9-81ED-4DB2-BD59-A6C34878D82A}">
                    <a16:rowId xmlns:a16="http://schemas.microsoft.com/office/drawing/2014/main" xmlns="" val="10003"/>
                  </a:ext>
                </a:extLst>
              </a:tr>
              <a:tr h="370840">
                <a:tc>
                  <a:txBody>
                    <a:bodyPr/>
                    <a:lstStyle/>
                    <a:p>
                      <a:pPr marL="0" indent="0">
                        <a:buFont typeface="+mj-lt"/>
                        <a:buNone/>
                      </a:pPr>
                      <a:r>
                        <a:rPr lang="en-US" dirty="0"/>
                        <a:t>4</a:t>
                      </a:r>
                    </a:p>
                  </a:txBody>
                  <a:tcPr/>
                </a:tc>
                <a:tc>
                  <a:txBody>
                    <a:bodyPr/>
                    <a:lstStyle/>
                    <a:p>
                      <a:r>
                        <a:rPr lang="en-US" dirty="0" err="1"/>
                        <a:t>lang</a:t>
                      </a:r>
                      <a:endParaRPr lang="en-US" dirty="0"/>
                    </a:p>
                  </a:txBody>
                  <a:tcPr/>
                </a:tc>
                <a:tc>
                  <a:txBody>
                    <a:bodyPr/>
                    <a:lstStyle/>
                    <a:p>
                      <a:r>
                        <a:rPr lang="en-US" dirty="0"/>
                        <a:t>Represents base language</a:t>
                      </a:r>
                      <a:r>
                        <a:rPr lang="en-US" baseline="0" dirty="0"/>
                        <a:t> used for the element</a:t>
                      </a:r>
                      <a:endParaRPr lang="en-US" dirty="0"/>
                    </a:p>
                  </a:txBody>
                  <a:tcPr/>
                </a:tc>
                <a:extLst>
                  <a:ext uri="{0D108BD9-81ED-4DB2-BD59-A6C34878D82A}">
                    <a16:rowId xmlns:a16="http://schemas.microsoft.com/office/drawing/2014/main" xmlns="" val="10004"/>
                  </a:ext>
                </a:extLst>
              </a:tr>
              <a:tr h="370840">
                <a:tc>
                  <a:txBody>
                    <a:bodyPr/>
                    <a:lstStyle/>
                    <a:p>
                      <a:pPr marL="0" indent="0">
                        <a:buFont typeface="+mj-lt"/>
                        <a:buNone/>
                      </a:pPr>
                      <a:r>
                        <a:rPr lang="en-US" dirty="0"/>
                        <a:t>5</a:t>
                      </a:r>
                    </a:p>
                  </a:txBody>
                  <a:tcPr/>
                </a:tc>
                <a:tc>
                  <a:txBody>
                    <a:bodyPr/>
                    <a:lstStyle/>
                    <a:p>
                      <a:r>
                        <a:rPr lang="en-US" dirty="0"/>
                        <a:t>version</a:t>
                      </a:r>
                    </a:p>
                  </a:txBody>
                  <a:tcPr/>
                </a:tc>
                <a:tc>
                  <a:txBody>
                    <a:bodyPr/>
                    <a:lstStyle/>
                    <a:p>
                      <a:r>
                        <a:rPr lang="en-US" dirty="0"/>
                        <a:t>Represents the version of the language used. This attribute has been marked as deprecated</a:t>
                      </a:r>
                    </a:p>
                  </a:txBody>
                  <a:tcPr/>
                </a:tc>
                <a:extLst>
                  <a:ext uri="{0D108BD9-81ED-4DB2-BD59-A6C34878D82A}">
                    <a16:rowId xmlns:a16="http://schemas.microsoft.com/office/drawing/2014/main" xmlns="" val="10005"/>
                  </a:ext>
                </a:extLst>
              </a:tr>
              <a:tr h="370840">
                <a:tc>
                  <a:txBody>
                    <a:bodyPr/>
                    <a:lstStyle/>
                    <a:p>
                      <a:pPr marL="0" indent="0">
                        <a:buFont typeface="+mj-lt"/>
                        <a:buNone/>
                      </a:pPr>
                      <a:r>
                        <a:rPr lang="en-US" dirty="0"/>
                        <a:t>6</a:t>
                      </a:r>
                    </a:p>
                  </a:txBody>
                  <a:tcPr/>
                </a:tc>
                <a:tc>
                  <a:txBody>
                    <a:bodyPr/>
                    <a:lstStyle/>
                    <a:p>
                      <a:r>
                        <a:rPr lang="en-US" dirty="0"/>
                        <a:t>xmlns</a:t>
                      </a:r>
                    </a:p>
                  </a:txBody>
                  <a:tcPr/>
                </a:tc>
                <a:tc>
                  <a:txBody>
                    <a:bodyPr/>
                    <a:lstStyle/>
                    <a:p>
                      <a:r>
                        <a:rPr lang="en-US" dirty="0"/>
                        <a:t>Declares a namespace for custom tags in an HTML document.</a:t>
                      </a: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0662045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68488697"/>
              </p:ext>
            </p:extLst>
          </p:nvPr>
        </p:nvGraphicFramePr>
        <p:xfrm>
          <a:off x="928352" y="2572600"/>
          <a:ext cx="10515600" cy="3505200"/>
        </p:xfrm>
        <a:graphic>
          <a:graphicData uri="http://schemas.openxmlformats.org/drawingml/2006/table">
            <a:tbl>
              <a:tblPr firstRow="1" bandRow="1">
                <a:tableStyleId>{93296810-A885-4BE3-A3E7-6D5BEEA58F35}</a:tableStyleId>
              </a:tblPr>
              <a:tblGrid>
                <a:gridCol w="964842">
                  <a:extLst>
                    <a:ext uri="{9D8B030D-6E8A-4147-A177-3AD203B41FA5}">
                      <a16:colId xmlns:a16="http://schemas.microsoft.com/office/drawing/2014/main" xmlns="" val="20000"/>
                    </a:ext>
                  </a:extLst>
                </a:gridCol>
                <a:gridCol w="1493950">
                  <a:extLst>
                    <a:ext uri="{9D8B030D-6E8A-4147-A177-3AD203B41FA5}">
                      <a16:colId xmlns:a16="http://schemas.microsoft.com/office/drawing/2014/main" xmlns="" val="20001"/>
                    </a:ext>
                  </a:extLst>
                </a:gridCol>
                <a:gridCol w="8056808">
                  <a:extLst>
                    <a:ext uri="{9D8B030D-6E8A-4147-A177-3AD203B41FA5}">
                      <a16:colId xmlns:a16="http://schemas.microsoft.com/office/drawing/2014/main" xmlns="" val="20002"/>
                    </a:ext>
                  </a:extLst>
                </a:gridCol>
              </a:tblGrid>
              <a:tr h="370840">
                <a:tc>
                  <a:txBody>
                    <a:bodyPr/>
                    <a:lstStyle/>
                    <a:p>
                      <a:r>
                        <a:rPr lang="en-US" dirty="0"/>
                        <a:t>Sr.No</a:t>
                      </a:r>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a:t>class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class of the element and is used</a:t>
                      </a:r>
                      <a:r>
                        <a:rPr lang="en-US" baseline="0" dirty="0"/>
                        <a:t> to render the content</a:t>
                      </a:r>
                      <a:endParaRPr lang="en-US" dirty="0"/>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dir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Gives the direction to directionally neutral text; you can set this attribute to </a:t>
                      </a:r>
                      <a:r>
                        <a:rPr lang="en-US" dirty="0" err="1"/>
                        <a:t>ltr</a:t>
                      </a:r>
                      <a:r>
                        <a:rPr lang="en-US" dirty="0"/>
                        <a:t> for</a:t>
                      </a:r>
                      <a:r>
                        <a:rPr lang="en-US" baseline="0" dirty="0"/>
                        <a:t> left to right text direction or </a:t>
                      </a:r>
                      <a:r>
                        <a:rPr lang="en-US" baseline="0" dirty="0" err="1"/>
                        <a:t>rtl</a:t>
                      </a:r>
                      <a:r>
                        <a:rPr lang="en-US" baseline="0" dirty="0"/>
                        <a:t> for right to left text direction</a:t>
                      </a:r>
                      <a:endParaRPr lang="en-US" dirty="0"/>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r>
                        <a:rPr lang="en-US" dirty="0"/>
                        <a:t>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unique alphanumeric identifier for the element. </a:t>
                      </a:r>
                    </a:p>
                  </a:txBody>
                  <a:tcPr/>
                </a:tc>
                <a:extLst>
                  <a:ext uri="{0D108BD9-81ED-4DB2-BD59-A6C34878D82A}">
                    <a16:rowId xmlns:a16="http://schemas.microsoft.com/office/drawing/2014/main" xmlns="" val="10003"/>
                  </a:ext>
                </a:extLst>
              </a:tr>
              <a:tr h="370840">
                <a:tc>
                  <a:txBody>
                    <a:bodyPr/>
                    <a:lstStyle/>
                    <a:p>
                      <a:r>
                        <a:rPr lang="en-US" dirty="0"/>
                        <a:t>4</a:t>
                      </a:r>
                    </a:p>
                  </a:txBody>
                  <a:tcPr/>
                </a:tc>
                <a:tc>
                  <a:txBody>
                    <a:bodyPr/>
                    <a:lstStyle/>
                    <a:p>
                      <a:r>
                        <a:rPr lang="en-US" dirty="0" err="1"/>
                        <a:t>lang</a:t>
                      </a:r>
                      <a:endParaRPr lang="en-US" dirty="0"/>
                    </a:p>
                  </a:txBody>
                  <a:tcPr/>
                </a:tc>
                <a:tc>
                  <a:txBody>
                    <a:bodyPr/>
                    <a:lstStyle/>
                    <a:p>
                      <a:r>
                        <a:rPr lang="en-US" dirty="0"/>
                        <a:t>Represents base language</a:t>
                      </a:r>
                      <a:r>
                        <a:rPr lang="en-US" baseline="0" dirty="0"/>
                        <a:t> used for the element</a:t>
                      </a:r>
                      <a:endParaRPr lang="en-US" dirty="0"/>
                    </a:p>
                  </a:txBody>
                  <a:tcPr/>
                </a:tc>
                <a:extLst>
                  <a:ext uri="{0D108BD9-81ED-4DB2-BD59-A6C34878D82A}">
                    <a16:rowId xmlns:a16="http://schemas.microsoft.com/office/drawing/2014/main" xmlns="" val="10004"/>
                  </a:ext>
                </a:extLst>
              </a:tr>
              <a:tr h="370840">
                <a:tc>
                  <a:txBody>
                    <a:bodyPr/>
                    <a:lstStyle/>
                    <a:p>
                      <a:r>
                        <a:rPr lang="en-US" dirty="0"/>
                        <a:t>5</a:t>
                      </a:r>
                    </a:p>
                  </a:txBody>
                  <a:tcPr/>
                </a:tc>
                <a:tc>
                  <a:txBody>
                    <a:bodyPr/>
                    <a:lstStyle/>
                    <a:p>
                      <a:r>
                        <a:rPr lang="en-US" dirty="0"/>
                        <a:t>profile</a:t>
                      </a:r>
                    </a:p>
                  </a:txBody>
                  <a:tcPr/>
                </a:tc>
                <a:tc>
                  <a:txBody>
                    <a:bodyPr/>
                    <a:lstStyle/>
                    <a:p>
                      <a:r>
                        <a:rPr lang="en-US" dirty="0"/>
                        <a:t>Gives the location of</a:t>
                      </a:r>
                      <a:r>
                        <a:rPr lang="en-US" baseline="0" dirty="0"/>
                        <a:t> one or more white-space separated metadata profile URLs for the current document.</a:t>
                      </a:r>
                      <a:endParaRPr lang="en-US" dirty="0"/>
                    </a:p>
                  </a:txBody>
                  <a:tcPr/>
                </a:tc>
                <a:extLst>
                  <a:ext uri="{0D108BD9-81ED-4DB2-BD59-A6C34878D82A}">
                    <a16:rowId xmlns:a16="http://schemas.microsoft.com/office/drawing/2014/main" xmlns="" val="10005"/>
                  </a:ext>
                </a:extLst>
              </a:tr>
              <a:tr h="370840">
                <a:tc>
                  <a:txBody>
                    <a:bodyPr/>
                    <a:lstStyle/>
                    <a:p>
                      <a:r>
                        <a:rPr lang="en-US" dirty="0"/>
                        <a:t>6</a:t>
                      </a:r>
                    </a:p>
                  </a:txBody>
                  <a:tcPr/>
                </a:tc>
                <a:tc>
                  <a:txBody>
                    <a:bodyPr/>
                    <a:lstStyle/>
                    <a:p>
                      <a:r>
                        <a:rPr lang="en-US" dirty="0"/>
                        <a:t>style</a:t>
                      </a:r>
                    </a:p>
                  </a:txBody>
                  <a:tcPr/>
                </a:tc>
                <a:tc>
                  <a:txBody>
                    <a:bodyPr/>
                    <a:lstStyle/>
                    <a:p>
                      <a:r>
                        <a:rPr lang="en-US" dirty="0"/>
                        <a:t>Represents inline style indicating  how to render</a:t>
                      </a:r>
                      <a:r>
                        <a:rPr lang="en-US" baseline="0" dirty="0"/>
                        <a:t> the element.</a:t>
                      </a:r>
                      <a:endParaRPr lang="en-US" dirty="0"/>
                    </a:p>
                  </a:txBody>
                  <a:tcPr/>
                </a:tc>
                <a:extLst>
                  <a:ext uri="{0D108BD9-81ED-4DB2-BD59-A6C34878D82A}">
                    <a16:rowId xmlns:a16="http://schemas.microsoft.com/office/drawing/2014/main" xmlns="" val="10006"/>
                  </a:ext>
                </a:extLst>
              </a:tr>
              <a:tr h="370840">
                <a:tc>
                  <a:txBody>
                    <a:bodyPr/>
                    <a:lstStyle/>
                    <a:p>
                      <a:r>
                        <a:rPr lang="en-US" dirty="0"/>
                        <a:t>7</a:t>
                      </a:r>
                    </a:p>
                  </a:txBody>
                  <a:tcPr/>
                </a:tc>
                <a:tc>
                  <a:txBody>
                    <a:bodyPr/>
                    <a:lstStyle/>
                    <a:p>
                      <a:r>
                        <a:rPr lang="en-US" dirty="0"/>
                        <a:t>title</a:t>
                      </a:r>
                    </a:p>
                  </a:txBody>
                  <a:tcPr/>
                </a:tc>
                <a:tc>
                  <a:txBody>
                    <a:bodyPr/>
                    <a:lstStyle/>
                    <a:p>
                      <a:r>
                        <a:rPr lang="en-US" dirty="0"/>
                        <a:t>Holds additional information for the element.</a:t>
                      </a:r>
                    </a:p>
                  </a:txBody>
                  <a:tcPr/>
                </a:tc>
                <a:extLst>
                  <a:ext uri="{0D108BD9-81ED-4DB2-BD59-A6C34878D82A}">
                    <a16:rowId xmlns:a16="http://schemas.microsoft.com/office/drawing/2014/main" xmlns="" val="10007"/>
                  </a:ext>
                </a:extLst>
              </a:tr>
            </a:tbl>
          </a:graphicData>
        </a:graphic>
      </p:graphicFrame>
      <p:sp>
        <p:nvSpPr>
          <p:cNvPr id="9" name="Rectangle 8"/>
          <p:cNvSpPr/>
          <p:nvPr/>
        </p:nvSpPr>
        <p:spPr>
          <a:xfrm>
            <a:off x="838200" y="1943568"/>
            <a:ext cx="7990072" cy="480131"/>
          </a:xfrm>
          <a:prstGeom prst="rect">
            <a:avLst/>
          </a:prstGeom>
        </p:spPr>
        <p:txBody>
          <a:bodyPr wrap="none">
            <a:spAutoFit/>
          </a:bodyPr>
          <a:lstStyle/>
          <a:p>
            <a:pPr marL="228600" indent="-228600">
              <a:lnSpc>
                <a:spcPct val="90000"/>
              </a:lnSpc>
              <a:spcBef>
                <a:spcPts val="1000"/>
              </a:spcBef>
              <a:buFont typeface="Arial" panose="020B0604020202020204" pitchFamily="34" charset="0"/>
              <a:buChar char="•"/>
            </a:pPr>
            <a:r>
              <a:rPr lang="en-US" sz="2800" dirty="0"/>
              <a:t>Table 2 lists all the attributes of the &lt;head&gt; element</a:t>
            </a:r>
          </a:p>
        </p:txBody>
      </p:sp>
    </p:spTree>
    <p:extLst>
      <p:ext uri="{BB962C8B-B14F-4D97-AF65-F5344CB8AC3E}">
        <p14:creationId xmlns:p14="http://schemas.microsoft.com/office/powerpoint/2010/main" val="16732981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sp>
        <p:nvSpPr>
          <p:cNvPr id="3" name="Content Placeholder 2"/>
          <p:cNvSpPr>
            <a:spLocks noGrp="1"/>
          </p:cNvSpPr>
          <p:nvPr>
            <p:ph idx="1"/>
          </p:nvPr>
        </p:nvSpPr>
        <p:spPr/>
        <p:txBody>
          <a:bodyPr/>
          <a:lstStyle/>
          <a:p>
            <a:r>
              <a:rPr lang="en-US" dirty="0"/>
              <a:t>Table 3 lists all the attributes of the &lt;title&gt; element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5523590"/>
              </p:ext>
            </p:extLst>
          </p:nvPr>
        </p:nvGraphicFramePr>
        <p:xfrm>
          <a:off x="1310783" y="2496951"/>
          <a:ext cx="9455955" cy="1854200"/>
        </p:xfrm>
        <a:graphic>
          <a:graphicData uri="http://schemas.openxmlformats.org/drawingml/2006/table">
            <a:tbl>
              <a:tblPr firstRow="1" bandRow="1">
                <a:tableStyleId>{93296810-A885-4BE3-A3E7-6D5BEEA58F35}</a:tableStyleId>
              </a:tblPr>
              <a:tblGrid>
                <a:gridCol w="932277">
                  <a:extLst>
                    <a:ext uri="{9D8B030D-6E8A-4147-A177-3AD203B41FA5}">
                      <a16:colId xmlns:a16="http://schemas.microsoft.com/office/drawing/2014/main" xmlns="" val="20000"/>
                    </a:ext>
                  </a:extLst>
                </a:gridCol>
                <a:gridCol w="1483321">
                  <a:extLst>
                    <a:ext uri="{9D8B030D-6E8A-4147-A177-3AD203B41FA5}">
                      <a16:colId xmlns:a16="http://schemas.microsoft.com/office/drawing/2014/main" xmlns="" val="20001"/>
                    </a:ext>
                  </a:extLst>
                </a:gridCol>
                <a:gridCol w="7040357">
                  <a:extLst>
                    <a:ext uri="{9D8B030D-6E8A-4147-A177-3AD203B41FA5}">
                      <a16:colId xmlns:a16="http://schemas.microsoft.com/office/drawing/2014/main" xmlns="" val="20002"/>
                    </a:ext>
                  </a:extLst>
                </a:gridCol>
              </a:tblGrid>
              <a:tr h="370840">
                <a:tc>
                  <a:txBody>
                    <a:bodyPr/>
                    <a:lstStyle/>
                    <a:p>
                      <a:r>
                        <a:rPr lang="en-US" dirty="0"/>
                        <a:t>Sr.No</a:t>
                      </a:r>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a:t>class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class of the element and is used</a:t>
                      </a:r>
                      <a:r>
                        <a:rPr lang="en-US" baseline="0" dirty="0"/>
                        <a:t> to render the content</a:t>
                      </a:r>
                      <a:endParaRPr lang="en-US" dirty="0"/>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id</a:t>
                      </a:r>
                    </a:p>
                  </a:txBody>
                  <a:tcPr/>
                </a:tc>
                <a:tc>
                  <a:txBody>
                    <a:bodyPr/>
                    <a:lstStyle/>
                    <a:p>
                      <a:r>
                        <a:rPr lang="en-US" dirty="0"/>
                        <a:t>Represents unique alphanumeric identifier for the element</a:t>
                      </a:r>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r>
                        <a:rPr lang="en-US" dirty="0" err="1"/>
                        <a:t>lang</a:t>
                      </a:r>
                      <a:endParaRPr lang="en-US" dirty="0"/>
                    </a:p>
                  </a:txBody>
                  <a:tcPr/>
                </a:tc>
                <a:tc>
                  <a:txBody>
                    <a:bodyPr/>
                    <a:lstStyle/>
                    <a:p>
                      <a:r>
                        <a:rPr lang="en-US" dirty="0"/>
                        <a:t>Represents base language used for the element</a:t>
                      </a:r>
                    </a:p>
                  </a:txBody>
                  <a:tcPr/>
                </a:tc>
                <a:extLst>
                  <a:ext uri="{0D108BD9-81ED-4DB2-BD59-A6C34878D82A}">
                    <a16:rowId xmlns:a16="http://schemas.microsoft.com/office/drawing/2014/main" xmlns="" val="10003"/>
                  </a:ext>
                </a:extLst>
              </a:tr>
              <a:tr h="370840">
                <a:tc>
                  <a:txBody>
                    <a:bodyPr/>
                    <a:lstStyle/>
                    <a:p>
                      <a:r>
                        <a:rPr lang="en-US" dirty="0"/>
                        <a:t>4</a:t>
                      </a:r>
                    </a:p>
                  </a:txBody>
                  <a:tcPr/>
                </a:tc>
                <a:tc>
                  <a:txBody>
                    <a:bodyPr/>
                    <a:lstStyle/>
                    <a:p>
                      <a:r>
                        <a:rPr lang="en-US" dirty="0"/>
                        <a:t>style</a:t>
                      </a:r>
                    </a:p>
                  </a:txBody>
                  <a:tcPr/>
                </a:tc>
                <a:tc>
                  <a:txBody>
                    <a:bodyPr/>
                    <a:lstStyle/>
                    <a:p>
                      <a:r>
                        <a:rPr lang="en-US" dirty="0"/>
                        <a:t>Represents inline style indicating how</a:t>
                      </a:r>
                      <a:r>
                        <a:rPr lang="en-US" baseline="0" dirty="0"/>
                        <a:t> to render the element</a:t>
                      </a:r>
                      <a:endParaRPr lang="en-US"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672277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96" y="0"/>
            <a:ext cx="10515600" cy="639427"/>
          </a:xfrm>
        </p:spPr>
        <p:txBody>
          <a:bodyPr>
            <a:normAutofit fontScale="90000"/>
          </a:bodyPr>
          <a:lstStyle/>
          <a:p>
            <a:r>
              <a:rPr lang="en-US" dirty="0"/>
              <a:t>Attributes</a:t>
            </a:r>
          </a:p>
        </p:txBody>
      </p:sp>
      <p:sp>
        <p:nvSpPr>
          <p:cNvPr id="3" name="Content Placeholder 2"/>
          <p:cNvSpPr>
            <a:spLocks noGrp="1"/>
          </p:cNvSpPr>
          <p:nvPr>
            <p:ph idx="1"/>
          </p:nvPr>
        </p:nvSpPr>
        <p:spPr>
          <a:xfrm>
            <a:off x="786684" y="639427"/>
            <a:ext cx="10515600" cy="5223926"/>
          </a:xfrm>
        </p:spPr>
        <p:txBody>
          <a:bodyPr/>
          <a:lstStyle/>
          <a:p>
            <a:r>
              <a:rPr lang="en-US" dirty="0"/>
              <a:t>Table 4 lists all the attributes of the &lt;body&gt; element</a:t>
            </a:r>
          </a:p>
        </p:txBody>
      </p:sp>
      <p:graphicFrame>
        <p:nvGraphicFramePr>
          <p:cNvPr id="4" name="Table 3"/>
          <p:cNvGraphicFramePr>
            <a:graphicFrameLocks noGrp="1"/>
          </p:cNvGraphicFramePr>
          <p:nvPr>
            <p:extLst>
              <p:ext uri="{D42A27DB-BD31-4B8C-83A1-F6EECF244321}">
                <p14:modId xmlns:p14="http://schemas.microsoft.com/office/powerpoint/2010/main" val="3626998792"/>
              </p:ext>
            </p:extLst>
          </p:nvPr>
        </p:nvGraphicFramePr>
        <p:xfrm>
          <a:off x="534650" y="1068947"/>
          <a:ext cx="11019668" cy="5693129"/>
        </p:xfrm>
        <a:graphic>
          <a:graphicData uri="http://schemas.openxmlformats.org/drawingml/2006/table">
            <a:tbl>
              <a:tblPr firstRow="1" bandRow="1">
                <a:tableStyleId>{93296810-A885-4BE3-A3E7-6D5BEEA58F35}</a:tableStyleId>
              </a:tblPr>
              <a:tblGrid>
                <a:gridCol w="742082">
                  <a:extLst>
                    <a:ext uri="{9D8B030D-6E8A-4147-A177-3AD203B41FA5}">
                      <a16:colId xmlns:a16="http://schemas.microsoft.com/office/drawing/2014/main" xmlns="" val="20000"/>
                    </a:ext>
                  </a:extLst>
                </a:gridCol>
                <a:gridCol w="1520465">
                  <a:extLst>
                    <a:ext uri="{9D8B030D-6E8A-4147-A177-3AD203B41FA5}">
                      <a16:colId xmlns:a16="http://schemas.microsoft.com/office/drawing/2014/main" xmlns="" val="20001"/>
                    </a:ext>
                  </a:extLst>
                </a:gridCol>
                <a:gridCol w="8757121">
                  <a:extLst>
                    <a:ext uri="{9D8B030D-6E8A-4147-A177-3AD203B41FA5}">
                      <a16:colId xmlns:a16="http://schemas.microsoft.com/office/drawing/2014/main" xmlns="" val="20002"/>
                    </a:ext>
                  </a:extLst>
                </a:gridCol>
              </a:tblGrid>
              <a:tr h="369289">
                <a:tc>
                  <a:txBody>
                    <a:bodyPr/>
                    <a:lstStyle/>
                    <a:p>
                      <a:r>
                        <a:rPr lang="en-US" dirty="0"/>
                        <a:t>Sr.No</a:t>
                      </a:r>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err="1"/>
                        <a:t>alink</a:t>
                      </a:r>
                      <a:endParaRPr lang="en-US" dirty="0"/>
                    </a:p>
                  </a:txBody>
                  <a:tcPr/>
                </a:tc>
                <a:tc>
                  <a:txBody>
                    <a:bodyPr/>
                    <a:lstStyle/>
                    <a:p>
                      <a:r>
                        <a:rPr lang="en-US" dirty="0"/>
                        <a:t>Specifies</a:t>
                      </a:r>
                      <a:r>
                        <a:rPr lang="en-US" baseline="0" dirty="0"/>
                        <a:t> the color of the hyperlinks when they are clicked; you can set this attribute to a predefined color name or value. This attribute has been marked as deprecated</a:t>
                      </a:r>
                      <a:endParaRPr lang="en-US" dirty="0"/>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background</a:t>
                      </a:r>
                    </a:p>
                  </a:txBody>
                  <a:tcPr/>
                </a:tc>
                <a:tc>
                  <a:txBody>
                    <a:bodyPr/>
                    <a:lstStyle/>
                    <a:p>
                      <a:r>
                        <a:rPr lang="en-US" dirty="0"/>
                        <a:t>Represents the</a:t>
                      </a:r>
                      <a:r>
                        <a:rPr lang="en-US" baseline="0" dirty="0"/>
                        <a:t> URL of a graphic file, which is used as the background of the browser. This attribute has been marked as deprecated.</a:t>
                      </a:r>
                      <a:endParaRPr lang="en-US" dirty="0"/>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r>
                        <a:rPr lang="en-US" dirty="0" err="1"/>
                        <a:t>bgcolor</a:t>
                      </a:r>
                      <a:endParaRPr lang="en-US" dirty="0"/>
                    </a:p>
                  </a:txBody>
                  <a:tcPr/>
                </a:tc>
                <a:tc>
                  <a:txBody>
                    <a:bodyPr/>
                    <a:lstStyle/>
                    <a:p>
                      <a:r>
                        <a:rPr lang="en-US" dirty="0"/>
                        <a:t>Specifies the color of the background of the browser. You can set this attribute to a predefined color name or a color value. This attribute has been marked as deprecated.</a:t>
                      </a:r>
                    </a:p>
                  </a:txBody>
                  <a:tcPr/>
                </a:tc>
                <a:extLst>
                  <a:ext uri="{0D108BD9-81ED-4DB2-BD59-A6C34878D82A}">
                    <a16:rowId xmlns:a16="http://schemas.microsoft.com/office/drawing/2014/main" xmlns="" val="10003"/>
                  </a:ext>
                </a:extLst>
              </a:tr>
              <a:tr h="370840">
                <a:tc>
                  <a:txBody>
                    <a:bodyPr/>
                    <a:lstStyle/>
                    <a:p>
                      <a:r>
                        <a:rPr lang="en-US" dirty="0"/>
                        <a:t>4</a:t>
                      </a:r>
                    </a:p>
                  </a:txBody>
                  <a:tcPr/>
                </a:tc>
                <a:tc>
                  <a:txBody>
                    <a:bodyPr/>
                    <a:lstStyle/>
                    <a:p>
                      <a:r>
                        <a:rPr lang="en-US" dirty="0" err="1"/>
                        <a:t>bgproperties</a:t>
                      </a:r>
                      <a:endParaRPr lang="en-US" dirty="0"/>
                    </a:p>
                  </a:txBody>
                  <a:tcPr/>
                </a:tc>
                <a:tc>
                  <a:txBody>
                    <a:bodyPr/>
                    <a:lstStyle/>
                    <a:p>
                      <a:r>
                        <a:rPr lang="en-US" dirty="0"/>
                        <a:t>Indicates</a:t>
                      </a:r>
                      <a:r>
                        <a:rPr lang="en-US" baseline="0" dirty="0"/>
                        <a:t> if the background should scroll when the text scrolls. If you set this attribute to fixed, which is the only allowed value, the background will not scroll when the text scrolls.</a:t>
                      </a:r>
                      <a:endParaRPr lang="en-US" dirty="0"/>
                    </a:p>
                  </a:txBody>
                  <a:tcPr/>
                </a:tc>
                <a:extLst>
                  <a:ext uri="{0D108BD9-81ED-4DB2-BD59-A6C34878D82A}">
                    <a16:rowId xmlns:a16="http://schemas.microsoft.com/office/drawing/2014/main" xmlns="" val="10004"/>
                  </a:ext>
                </a:extLst>
              </a:tr>
              <a:tr h="370840">
                <a:tc>
                  <a:txBody>
                    <a:bodyPr/>
                    <a:lstStyle/>
                    <a:p>
                      <a:r>
                        <a:rPr lang="en-US" dirty="0"/>
                        <a:t>5</a:t>
                      </a:r>
                    </a:p>
                  </a:txBody>
                  <a:tcPr/>
                </a:tc>
                <a:tc>
                  <a:txBody>
                    <a:bodyPr/>
                    <a:lstStyle/>
                    <a:p>
                      <a:r>
                        <a:rPr lang="en-US" dirty="0" err="1"/>
                        <a:t>bottomargin</a:t>
                      </a:r>
                      <a:endParaRPr lang="en-US" dirty="0"/>
                    </a:p>
                  </a:txBody>
                  <a:tcPr/>
                </a:tc>
                <a:tc>
                  <a:txBody>
                    <a:bodyPr/>
                    <a:lstStyle/>
                    <a:p>
                      <a:r>
                        <a:rPr lang="en-US" dirty="0"/>
                        <a:t>Specifies the bottom  margin, which</a:t>
                      </a:r>
                      <a:r>
                        <a:rPr lang="en-US" baseline="0" dirty="0"/>
                        <a:t> is the empty space at the bottom of the document, in pixels.</a:t>
                      </a:r>
                      <a:endParaRPr lang="en-US" dirty="0"/>
                    </a:p>
                  </a:txBody>
                  <a:tcPr/>
                </a:tc>
                <a:extLst>
                  <a:ext uri="{0D108BD9-81ED-4DB2-BD59-A6C34878D82A}">
                    <a16:rowId xmlns:a16="http://schemas.microsoft.com/office/drawing/2014/main" xmlns="" val="10005"/>
                  </a:ext>
                </a:extLst>
              </a:tr>
              <a:tr h="370840">
                <a:tc>
                  <a:txBody>
                    <a:bodyPr/>
                    <a:lstStyle/>
                    <a:p>
                      <a:r>
                        <a:rPr lang="en-US" dirty="0"/>
                        <a:t>6</a:t>
                      </a:r>
                    </a:p>
                  </a:txBody>
                  <a:tcPr/>
                </a:tc>
                <a:tc>
                  <a:txBody>
                    <a:bodyPr/>
                    <a:lstStyle/>
                    <a:p>
                      <a:r>
                        <a:rPr lang="en-US" dirty="0"/>
                        <a:t>class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class of the element and is used</a:t>
                      </a:r>
                      <a:r>
                        <a:rPr lang="en-US" baseline="0" dirty="0"/>
                        <a:t> to render the content</a:t>
                      </a:r>
                      <a:endParaRPr lang="en-US" dirty="0"/>
                    </a:p>
                  </a:txBody>
                  <a:tcPr/>
                </a:tc>
                <a:extLst>
                  <a:ext uri="{0D108BD9-81ED-4DB2-BD59-A6C34878D82A}">
                    <a16:rowId xmlns:a16="http://schemas.microsoft.com/office/drawing/2014/main" xmlns="" val="10006"/>
                  </a:ext>
                </a:extLst>
              </a:tr>
              <a:tr h="370840">
                <a:tc>
                  <a:txBody>
                    <a:bodyPr/>
                    <a:lstStyle/>
                    <a:p>
                      <a:r>
                        <a:rPr lang="en-US" dirty="0"/>
                        <a:t>7</a:t>
                      </a:r>
                    </a:p>
                  </a:txBody>
                  <a:tcPr/>
                </a:tc>
                <a:tc>
                  <a:txBody>
                    <a:bodyPr/>
                    <a:lstStyle/>
                    <a:p>
                      <a:r>
                        <a:rPr lang="en-US" dirty="0" err="1"/>
                        <a:t>dir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Gives the direction to directionally neutral text; you can set this attribute to </a:t>
                      </a:r>
                      <a:r>
                        <a:rPr lang="en-US" dirty="0" err="1"/>
                        <a:t>ltr</a:t>
                      </a:r>
                      <a:r>
                        <a:rPr lang="en-US" dirty="0"/>
                        <a:t> for</a:t>
                      </a:r>
                      <a:r>
                        <a:rPr lang="en-US" baseline="0" dirty="0"/>
                        <a:t> left to right text direction or </a:t>
                      </a:r>
                      <a:r>
                        <a:rPr lang="en-US" baseline="0" dirty="0" err="1"/>
                        <a:t>rtl</a:t>
                      </a:r>
                      <a:r>
                        <a:rPr lang="en-US" baseline="0" dirty="0"/>
                        <a:t> for right to left text direction</a:t>
                      </a:r>
                      <a:endParaRPr lang="en-US" dirty="0"/>
                    </a:p>
                  </a:txBody>
                  <a:tcPr/>
                </a:tc>
                <a:extLst>
                  <a:ext uri="{0D108BD9-81ED-4DB2-BD59-A6C34878D82A}">
                    <a16:rowId xmlns:a16="http://schemas.microsoft.com/office/drawing/2014/main" xmlns="" val="10007"/>
                  </a:ext>
                </a:extLst>
              </a:tr>
              <a:tr h="370840">
                <a:tc>
                  <a:txBody>
                    <a:bodyPr/>
                    <a:lstStyle/>
                    <a:p>
                      <a:r>
                        <a:rPr lang="en-US" dirty="0"/>
                        <a:t>8</a:t>
                      </a:r>
                    </a:p>
                  </a:txBody>
                  <a:tcPr/>
                </a:tc>
                <a:tc>
                  <a:txBody>
                    <a:bodyPr/>
                    <a:lstStyle/>
                    <a:p>
                      <a:r>
                        <a:rPr lang="en-US" dirty="0"/>
                        <a:t>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unique alphanumeric identifier for the element</a:t>
                      </a:r>
                    </a:p>
                  </a:txBody>
                  <a:tcPr/>
                </a:tc>
                <a:extLst>
                  <a:ext uri="{0D108BD9-81ED-4DB2-BD59-A6C34878D82A}">
                    <a16:rowId xmlns:a16="http://schemas.microsoft.com/office/drawing/2014/main" xmlns="" val="10008"/>
                  </a:ext>
                </a:extLst>
              </a:tr>
              <a:tr h="370840">
                <a:tc>
                  <a:txBody>
                    <a:bodyPr/>
                    <a:lstStyle/>
                    <a:p>
                      <a:r>
                        <a:rPr lang="en-US" dirty="0"/>
                        <a:t>9</a:t>
                      </a:r>
                    </a:p>
                  </a:txBody>
                  <a:tcPr/>
                </a:tc>
                <a:tc>
                  <a:txBody>
                    <a:bodyPr/>
                    <a:lstStyle/>
                    <a:p>
                      <a:r>
                        <a:rPr lang="en-US" dirty="0" err="1"/>
                        <a:t>lang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base language used for the element</a:t>
                      </a:r>
                    </a:p>
                  </a:txBody>
                  <a:tcPr/>
                </a:tc>
                <a:extLst>
                  <a:ext uri="{0D108BD9-81ED-4DB2-BD59-A6C34878D82A}">
                    <a16:rowId xmlns:a16="http://schemas.microsoft.com/office/drawing/2014/main" xmlns="" val="10009"/>
                  </a:ext>
                </a:extLst>
              </a:tr>
              <a:tr h="370840">
                <a:tc>
                  <a:txBody>
                    <a:bodyPr/>
                    <a:lstStyle/>
                    <a:p>
                      <a:r>
                        <a:rPr lang="en-US" dirty="0"/>
                        <a:t>10</a:t>
                      </a:r>
                    </a:p>
                  </a:txBody>
                  <a:tcPr/>
                </a:tc>
                <a:tc>
                  <a:txBody>
                    <a:bodyPr/>
                    <a:lstStyle/>
                    <a:p>
                      <a:r>
                        <a:rPr lang="en-US" dirty="0"/>
                        <a:t>language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scripting language used for the element</a:t>
                      </a:r>
                    </a:p>
                  </a:txBody>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20316210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26547"/>
          </a:xfrm>
        </p:spPr>
        <p:txBody>
          <a:bodyPr>
            <a:normAutofit fontScale="90000"/>
          </a:bodyPr>
          <a:lstStyle/>
          <a:p>
            <a:r>
              <a:rPr lang="en-US" dirty="0"/>
              <a:t>Attributes</a:t>
            </a:r>
          </a:p>
        </p:txBody>
      </p:sp>
      <p:sp>
        <p:nvSpPr>
          <p:cNvPr id="3" name="Content Placeholder 2"/>
          <p:cNvSpPr>
            <a:spLocks noGrp="1"/>
          </p:cNvSpPr>
          <p:nvPr>
            <p:ph idx="1"/>
          </p:nvPr>
        </p:nvSpPr>
        <p:spPr>
          <a:xfrm>
            <a:off x="838200" y="626547"/>
            <a:ext cx="10515600" cy="4889076"/>
          </a:xfrm>
        </p:spPr>
        <p:txBody>
          <a:bodyPr/>
          <a:lstStyle/>
          <a:p>
            <a:r>
              <a:rPr lang="en-US" dirty="0"/>
              <a:t>Table 4 lists all the attributes of the &lt;body&gt; element</a:t>
            </a:r>
          </a:p>
        </p:txBody>
      </p:sp>
      <p:graphicFrame>
        <p:nvGraphicFramePr>
          <p:cNvPr id="4" name="Table 3"/>
          <p:cNvGraphicFramePr>
            <a:graphicFrameLocks noGrp="1"/>
          </p:cNvGraphicFramePr>
          <p:nvPr>
            <p:extLst>
              <p:ext uri="{D42A27DB-BD31-4B8C-83A1-F6EECF244321}">
                <p14:modId xmlns:p14="http://schemas.microsoft.com/office/powerpoint/2010/main" val="3735908900"/>
              </p:ext>
            </p:extLst>
          </p:nvPr>
        </p:nvGraphicFramePr>
        <p:xfrm>
          <a:off x="321970" y="1043189"/>
          <a:ext cx="11539471" cy="5678831"/>
        </p:xfrm>
        <a:graphic>
          <a:graphicData uri="http://schemas.openxmlformats.org/drawingml/2006/table">
            <a:tbl>
              <a:tblPr firstRow="1" bandRow="1">
                <a:tableStyleId>{93296810-A885-4BE3-A3E7-6D5BEEA58F35}</a:tableStyleId>
              </a:tblPr>
              <a:tblGrid>
                <a:gridCol w="768399">
                  <a:extLst>
                    <a:ext uri="{9D8B030D-6E8A-4147-A177-3AD203B41FA5}">
                      <a16:colId xmlns:a16="http://schemas.microsoft.com/office/drawing/2014/main" xmlns="" val="20000"/>
                    </a:ext>
                  </a:extLst>
                </a:gridCol>
                <a:gridCol w="1617683">
                  <a:extLst>
                    <a:ext uri="{9D8B030D-6E8A-4147-A177-3AD203B41FA5}">
                      <a16:colId xmlns:a16="http://schemas.microsoft.com/office/drawing/2014/main" xmlns="" val="20001"/>
                    </a:ext>
                  </a:extLst>
                </a:gridCol>
                <a:gridCol w="9153389">
                  <a:extLst>
                    <a:ext uri="{9D8B030D-6E8A-4147-A177-3AD203B41FA5}">
                      <a16:colId xmlns:a16="http://schemas.microsoft.com/office/drawing/2014/main" xmlns="" val="20002"/>
                    </a:ext>
                  </a:extLst>
                </a:gridCol>
              </a:tblGrid>
              <a:tr h="356097">
                <a:tc>
                  <a:txBody>
                    <a:bodyPr/>
                    <a:lstStyle/>
                    <a:p>
                      <a:r>
                        <a:rPr lang="en-US" dirty="0"/>
                        <a:t>Sr.No</a:t>
                      </a:r>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56097">
                <a:tc>
                  <a:txBody>
                    <a:bodyPr/>
                    <a:lstStyle/>
                    <a:p>
                      <a:r>
                        <a:rPr lang="en-US" dirty="0"/>
                        <a:t>11</a:t>
                      </a:r>
                    </a:p>
                  </a:txBody>
                  <a:tcPr/>
                </a:tc>
                <a:tc>
                  <a:txBody>
                    <a:bodyPr/>
                    <a:lstStyle/>
                    <a:p>
                      <a:r>
                        <a:rPr lang="en-US" dirty="0" err="1"/>
                        <a:t>leftmargin</a:t>
                      </a:r>
                      <a:endParaRPr lang="en-US" dirty="0"/>
                    </a:p>
                  </a:txBody>
                  <a:tcPr/>
                </a:tc>
                <a:tc>
                  <a:txBody>
                    <a:bodyPr/>
                    <a:lstStyle/>
                    <a:p>
                      <a:r>
                        <a:rPr lang="en-US" dirty="0"/>
                        <a:t>Specifies the left margin, which</a:t>
                      </a:r>
                      <a:r>
                        <a:rPr lang="en-US" baseline="0" dirty="0"/>
                        <a:t> is the empty space to the left of the document, in pixels.</a:t>
                      </a:r>
                      <a:endParaRPr lang="en-US" dirty="0"/>
                    </a:p>
                  </a:txBody>
                  <a:tcPr/>
                </a:tc>
                <a:extLst>
                  <a:ext uri="{0D108BD9-81ED-4DB2-BD59-A6C34878D82A}">
                    <a16:rowId xmlns:a16="http://schemas.microsoft.com/office/drawing/2014/main" xmlns="" val="10001"/>
                  </a:ext>
                </a:extLst>
              </a:tr>
              <a:tr h="623169">
                <a:tc>
                  <a:txBody>
                    <a:bodyPr/>
                    <a:lstStyle/>
                    <a:p>
                      <a:r>
                        <a:rPr lang="en-US" dirty="0"/>
                        <a:t>12</a:t>
                      </a:r>
                    </a:p>
                  </a:txBody>
                  <a:tcPr/>
                </a:tc>
                <a:tc>
                  <a:txBody>
                    <a:bodyPr/>
                    <a:lstStyle/>
                    <a:p>
                      <a:r>
                        <a:rPr lang="en-US" dirty="0"/>
                        <a:t>link</a:t>
                      </a:r>
                    </a:p>
                  </a:txBody>
                  <a:tcPr/>
                </a:tc>
                <a:tc>
                  <a:txBody>
                    <a:bodyPr/>
                    <a:lstStyle/>
                    <a:p>
                      <a:r>
                        <a:rPr lang="en-US" dirty="0"/>
                        <a:t>Specifies the color of the hyperlinks that have not yet been visited. You can set this attribute  to a predefined color name or value. This attribute has been marked as deprecated.</a:t>
                      </a:r>
                    </a:p>
                  </a:txBody>
                  <a:tcPr/>
                </a:tc>
                <a:extLst>
                  <a:ext uri="{0D108BD9-81ED-4DB2-BD59-A6C34878D82A}">
                    <a16:rowId xmlns:a16="http://schemas.microsoft.com/office/drawing/2014/main" xmlns="" val="10002"/>
                  </a:ext>
                </a:extLst>
              </a:tr>
              <a:tr h="356097">
                <a:tc>
                  <a:txBody>
                    <a:bodyPr/>
                    <a:lstStyle/>
                    <a:p>
                      <a:r>
                        <a:rPr lang="en-US" dirty="0"/>
                        <a:t>13</a:t>
                      </a:r>
                    </a:p>
                  </a:txBody>
                  <a:tcPr/>
                </a:tc>
                <a:tc>
                  <a:txBody>
                    <a:bodyPr/>
                    <a:lstStyle/>
                    <a:p>
                      <a:r>
                        <a:rPr lang="en-US" dirty="0" err="1"/>
                        <a:t>marginheight</a:t>
                      </a:r>
                      <a:endParaRPr lang="en-US" dirty="0"/>
                    </a:p>
                  </a:txBody>
                  <a:tcPr/>
                </a:tc>
                <a:tc>
                  <a:txBody>
                    <a:bodyPr/>
                    <a:lstStyle/>
                    <a:p>
                      <a:r>
                        <a:rPr lang="en-US" dirty="0"/>
                        <a:t>Gives the height of the top and bottom margins, in pixels.</a:t>
                      </a:r>
                    </a:p>
                  </a:txBody>
                  <a:tcPr/>
                </a:tc>
                <a:extLst>
                  <a:ext uri="{0D108BD9-81ED-4DB2-BD59-A6C34878D82A}">
                    <a16:rowId xmlns:a16="http://schemas.microsoft.com/office/drawing/2014/main" xmlns="" val="10003"/>
                  </a:ext>
                </a:extLst>
              </a:tr>
              <a:tr h="356097">
                <a:tc>
                  <a:txBody>
                    <a:bodyPr/>
                    <a:lstStyle/>
                    <a:p>
                      <a:r>
                        <a:rPr lang="en-US" dirty="0"/>
                        <a:t>14</a:t>
                      </a:r>
                    </a:p>
                  </a:txBody>
                  <a:tcPr/>
                </a:tc>
                <a:tc>
                  <a:txBody>
                    <a:bodyPr/>
                    <a:lstStyle/>
                    <a:p>
                      <a:r>
                        <a:rPr lang="en-US" dirty="0" err="1"/>
                        <a:t>marginwidth</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Gives the </a:t>
                      </a:r>
                      <a:r>
                        <a:rPr lang="en-US" dirty="0" err="1"/>
                        <a:t>widht</a:t>
                      </a:r>
                      <a:r>
                        <a:rPr lang="en-US" dirty="0"/>
                        <a:t> of the left and right margins, in pixels.</a:t>
                      </a:r>
                    </a:p>
                  </a:txBody>
                  <a:tcPr/>
                </a:tc>
                <a:extLst>
                  <a:ext uri="{0D108BD9-81ED-4DB2-BD59-A6C34878D82A}">
                    <a16:rowId xmlns:a16="http://schemas.microsoft.com/office/drawing/2014/main" xmlns="" val="10004"/>
                  </a:ext>
                </a:extLst>
              </a:tr>
              <a:tr h="356097">
                <a:tc>
                  <a:txBody>
                    <a:bodyPr/>
                    <a:lstStyle/>
                    <a:p>
                      <a:r>
                        <a:rPr lang="en-US" dirty="0"/>
                        <a:t>15</a:t>
                      </a:r>
                    </a:p>
                  </a:txBody>
                  <a:tcPr/>
                </a:tc>
                <a:tc>
                  <a:txBody>
                    <a:bodyPr/>
                    <a:lstStyle/>
                    <a:p>
                      <a:r>
                        <a:rPr lang="en-US" dirty="0" err="1"/>
                        <a:t>rightmargin</a:t>
                      </a:r>
                      <a:endParaRPr lang="en-US" dirty="0"/>
                    </a:p>
                  </a:txBody>
                  <a:tcPr/>
                </a:tc>
                <a:tc>
                  <a:txBody>
                    <a:bodyPr/>
                    <a:lstStyle/>
                    <a:p>
                      <a:r>
                        <a:rPr lang="en-US" dirty="0"/>
                        <a:t>Specifies the right margin, which is the empty space to the right of the document, in pixels.</a:t>
                      </a:r>
                    </a:p>
                  </a:txBody>
                  <a:tcPr/>
                </a:tc>
                <a:extLst>
                  <a:ext uri="{0D108BD9-81ED-4DB2-BD59-A6C34878D82A}">
                    <a16:rowId xmlns:a16="http://schemas.microsoft.com/office/drawing/2014/main" xmlns="" val="10005"/>
                  </a:ext>
                </a:extLst>
              </a:tr>
              <a:tr h="356097">
                <a:tc>
                  <a:txBody>
                    <a:bodyPr/>
                    <a:lstStyle/>
                    <a:p>
                      <a:r>
                        <a:rPr lang="en-US" dirty="0"/>
                        <a:t>16</a:t>
                      </a:r>
                    </a:p>
                  </a:txBody>
                  <a:tcPr/>
                </a:tc>
                <a:tc>
                  <a:txBody>
                    <a:bodyPr/>
                    <a:lstStyle/>
                    <a:p>
                      <a:r>
                        <a:rPr lang="en-US" dirty="0"/>
                        <a:t>scroll</a:t>
                      </a:r>
                    </a:p>
                  </a:txBody>
                  <a:tcPr/>
                </a:tc>
                <a:tc>
                  <a:txBody>
                    <a:bodyPr/>
                    <a:lstStyle/>
                    <a:p>
                      <a:r>
                        <a:rPr lang="en-US" dirty="0"/>
                        <a:t>Specifies whether a vertical scrollbar appears to the right of the document</a:t>
                      </a:r>
                    </a:p>
                  </a:txBody>
                  <a:tcPr/>
                </a:tc>
                <a:extLst>
                  <a:ext uri="{0D108BD9-81ED-4DB2-BD59-A6C34878D82A}">
                    <a16:rowId xmlns:a16="http://schemas.microsoft.com/office/drawing/2014/main" xmlns="" val="10006"/>
                  </a:ext>
                </a:extLst>
              </a:tr>
              <a:tr h="623169">
                <a:tc>
                  <a:txBody>
                    <a:bodyPr/>
                    <a:lstStyle/>
                    <a:p>
                      <a:r>
                        <a:rPr lang="en-US" dirty="0"/>
                        <a:t>17</a:t>
                      </a:r>
                    </a:p>
                  </a:txBody>
                  <a:tcPr/>
                </a:tc>
                <a:tc>
                  <a:txBody>
                    <a:bodyPr/>
                    <a:lstStyle/>
                    <a:p>
                      <a:r>
                        <a:rPr lang="en-US" dirty="0"/>
                        <a:t>style</a:t>
                      </a:r>
                    </a:p>
                  </a:txBody>
                  <a:tcPr/>
                </a:tc>
                <a:tc>
                  <a:txBody>
                    <a:bodyPr/>
                    <a:lstStyle/>
                    <a:p>
                      <a:r>
                        <a:rPr lang="en-US" dirty="0"/>
                        <a:t>Specifies whether a vertical scrollbar appears to the document; you can set this attribute to yes(which is the default value for the attribute) or no.</a:t>
                      </a:r>
                    </a:p>
                  </a:txBody>
                  <a:tcPr/>
                </a:tc>
                <a:extLst>
                  <a:ext uri="{0D108BD9-81ED-4DB2-BD59-A6C34878D82A}">
                    <a16:rowId xmlns:a16="http://schemas.microsoft.com/office/drawing/2014/main" xmlns="" val="10007"/>
                  </a:ext>
                </a:extLst>
              </a:tr>
              <a:tr h="623169">
                <a:tc>
                  <a:txBody>
                    <a:bodyPr/>
                    <a:lstStyle/>
                    <a:p>
                      <a:r>
                        <a:rPr lang="en-US" dirty="0"/>
                        <a:t>18</a:t>
                      </a:r>
                    </a:p>
                  </a:txBody>
                  <a:tcPr/>
                </a:tc>
                <a:tc>
                  <a:txBody>
                    <a:bodyPr/>
                    <a:lstStyle/>
                    <a:p>
                      <a:r>
                        <a:rPr lang="en-US" dirty="0"/>
                        <a:t>text</a:t>
                      </a:r>
                    </a:p>
                  </a:txBody>
                  <a:tcPr/>
                </a:tc>
                <a:tc>
                  <a:txBody>
                    <a:bodyPr/>
                    <a:lstStyle/>
                    <a:p>
                      <a:r>
                        <a:rPr lang="en-US" dirty="0"/>
                        <a:t>Specifies the color of the text</a:t>
                      </a:r>
                      <a:r>
                        <a:rPr lang="en-US" baseline="0" dirty="0"/>
                        <a:t> in the document. You can set this attribute to a predefined color name or value. This attribute has been marked as deprecated.</a:t>
                      </a:r>
                      <a:endParaRPr lang="en-US" dirty="0"/>
                    </a:p>
                  </a:txBody>
                  <a:tcPr/>
                </a:tc>
                <a:extLst>
                  <a:ext uri="{0D108BD9-81ED-4DB2-BD59-A6C34878D82A}">
                    <a16:rowId xmlns:a16="http://schemas.microsoft.com/office/drawing/2014/main" xmlns="" val="10008"/>
                  </a:ext>
                </a:extLst>
              </a:tr>
              <a:tr h="356097">
                <a:tc>
                  <a:txBody>
                    <a:bodyPr/>
                    <a:lstStyle/>
                    <a:p>
                      <a:r>
                        <a:rPr lang="en-US" dirty="0"/>
                        <a:t>19</a:t>
                      </a:r>
                    </a:p>
                  </a:txBody>
                  <a:tcPr/>
                </a:tc>
                <a:tc>
                  <a:txBody>
                    <a:bodyPr/>
                    <a:lstStyle/>
                    <a:p>
                      <a:r>
                        <a:rPr lang="en-US" dirty="0"/>
                        <a:t>title</a:t>
                      </a:r>
                    </a:p>
                  </a:txBody>
                  <a:tcPr/>
                </a:tc>
                <a:tc>
                  <a:txBody>
                    <a:bodyPr/>
                    <a:lstStyle/>
                    <a:p>
                      <a:r>
                        <a:rPr lang="en-US" dirty="0"/>
                        <a:t>Holds additional information for the element, such as tooltips.</a:t>
                      </a:r>
                    </a:p>
                  </a:txBody>
                  <a:tcPr/>
                </a:tc>
                <a:extLst>
                  <a:ext uri="{0D108BD9-81ED-4DB2-BD59-A6C34878D82A}">
                    <a16:rowId xmlns:a16="http://schemas.microsoft.com/office/drawing/2014/main" xmlns="" val="10009"/>
                  </a:ext>
                </a:extLst>
              </a:tr>
              <a:tr h="356097">
                <a:tc>
                  <a:txBody>
                    <a:bodyPr/>
                    <a:lstStyle/>
                    <a:p>
                      <a:r>
                        <a:rPr lang="en-US" dirty="0"/>
                        <a:t>20</a:t>
                      </a:r>
                    </a:p>
                  </a:txBody>
                  <a:tcPr/>
                </a:tc>
                <a:tc>
                  <a:txBody>
                    <a:bodyPr/>
                    <a:lstStyle/>
                    <a:p>
                      <a:r>
                        <a:rPr lang="en-US" dirty="0" err="1"/>
                        <a:t>topmargin</a:t>
                      </a:r>
                      <a:endParaRPr lang="en-US" dirty="0"/>
                    </a:p>
                  </a:txBody>
                  <a:tcPr/>
                </a:tc>
                <a:tc>
                  <a:txBody>
                    <a:bodyPr/>
                    <a:lstStyle/>
                    <a:p>
                      <a:r>
                        <a:rPr lang="en-US" dirty="0"/>
                        <a:t>Specifies the top margin, which is the empty space at the top of the document, in pixels.</a:t>
                      </a:r>
                    </a:p>
                  </a:txBody>
                  <a:tcPr/>
                </a:tc>
                <a:extLst>
                  <a:ext uri="{0D108BD9-81ED-4DB2-BD59-A6C34878D82A}">
                    <a16:rowId xmlns:a16="http://schemas.microsoft.com/office/drawing/2014/main" xmlns="" val="10010"/>
                  </a:ext>
                </a:extLst>
              </a:tr>
              <a:tr h="832511">
                <a:tc>
                  <a:txBody>
                    <a:bodyPr/>
                    <a:lstStyle/>
                    <a:p>
                      <a:r>
                        <a:rPr lang="en-US" dirty="0"/>
                        <a:t>21</a:t>
                      </a:r>
                    </a:p>
                  </a:txBody>
                  <a:tcPr/>
                </a:tc>
                <a:tc>
                  <a:txBody>
                    <a:bodyPr/>
                    <a:lstStyle/>
                    <a:p>
                      <a:r>
                        <a:rPr lang="en-US" dirty="0" err="1"/>
                        <a:t>vlink</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Specifies the color of the hyperlinks that have been visited. You can set this attribute  to a predefined color name or value. This attribute has been marked as deprecated.</a:t>
                      </a:r>
                    </a:p>
                  </a:txBody>
                  <a:tcP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17980520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932"/>
            <a:ext cx="10515600" cy="1064430"/>
          </a:xfrm>
        </p:spPr>
        <p:txBody>
          <a:bodyPr/>
          <a:lstStyle/>
          <a:p>
            <a:r>
              <a:rPr lang="en-US" dirty="0"/>
              <a:t>HTML Tags</a:t>
            </a:r>
          </a:p>
        </p:txBody>
      </p:sp>
      <p:sp>
        <p:nvSpPr>
          <p:cNvPr id="3" name="Content Placeholder 2"/>
          <p:cNvSpPr>
            <a:spLocks noGrp="1"/>
          </p:cNvSpPr>
          <p:nvPr>
            <p:ph idx="1"/>
          </p:nvPr>
        </p:nvSpPr>
        <p:spPr>
          <a:xfrm>
            <a:off x="838200" y="1213361"/>
            <a:ext cx="10515600" cy="5380621"/>
          </a:xfrm>
        </p:spPr>
        <p:txBody>
          <a:bodyPr>
            <a:normAutofit/>
          </a:bodyPr>
          <a:lstStyle/>
          <a:p>
            <a:r>
              <a:rPr lang="en-US" dirty="0"/>
              <a:t>HTML tags are used to mark-up HTML elements.</a:t>
            </a:r>
          </a:p>
          <a:p>
            <a:r>
              <a:rPr lang="en-US" dirty="0"/>
              <a:t>HTML tags are surrounded by the two characters </a:t>
            </a:r>
            <a:r>
              <a:rPr lang="en-US" dirty="0">
                <a:solidFill>
                  <a:srgbClr val="C00000"/>
                </a:solidFill>
              </a:rPr>
              <a:t>&lt;</a:t>
            </a:r>
            <a:r>
              <a:rPr lang="en-US" dirty="0"/>
              <a:t> and </a:t>
            </a:r>
            <a:r>
              <a:rPr lang="en-US" dirty="0">
                <a:solidFill>
                  <a:srgbClr val="C00000"/>
                </a:solidFill>
              </a:rPr>
              <a:t>&gt;</a:t>
            </a:r>
          </a:p>
          <a:p>
            <a:r>
              <a:rPr lang="en-US" dirty="0"/>
              <a:t>HTML tags normally come in pairs like </a:t>
            </a:r>
            <a:r>
              <a:rPr lang="en-US" dirty="0">
                <a:solidFill>
                  <a:srgbClr val="C00000"/>
                </a:solidFill>
              </a:rPr>
              <a:t>&lt;</a:t>
            </a:r>
            <a:r>
              <a:rPr lang="en-US" dirty="0"/>
              <a:t>b</a:t>
            </a:r>
            <a:r>
              <a:rPr lang="en-US" dirty="0">
                <a:solidFill>
                  <a:srgbClr val="C00000"/>
                </a:solidFill>
              </a:rPr>
              <a:t>&gt;</a:t>
            </a:r>
            <a:r>
              <a:rPr lang="en-US" dirty="0"/>
              <a:t> and </a:t>
            </a:r>
            <a:r>
              <a:rPr lang="en-US" dirty="0">
                <a:solidFill>
                  <a:srgbClr val="C00000"/>
                </a:solidFill>
              </a:rPr>
              <a:t>&lt;</a:t>
            </a:r>
            <a:r>
              <a:rPr lang="en-US" dirty="0"/>
              <a:t>/b</a:t>
            </a:r>
            <a:r>
              <a:rPr lang="en-US" dirty="0">
                <a:solidFill>
                  <a:srgbClr val="C00000"/>
                </a:solidFill>
              </a:rPr>
              <a:t>&gt;</a:t>
            </a:r>
          </a:p>
          <a:p>
            <a:r>
              <a:rPr lang="en-US" dirty="0"/>
              <a:t>The first tag in a pair is the start tag </a:t>
            </a:r>
            <a:r>
              <a:rPr lang="en-US" dirty="0" err="1"/>
              <a:t>eg</a:t>
            </a:r>
            <a:r>
              <a:rPr lang="en-US" dirty="0"/>
              <a:t>.</a:t>
            </a:r>
            <a:r>
              <a:rPr lang="en-US" dirty="0">
                <a:solidFill>
                  <a:srgbClr val="C00000"/>
                </a:solidFill>
              </a:rPr>
              <a:t> &lt;</a:t>
            </a:r>
            <a:r>
              <a:rPr lang="en-US" dirty="0"/>
              <a:t>b</a:t>
            </a:r>
            <a:r>
              <a:rPr lang="en-US" dirty="0">
                <a:solidFill>
                  <a:srgbClr val="C00000"/>
                </a:solidFill>
              </a:rPr>
              <a:t>&gt;</a:t>
            </a:r>
            <a:r>
              <a:rPr lang="en-US" dirty="0"/>
              <a:t> </a:t>
            </a:r>
          </a:p>
          <a:p>
            <a:r>
              <a:rPr lang="en-US" dirty="0"/>
              <a:t>The second tag in a pair is the end tag </a:t>
            </a:r>
            <a:r>
              <a:rPr lang="en-US" dirty="0" err="1"/>
              <a:t>eg</a:t>
            </a:r>
            <a:r>
              <a:rPr lang="en-US" dirty="0"/>
              <a:t>.</a:t>
            </a:r>
            <a:r>
              <a:rPr lang="en-US" dirty="0">
                <a:solidFill>
                  <a:srgbClr val="C00000"/>
                </a:solidFill>
              </a:rPr>
              <a:t> &lt;</a:t>
            </a:r>
            <a:r>
              <a:rPr lang="en-US" dirty="0"/>
              <a:t>/b</a:t>
            </a:r>
            <a:r>
              <a:rPr lang="en-US" dirty="0">
                <a:solidFill>
                  <a:srgbClr val="C00000"/>
                </a:solidFill>
              </a:rPr>
              <a:t>&gt;</a:t>
            </a:r>
          </a:p>
          <a:p>
            <a:r>
              <a:rPr lang="en-US" dirty="0"/>
              <a:t>The text between the start and end tags is the element content.</a:t>
            </a:r>
          </a:p>
          <a:p>
            <a:endParaRPr lang="en-US" dirty="0"/>
          </a:p>
          <a:p>
            <a:r>
              <a:rPr lang="en-US" dirty="0"/>
              <a:t>An ending tag is named in the same way as the corresponding starting tag, except that it has a </a:t>
            </a:r>
            <a:r>
              <a:rPr lang="en-US" dirty="0">
                <a:solidFill>
                  <a:srgbClr val="C00000"/>
                </a:solidFill>
              </a:rPr>
              <a:t>/ </a:t>
            </a:r>
            <a:r>
              <a:rPr lang="en-US" dirty="0"/>
              <a:t>character before the tag name.</a:t>
            </a:r>
          </a:p>
          <a:p>
            <a:r>
              <a:rPr lang="en-US" dirty="0"/>
              <a:t>HTML tags are not case sensitive,</a:t>
            </a:r>
            <a:r>
              <a:rPr lang="en-US" dirty="0">
                <a:solidFill>
                  <a:srgbClr val="C00000"/>
                </a:solidFill>
              </a:rPr>
              <a:t> &lt;</a:t>
            </a:r>
            <a:r>
              <a:rPr lang="en-US" dirty="0"/>
              <a:t>b</a:t>
            </a:r>
            <a:r>
              <a:rPr lang="en-US" dirty="0">
                <a:solidFill>
                  <a:srgbClr val="C00000"/>
                </a:solidFill>
              </a:rPr>
              <a:t>&gt;</a:t>
            </a:r>
            <a:r>
              <a:rPr lang="en-US" dirty="0"/>
              <a:t> means the same as </a:t>
            </a:r>
            <a:r>
              <a:rPr lang="en-US" dirty="0">
                <a:solidFill>
                  <a:srgbClr val="C00000"/>
                </a:solidFill>
              </a:rPr>
              <a:t>&lt;</a:t>
            </a:r>
            <a:r>
              <a:rPr lang="en-US" dirty="0"/>
              <a:t>B</a:t>
            </a:r>
            <a:r>
              <a:rPr lang="en-US" dirty="0">
                <a:solidFill>
                  <a:srgbClr val="C00000"/>
                </a:solidFill>
              </a:rPr>
              <a:t>&gt;</a:t>
            </a:r>
          </a:p>
          <a:p>
            <a:endParaRPr lang="en-US" dirty="0"/>
          </a:p>
          <a:p>
            <a:endParaRPr lang="en-US" dirty="0">
              <a:solidFill>
                <a:srgbClr val="C00000"/>
              </a:solidFill>
            </a:endParaRPr>
          </a:p>
        </p:txBody>
      </p:sp>
      <p:pic>
        <p:nvPicPr>
          <p:cNvPr id="4" name="Picture 3"/>
          <p:cNvPicPr>
            <a:picLocks noChangeAspect="1"/>
          </p:cNvPicPr>
          <p:nvPr/>
        </p:nvPicPr>
        <p:blipFill>
          <a:blip r:embed="rId2"/>
          <a:stretch>
            <a:fillRect/>
          </a:stretch>
        </p:blipFill>
        <p:spPr>
          <a:xfrm>
            <a:off x="3963272" y="4259619"/>
            <a:ext cx="2333625" cy="260865"/>
          </a:xfrm>
          <a:prstGeom prst="rect">
            <a:avLst/>
          </a:prstGeom>
        </p:spPr>
      </p:pic>
    </p:spTree>
    <p:extLst>
      <p:ext uri="{BB962C8B-B14F-4D97-AF65-F5344CB8AC3E}">
        <p14:creationId xmlns:p14="http://schemas.microsoft.com/office/powerpoint/2010/main" val="1458920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Headings</a:t>
            </a:r>
            <a:endParaRPr lang="en-IN" dirty="0"/>
          </a:p>
        </p:txBody>
      </p:sp>
      <p:sp>
        <p:nvSpPr>
          <p:cNvPr id="3" name="Content Placeholder 2"/>
          <p:cNvSpPr>
            <a:spLocks noGrp="1"/>
          </p:cNvSpPr>
          <p:nvPr>
            <p:ph idx="1"/>
          </p:nvPr>
        </p:nvSpPr>
        <p:spPr/>
        <p:txBody>
          <a:bodyPr/>
          <a:lstStyle/>
          <a:p>
            <a:r>
              <a:rPr lang="en-US" dirty="0"/>
              <a:t>Headings in HTML are defined with the &lt;h1&gt; to &lt;h6&gt; tags. For example,&lt;h1&gt; defines the largest heading, whereas &lt;h6&gt; defines the smallest heading.HTML automatically adds an extra blank line before and after a heading</a:t>
            </a:r>
          </a:p>
          <a:p>
            <a:endParaRPr lang="en-IN" dirty="0"/>
          </a:p>
        </p:txBody>
      </p:sp>
      <p:sp>
        <p:nvSpPr>
          <p:cNvPr id="6" name="Title 1"/>
          <p:cNvSpPr txBox="1">
            <a:spLocks/>
          </p:cNvSpPr>
          <p:nvPr/>
        </p:nvSpPr>
        <p:spPr>
          <a:xfrm>
            <a:off x="838201" y="4107781"/>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heading.html</a:t>
            </a:r>
          </a:p>
        </p:txBody>
      </p:sp>
      <p:sp>
        <p:nvSpPr>
          <p:cNvPr id="7" name="Title 1"/>
          <p:cNvSpPr txBox="1">
            <a:spLocks/>
          </p:cNvSpPr>
          <p:nvPr/>
        </p:nvSpPr>
        <p:spPr>
          <a:xfrm>
            <a:off x="7311445" y="3024882"/>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8" name="Picture 7"/>
          <p:cNvPicPr>
            <a:picLocks noChangeAspect="1"/>
          </p:cNvPicPr>
          <p:nvPr/>
        </p:nvPicPr>
        <p:blipFill>
          <a:blip r:embed="rId2"/>
          <a:stretch>
            <a:fillRect/>
          </a:stretch>
        </p:blipFill>
        <p:spPr>
          <a:xfrm>
            <a:off x="6909280" y="3438525"/>
            <a:ext cx="4629150" cy="3219450"/>
          </a:xfrm>
          <a:prstGeom prst="rect">
            <a:avLst/>
          </a:prstGeom>
        </p:spPr>
      </p:pic>
      <p:pic>
        <p:nvPicPr>
          <p:cNvPr id="9" name="Picture 8"/>
          <p:cNvPicPr>
            <a:picLocks noChangeAspect="1"/>
          </p:cNvPicPr>
          <p:nvPr/>
        </p:nvPicPr>
        <p:blipFill>
          <a:blip r:embed="rId3"/>
          <a:stretch>
            <a:fillRect/>
          </a:stretch>
        </p:blipFill>
        <p:spPr>
          <a:xfrm>
            <a:off x="2647548" y="3528811"/>
            <a:ext cx="3482796" cy="3129163"/>
          </a:xfrm>
          <a:prstGeom prst="rect">
            <a:avLst/>
          </a:prstGeom>
        </p:spPr>
      </p:pic>
    </p:spTree>
    <p:extLst>
      <p:ext uri="{BB962C8B-B14F-4D97-AF65-F5344CB8AC3E}">
        <p14:creationId xmlns:p14="http://schemas.microsoft.com/office/powerpoint/2010/main" val="23634159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Paragraphs</a:t>
            </a:r>
            <a:endParaRPr lang="en-IN" dirty="0"/>
          </a:p>
        </p:txBody>
      </p:sp>
      <p:sp>
        <p:nvSpPr>
          <p:cNvPr id="3" name="Content Placeholder 2"/>
          <p:cNvSpPr>
            <a:spLocks noGrp="1"/>
          </p:cNvSpPr>
          <p:nvPr>
            <p:ph idx="1"/>
          </p:nvPr>
        </p:nvSpPr>
        <p:spPr/>
        <p:txBody>
          <a:bodyPr/>
          <a:lstStyle/>
          <a:p>
            <a:r>
              <a:rPr lang="en-US" dirty="0"/>
              <a:t>Paragraphs are defined with the &lt;p&gt; tag.HTML automatically adds an extra blank line before and after a paragraph.</a:t>
            </a:r>
          </a:p>
          <a:p>
            <a:endParaRPr lang="en-IN" dirty="0"/>
          </a:p>
        </p:txBody>
      </p:sp>
      <p:pic>
        <p:nvPicPr>
          <p:cNvPr id="4" name="Picture 3"/>
          <p:cNvPicPr>
            <a:picLocks noChangeAspect="1"/>
          </p:cNvPicPr>
          <p:nvPr/>
        </p:nvPicPr>
        <p:blipFill>
          <a:blip r:embed="rId2"/>
          <a:stretch>
            <a:fillRect/>
          </a:stretch>
        </p:blipFill>
        <p:spPr>
          <a:xfrm>
            <a:off x="1441496" y="4061652"/>
            <a:ext cx="3362325" cy="1685925"/>
          </a:xfrm>
          <a:prstGeom prst="rect">
            <a:avLst/>
          </a:prstGeom>
        </p:spPr>
      </p:pic>
      <p:sp>
        <p:nvSpPr>
          <p:cNvPr id="5" name="Title 1"/>
          <p:cNvSpPr txBox="1">
            <a:spLocks/>
          </p:cNvSpPr>
          <p:nvPr/>
        </p:nvSpPr>
        <p:spPr>
          <a:xfrm>
            <a:off x="1855632" y="3018598"/>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paragraph.html</a:t>
            </a:r>
          </a:p>
        </p:txBody>
      </p:sp>
      <p:pic>
        <p:nvPicPr>
          <p:cNvPr id="6" name="Picture 5"/>
          <p:cNvPicPr>
            <a:picLocks noChangeAspect="1"/>
          </p:cNvPicPr>
          <p:nvPr/>
        </p:nvPicPr>
        <p:blipFill>
          <a:blip r:embed="rId3"/>
          <a:stretch>
            <a:fillRect/>
          </a:stretch>
        </p:blipFill>
        <p:spPr>
          <a:xfrm>
            <a:off x="7090222" y="4121283"/>
            <a:ext cx="2647950" cy="1238250"/>
          </a:xfrm>
          <a:prstGeom prst="rect">
            <a:avLst/>
          </a:prstGeom>
        </p:spPr>
      </p:pic>
      <p:sp>
        <p:nvSpPr>
          <p:cNvPr id="7" name="Title 1"/>
          <p:cNvSpPr txBox="1">
            <a:spLocks/>
          </p:cNvSpPr>
          <p:nvPr/>
        </p:nvSpPr>
        <p:spPr>
          <a:xfrm>
            <a:off x="7878115" y="3086795"/>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8348531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 breaks</a:t>
            </a:r>
            <a:endParaRPr lang="en-IN" dirty="0"/>
          </a:p>
        </p:txBody>
      </p:sp>
      <p:sp>
        <p:nvSpPr>
          <p:cNvPr id="3" name="Content Placeholder 2"/>
          <p:cNvSpPr>
            <a:spLocks noGrp="1"/>
          </p:cNvSpPr>
          <p:nvPr>
            <p:ph idx="1"/>
          </p:nvPr>
        </p:nvSpPr>
        <p:spPr/>
        <p:txBody>
          <a:bodyPr/>
          <a:lstStyle/>
          <a:p>
            <a:r>
              <a:rPr lang="en-US" dirty="0"/>
              <a:t>The &lt;</a:t>
            </a:r>
            <a:r>
              <a:rPr lang="en-US" dirty="0" err="1"/>
              <a:t>br</a:t>
            </a:r>
            <a:r>
              <a:rPr lang="en-US" dirty="0"/>
              <a:t>&gt; tag is used when we want to end a </a:t>
            </a:r>
            <a:r>
              <a:rPr lang="en-US" dirty="0" err="1"/>
              <a:t>line.This</a:t>
            </a:r>
            <a:r>
              <a:rPr lang="en-US" dirty="0"/>
              <a:t> tag does not start a new paragraph. The &lt;</a:t>
            </a:r>
            <a:r>
              <a:rPr lang="en-US" dirty="0" err="1"/>
              <a:t>br</a:t>
            </a:r>
            <a:r>
              <a:rPr lang="en-US" dirty="0"/>
              <a:t>&gt; tag forces a line break wherever you place it.</a:t>
            </a:r>
          </a:p>
          <a:p>
            <a:endParaRPr lang="en-IN" dirty="0"/>
          </a:p>
        </p:txBody>
      </p:sp>
      <p:pic>
        <p:nvPicPr>
          <p:cNvPr id="4" name="Picture 3"/>
          <p:cNvPicPr>
            <a:picLocks noChangeAspect="1"/>
          </p:cNvPicPr>
          <p:nvPr/>
        </p:nvPicPr>
        <p:blipFill>
          <a:blip r:embed="rId2"/>
          <a:stretch>
            <a:fillRect/>
          </a:stretch>
        </p:blipFill>
        <p:spPr>
          <a:xfrm>
            <a:off x="1205650" y="4229032"/>
            <a:ext cx="4629150" cy="1362075"/>
          </a:xfrm>
          <a:prstGeom prst="rect">
            <a:avLst/>
          </a:prstGeom>
        </p:spPr>
      </p:pic>
      <p:pic>
        <p:nvPicPr>
          <p:cNvPr id="5" name="Picture 4"/>
          <p:cNvPicPr>
            <a:picLocks noChangeAspect="1"/>
          </p:cNvPicPr>
          <p:nvPr/>
        </p:nvPicPr>
        <p:blipFill>
          <a:blip r:embed="rId3"/>
          <a:stretch>
            <a:fillRect/>
          </a:stretch>
        </p:blipFill>
        <p:spPr>
          <a:xfrm>
            <a:off x="7724573" y="4229032"/>
            <a:ext cx="1971675" cy="981075"/>
          </a:xfrm>
          <a:prstGeom prst="rect">
            <a:avLst/>
          </a:prstGeom>
        </p:spPr>
      </p:pic>
      <p:sp>
        <p:nvSpPr>
          <p:cNvPr id="6" name="Title 1"/>
          <p:cNvSpPr txBox="1">
            <a:spLocks/>
          </p:cNvSpPr>
          <p:nvPr/>
        </p:nvSpPr>
        <p:spPr>
          <a:xfrm>
            <a:off x="2113209" y="3241062"/>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linebreaks.html</a:t>
            </a:r>
          </a:p>
        </p:txBody>
      </p:sp>
      <p:sp>
        <p:nvSpPr>
          <p:cNvPr id="7" name="Title 1"/>
          <p:cNvSpPr txBox="1">
            <a:spLocks/>
          </p:cNvSpPr>
          <p:nvPr/>
        </p:nvSpPr>
        <p:spPr>
          <a:xfrm>
            <a:off x="7826600" y="3262176"/>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492759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Links to other pages</a:t>
            </a:r>
            <a:endParaRPr lang="en-IN" dirty="0"/>
          </a:p>
        </p:txBody>
      </p:sp>
      <p:sp>
        <p:nvSpPr>
          <p:cNvPr id="3" name="Content Placeholder 2"/>
          <p:cNvSpPr>
            <a:spLocks noGrp="1"/>
          </p:cNvSpPr>
          <p:nvPr>
            <p:ph idx="1"/>
          </p:nvPr>
        </p:nvSpPr>
        <p:spPr/>
        <p:txBody>
          <a:bodyPr>
            <a:normAutofit lnSpcReduction="10000"/>
          </a:bodyPr>
          <a:lstStyle/>
          <a:p>
            <a:r>
              <a:rPr lang="en-US" dirty="0"/>
              <a:t>The anchor tag can be used to create a link to another </a:t>
            </a:r>
            <a:r>
              <a:rPr lang="en-US" dirty="0" err="1"/>
              <a:t>document.This</a:t>
            </a:r>
            <a:r>
              <a:rPr lang="en-US" dirty="0"/>
              <a:t> is called hyperlink or </a:t>
            </a:r>
            <a:r>
              <a:rPr lang="en-US" dirty="0" err="1"/>
              <a:t>URL.The</a:t>
            </a:r>
            <a:r>
              <a:rPr lang="en-US" dirty="0"/>
              <a:t> tag causes some text to be displayed as </a:t>
            </a:r>
            <a:r>
              <a:rPr lang="en-US" dirty="0" err="1"/>
              <a:t>underlined.It</a:t>
            </a:r>
            <a:r>
              <a:rPr lang="en-US" dirty="0"/>
              <a:t> we click on that text in the Web </a:t>
            </a:r>
            <a:r>
              <a:rPr lang="en-US" dirty="0" err="1"/>
              <a:t>browser,our</a:t>
            </a:r>
            <a:r>
              <a:rPr lang="en-US" dirty="0"/>
              <a:t> browser opens the site/page that the hyperlink refers </a:t>
            </a:r>
            <a:r>
              <a:rPr lang="en-US" dirty="0" err="1"/>
              <a:t>to.The</a:t>
            </a:r>
            <a:r>
              <a:rPr lang="en-US" dirty="0"/>
              <a:t> tag used is &lt;a&gt;.The syntax is </a:t>
            </a:r>
            <a:r>
              <a:rPr lang="en-US" dirty="0">
                <a:solidFill>
                  <a:srgbClr val="00B050"/>
                </a:solidFill>
              </a:rPr>
              <a:t>&lt;a </a:t>
            </a:r>
            <a:r>
              <a:rPr lang="en-US" dirty="0" err="1">
                <a:solidFill>
                  <a:srgbClr val="00B050"/>
                </a:solidFill>
              </a:rPr>
              <a:t>href</a:t>
            </a:r>
            <a:r>
              <a:rPr lang="en-US" dirty="0">
                <a:solidFill>
                  <a:srgbClr val="00B050"/>
                </a:solidFill>
              </a:rPr>
              <a:t>=“</a:t>
            </a:r>
            <a:r>
              <a:rPr lang="en-US" dirty="0" err="1">
                <a:solidFill>
                  <a:srgbClr val="00B050"/>
                </a:solidFill>
              </a:rPr>
              <a:t>url</a:t>
            </a:r>
            <a:r>
              <a:rPr lang="en-US" dirty="0">
                <a:solidFill>
                  <a:srgbClr val="00B050"/>
                </a:solidFill>
              </a:rPr>
              <a:t>”&gt;Text to be displayed&lt;/a&gt;</a:t>
            </a:r>
          </a:p>
          <a:p>
            <a:r>
              <a:rPr lang="en-US" dirty="0"/>
              <a:t>Here </a:t>
            </a:r>
            <a:r>
              <a:rPr lang="en-US" dirty="0">
                <a:solidFill>
                  <a:srgbClr val="00B050"/>
                </a:solidFill>
              </a:rPr>
              <a:t>a</a:t>
            </a:r>
            <a:r>
              <a:rPr lang="en-US" dirty="0"/>
              <a:t>=create an anchor</a:t>
            </a:r>
          </a:p>
          <a:p>
            <a:r>
              <a:rPr lang="en-US" dirty="0" err="1">
                <a:solidFill>
                  <a:srgbClr val="00B050"/>
                </a:solidFill>
              </a:rPr>
              <a:t>Href</a:t>
            </a:r>
            <a:r>
              <a:rPr lang="en-US" dirty="0"/>
              <a:t>=Target URL</a:t>
            </a:r>
          </a:p>
          <a:p>
            <a:r>
              <a:rPr lang="en-US" dirty="0">
                <a:solidFill>
                  <a:srgbClr val="00B050"/>
                </a:solidFill>
              </a:rPr>
              <a:t>Text</a:t>
            </a:r>
            <a:r>
              <a:rPr lang="en-US" dirty="0"/>
              <a:t>=Text to be displayed as substitute for the URL</a:t>
            </a:r>
          </a:p>
          <a:p>
            <a:r>
              <a:rPr lang="en-US" dirty="0"/>
              <a:t>For example &lt;a </a:t>
            </a:r>
            <a:r>
              <a:rPr lang="en-US" dirty="0" err="1"/>
              <a:t>href</a:t>
            </a:r>
            <a:r>
              <a:rPr lang="en-US" dirty="0"/>
              <a:t>=“http://www.google.com/”&gt;Visit Google!&lt;/a&gt;</a:t>
            </a:r>
          </a:p>
          <a:p>
            <a:r>
              <a:rPr lang="en-US" dirty="0"/>
              <a:t>The result is visit Google!</a:t>
            </a:r>
          </a:p>
          <a:p>
            <a:endParaRPr lang="en-IN" dirty="0"/>
          </a:p>
        </p:txBody>
      </p:sp>
    </p:spTree>
    <p:extLst>
      <p:ext uri="{BB962C8B-B14F-4D97-AF65-F5344CB8AC3E}">
        <p14:creationId xmlns:p14="http://schemas.microsoft.com/office/powerpoint/2010/main" val="23950714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Links to other pages</a:t>
            </a:r>
            <a:endParaRPr lang="en-IN" dirty="0"/>
          </a:p>
        </p:txBody>
      </p:sp>
      <p:pic>
        <p:nvPicPr>
          <p:cNvPr id="6" name="Content Placeholder 5"/>
          <p:cNvPicPr>
            <a:picLocks noGrp="1" noChangeAspect="1"/>
          </p:cNvPicPr>
          <p:nvPr>
            <p:ph idx="1"/>
          </p:nvPr>
        </p:nvPicPr>
        <p:blipFill>
          <a:blip r:embed="rId2"/>
          <a:stretch>
            <a:fillRect/>
          </a:stretch>
        </p:blipFill>
        <p:spPr>
          <a:xfrm>
            <a:off x="1186467" y="3283968"/>
            <a:ext cx="5105400" cy="1924050"/>
          </a:xfrm>
          <a:prstGeom prst="rect">
            <a:avLst/>
          </a:prstGeom>
        </p:spPr>
      </p:pic>
      <p:pic>
        <p:nvPicPr>
          <p:cNvPr id="7" name="Picture 6"/>
          <p:cNvPicPr>
            <a:picLocks noChangeAspect="1"/>
          </p:cNvPicPr>
          <p:nvPr/>
        </p:nvPicPr>
        <p:blipFill>
          <a:blip r:embed="rId3"/>
          <a:stretch>
            <a:fillRect/>
          </a:stretch>
        </p:blipFill>
        <p:spPr>
          <a:xfrm>
            <a:off x="7707872" y="3454892"/>
            <a:ext cx="2571750" cy="1390650"/>
          </a:xfrm>
          <a:prstGeom prst="rect">
            <a:avLst/>
          </a:prstGeom>
        </p:spPr>
      </p:pic>
      <p:sp>
        <p:nvSpPr>
          <p:cNvPr id="8" name="Title 1"/>
          <p:cNvSpPr txBox="1">
            <a:spLocks/>
          </p:cNvSpPr>
          <p:nvPr/>
        </p:nvSpPr>
        <p:spPr>
          <a:xfrm>
            <a:off x="1829874" y="1959122"/>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hyperlink.html</a:t>
            </a:r>
          </a:p>
        </p:txBody>
      </p:sp>
      <p:sp>
        <p:nvSpPr>
          <p:cNvPr id="9" name="Title 1"/>
          <p:cNvSpPr txBox="1">
            <a:spLocks/>
          </p:cNvSpPr>
          <p:nvPr/>
        </p:nvSpPr>
        <p:spPr>
          <a:xfrm>
            <a:off x="7835185" y="2180494"/>
            <a:ext cx="231712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2963190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Forms</a:t>
            </a:r>
          </a:p>
        </p:txBody>
      </p:sp>
      <p:sp>
        <p:nvSpPr>
          <p:cNvPr id="3" name="Content Placeholder 2"/>
          <p:cNvSpPr>
            <a:spLocks noGrp="1"/>
          </p:cNvSpPr>
          <p:nvPr>
            <p:ph idx="1"/>
          </p:nvPr>
        </p:nvSpPr>
        <p:spPr/>
        <p:txBody>
          <a:bodyPr>
            <a:normAutofit lnSpcReduction="10000"/>
          </a:bodyPr>
          <a:lstStyle/>
          <a:p>
            <a:r>
              <a:rPr lang="en-US" dirty="0"/>
              <a:t>Form is an area containing form elements. A form element allows user to enter information. These form elements must be enclosed inside the  opening &lt;form&gt; and closing &lt;/form&gt; tags.</a:t>
            </a:r>
          </a:p>
          <a:p>
            <a:r>
              <a:rPr lang="en-US" dirty="0"/>
              <a:t>The basic purpose of an HTML form is to allow the user to enter data on one end and then send the data on the other end through the web server. It helps the user to purchase goods on the Internet and sign up for newsletters and mail accounts. The controls are the basic parts of an HTML form. The user fills the forms by entering data in the text boxes, clicking the radio button, and clearing the check boxes.</a:t>
            </a:r>
          </a:p>
          <a:p>
            <a:r>
              <a:rPr lang="en-US" dirty="0"/>
              <a:t>Each form has a submit button that helps to send data through the server to the action URL.</a:t>
            </a:r>
          </a:p>
          <a:p>
            <a:endParaRPr lang="en-US" dirty="0"/>
          </a:p>
        </p:txBody>
      </p:sp>
    </p:spTree>
    <p:extLst>
      <p:ext uri="{BB962C8B-B14F-4D97-AF65-F5344CB8AC3E}">
        <p14:creationId xmlns:p14="http://schemas.microsoft.com/office/powerpoint/2010/main" val="40069314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an HTML Form</a:t>
            </a:r>
          </a:p>
        </p:txBody>
      </p:sp>
      <p:sp>
        <p:nvSpPr>
          <p:cNvPr id="3" name="Content Placeholder 2"/>
          <p:cNvSpPr>
            <a:spLocks noGrp="1"/>
          </p:cNvSpPr>
          <p:nvPr>
            <p:ph idx="1"/>
          </p:nvPr>
        </p:nvSpPr>
        <p:spPr/>
        <p:txBody>
          <a:bodyPr/>
          <a:lstStyle/>
          <a:p>
            <a:r>
              <a:rPr lang="en-US" dirty="0"/>
              <a:t>An HTML form is a web page that contains form elements. A basic form has three parts :</a:t>
            </a:r>
          </a:p>
          <a:p>
            <a:pPr marL="514350" indent="-514350">
              <a:buFont typeface="+mj-lt"/>
              <a:buAutoNum type="arabicPeriod"/>
            </a:pPr>
            <a:r>
              <a:rPr lang="en-US" dirty="0"/>
              <a:t>The &lt;form&gt; tag, which includes the URL of the script needed to process the form</a:t>
            </a:r>
          </a:p>
          <a:p>
            <a:pPr marL="514350" indent="-514350">
              <a:buFont typeface="+mj-lt"/>
              <a:buAutoNum type="arabicPeriod"/>
            </a:pPr>
            <a:r>
              <a:rPr lang="en-US" dirty="0"/>
              <a:t>The form elements. The various form elements can be text fields, drop-down lists, radio buttons, check boxes, and so on. </a:t>
            </a:r>
          </a:p>
          <a:p>
            <a:pPr marL="514350" indent="-514350">
              <a:buFont typeface="+mj-lt"/>
              <a:buAutoNum type="arabicPeriod"/>
            </a:pPr>
            <a:r>
              <a:rPr lang="en-US" dirty="0"/>
              <a:t>The submit button ,which sends the data to the server</a:t>
            </a:r>
          </a:p>
          <a:p>
            <a:endParaRPr lang="en-US" dirty="0"/>
          </a:p>
        </p:txBody>
      </p:sp>
    </p:spTree>
    <p:extLst>
      <p:ext uri="{BB962C8B-B14F-4D97-AF65-F5344CB8AC3E}">
        <p14:creationId xmlns:p14="http://schemas.microsoft.com/office/powerpoint/2010/main" val="27492180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the &lt;form&gt; Tag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37769332"/>
              </p:ext>
            </p:extLst>
          </p:nvPr>
        </p:nvGraphicFramePr>
        <p:xfrm>
          <a:off x="838200" y="1825625"/>
          <a:ext cx="10515600" cy="1381760"/>
        </p:xfrm>
        <a:graphic>
          <a:graphicData uri="http://schemas.openxmlformats.org/drawingml/2006/table">
            <a:tbl>
              <a:tblPr firstRow="1" bandRow="1">
                <a:tableStyleId>{93296810-A885-4BE3-A3E7-6D5BEEA58F35}</a:tableStyleId>
              </a:tblPr>
              <a:tblGrid>
                <a:gridCol w="707265">
                  <a:extLst>
                    <a:ext uri="{9D8B030D-6E8A-4147-A177-3AD203B41FA5}">
                      <a16:colId xmlns:a16="http://schemas.microsoft.com/office/drawing/2014/main" xmlns="" val="20000"/>
                    </a:ext>
                  </a:extLst>
                </a:gridCol>
                <a:gridCol w="1159098">
                  <a:extLst>
                    <a:ext uri="{9D8B030D-6E8A-4147-A177-3AD203B41FA5}">
                      <a16:colId xmlns:a16="http://schemas.microsoft.com/office/drawing/2014/main" xmlns="" val="20001"/>
                    </a:ext>
                  </a:extLst>
                </a:gridCol>
                <a:gridCol w="953037">
                  <a:extLst>
                    <a:ext uri="{9D8B030D-6E8A-4147-A177-3AD203B41FA5}">
                      <a16:colId xmlns:a16="http://schemas.microsoft.com/office/drawing/2014/main" xmlns="" val="20002"/>
                    </a:ext>
                  </a:extLst>
                </a:gridCol>
                <a:gridCol w="7696200">
                  <a:extLst>
                    <a:ext uri="{9D8B030D-6E8A-4147-A177-3AD203B41FA5}">
                      <a16:colId xmlns:a16="http://schemas.microsoft.com/office/drawing/2014/main" xmlns="" val="20003"/>
                    </a:ext>
                  </a:extLst>
                </a:gridCol>
              </a:tblGrid>
              <a:tr h="370840">
                <a:tc>
                  <a:txBody>
                    <a:bodyPr/>
                    <a:lstStyle/>
                    <a:p>
                      <a:r>
                        <a:rPr lang="en-US" dirty="0"/>
                        <a:t>Sr.No</a:t>
                      </a:r>
                    </a:p>
                  </a:txBody>
                  <a:tcPr/>
                </a:tc>
                <a:tc>
                  <a:txBody>
                    <a:bodyPr/>
                    <a:lstStyle/>
                    <a:p>
                      <a:r>
                        <a:rPr lang="en-US" dirty="0"/>
                        <a:t>Attributes</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a:t>action</a:t>
                      </a:r>
                    </a:p>
                  </a:txBody>
                  <a:tcPr/>
                </a:tc>
                <a:tc>
                  <a:txBody>
                    <a:bodyPr/>
                    <a:lstStyle/>
                    <a:p>
                      <a:r>
                        <a:rPr lang="en-US" dirty="0"/>
                        <a:t>URL</a:t>
                      </a:r>
                    </a:p>
                  </a:txBody>
                  <a:tcPr/>
                </a:tc>
                <a:tc>
                  <a:txBody>
                    <a:bodyPr/>
                    <a:lstStyle/>
                    <a:p>
                      <a:r>
                        <a:rPr lang="en-US" dirty="0"/>
                        <a:t>Defines</a:t>
                      </a:r>
                      <a:r>
                        <a:rPr lang="en-US" baseline="0" dirty="0"/>
                        <a:t> where to send the data when the submit button is clicked</a:t>
                      </a:r>
                      <a:endParaRPr lang="en-US" dirty="0"/>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method</a:t>
                      </a:r>
                    </a:p>
                  </a:txBody>
                  <a:tcPr/>
                </a:tc>
                <a:tc>
                  <a:txBody>
                    <a:bodyPr/>
                    <a:lstStyle/>
                    <a:p>
                      <a:r>
                        <a:rPr lang="en-US" dirty="0"/>
                        <a:t>get post</a:t>
                      </a:r>
                    </a:p>
                  </a:txBody>
                  <a:tcPr/>
                </a:tc>
                <a:tc>
                  <a:txBody>
                    <a:bodyPr/>
                    <a:lstStyle/>
                    <a:p>
                      <a:r>
                        <a:rPr lang="en-US" dirty="0"/>
                        <a:t>Represents the HTTP method that sends data to the action URL .The default value for the method attribute is get.</a:t>
                      </a:r>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0880671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HTML login form</a:t>
            </a:r>
          </a:p>
        </p:txBody>
      </p:sp>
      <p:pic>
        <p:nvPicPr>
          <p:cNvPr id="4" name="Content Placeholder 3"/>
          <p:cNvPicPr>
            <a:picLocks noGrp="1" noChangeAspect="1"/>
          </p:cNvPicPr>
          <p:nvPr>
            <p:ph idx="1"/>
          </p:nvPr>
        </p:nvPicPr>
        <p:blipFill>
          <a:blip r:embed="rId2"/>
          <a:stretch>
            <a:fillRect/>
          </a:stretch>
        </p:blipFill>
        <p:spPr>
          <a:xfrm>
            <a:off x="1320621" y="2883996"/>
            <a:ext cx="4038600" cy="2781300"/>
          </a:xfrm>
          <a:prstGeom prst="rect">
            <a:avLst/>
          </a:prstGeom>
        </p:spPr>
      </p:pic>
      <p:pic>
        <p:nvPicPr>
          <p:cNvPr id="5" name="Picture 4"/>
          <p:cNvPicPr>
            <a:picLocks noChangeAspect="1"/>
          </p:cNvPicPr>
          <p:nvPr/>
        </p:nvPicPr>
        <p:blipFill>
          <a:blip r:embed="rId3"/>
          <a:stretch>
            <a:fillRect/>
          </a:stretch>
        </p:blipFill>
        <p:spPr>
          <a:xfrm>
            <a:off x="6991619" y="3115816"/>
            <a:ext cx="2819400" cy="1476375"/>
          </a:xfrm>
          <a:prstGeom prst="rect">
            <a:avLst/>
          </a:prstGeom>
        </p:spPr>
      </p:pic>
      <p:sp>
        <p:nvSpPr>
          <p:cNvPr id="6" name="Title 1"/>
          <p:cNvSpPr txBox="1">
            <a:spLocks/>
          </p:cNvSpPr>
          <p:nvPr/>
        </p:nvSpPr>
        <p:spPr>
          <a:xfrm>
            <a:off x="1158025" y="178958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CreatingaForm.html</a:t>
            </a:r>
          </a:p>
        </p:txBody>
      </p:sp>
      <p:sp>
        <p:nvSpPr>
          <p:cNvPr id="7" name="Title 1"/>
          <p:cNvSpPr txBox="1">
            <a:spLocks/>
          </p:cNvSpPr>
          <p:nvPr/>
        </p:nvSpPr>
        <p:spPr>
          <a:xfrm>
            <a:off x="6952982" y="178958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4672633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the Action URL and Method to send the form</a:t>
            </a:r>
          </a:p>
        </p:txBody>
      </p:sp>
      <p:sp>
        <p:nvSpPr>
          <p:cNvPr id="3" name="Content Placeholder 2"/>
          <p:cNvSpPr>
            <a:spLocks noGrp="1"/>
          </p:cNvSpPr>
          <p:nvPr>
            <p:ph idx="1"/>
          </p:nvPr>
        </p:nvSpPr>
        <p:spPr/>
        <p:txBody>
          <a:bodyPr/>
          <a:lstStyle/>
          <a:p>
            <a:r>
              <a:rPr lang="en-US" dirty="0"/>
              <a:t>In HTML ,you can direct the data that the user enters in the form to the server. You can do this by specifying the action URL and the method in your HTML code.</a:t>
            </a:r>
          </a:p>
          <a:p>
            <a:r>
              <a:rPr lang="en-US" dirty="0"/>
              <a:t>Specified inside the &lt;form&gt; tag, action URL is the physical address of the server to which you want the user data to be redirected at the click of the submit button.</a:t>
            </a:r>
          </a:p>
          <a:p>
            <a:r>
              <a:rPr lang="en-US" dirty="0"/>
              <a:t>You can specify two different submission methods for a form.</a:t>
            </a:r>
          </a:p>
          <a:p>
            <a:r>
              <a:rPr lang="en-US" dirty="0"/>
              <a:t>The method is specified inside the &lt;form&gt; tag using the method attribute.</a:t>
            </a:r>
          </a:p>
        </p:txBody>
      </p:sp>
    </p:spTree>
    <p:extLst>
      <p:ext uri="{BB962C8B-B14F-4D97-AF65-F5344CB8AC3E}">
        <p14:creationId xmlns:p14="http://schemas.microsoft.com/office/powerpoint/2010/main" val="18247042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Values of the Method Attribute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36812267"/>
              </p:ext>
            </p:extLst>
          </p:nvPr>
        </p:nvGraphicFramePr>
        <p:xfrm>
          <a:off x="838200" y="1825625"/>
          <a:ext cx="10515600" cy="1381760"/>
        </p:xfrm>
        <a:graphic>
          <a:graphicData uri="http://schemas.openxmlformats.org/drawingml/2006/table">
            <a:tbl>
              <a:tblPr firstRow="1" bandRow="1">
                <a:tableStyleId>{93296810-A885-4BE3-A3E7-6D5BEEA58F35}</a:tableStyleId>
              </a:tblPr>
              <a:tblGrid>
                <a:gridCol w="707265">
                  <a:extLst>
                    <a:ext uri="{9D8B030D-6E8A-4147-A177-3AD203B41FA5}">
                      <a16:colId xmlns:a16="http://schemas.microsoft.com/office/drawing/2014/main" xmlns="" val="20000"/>
                    </a:ext>
                  </a:extLst>
                </a:gridCol>
                <a:gridCol w="1635617">
                  <a:extLst>
                    <a:ext uri="{9D8B030D-6E8A-4147-A177-3AD203B41FA5}">
                      <a16:colId xmlns:a16="http://schemas.microsoft.com/office/drawing/2014/main" xmlns="" val="20001"/>
                    </a:ext>
                  </a:extLst>
                </a:gridCol>
                <a:gridCol w="8172718">
                  <a:extLst>
                    <a:ext uri="{9D8B030D-6E8A-4147-A177-3AD203B41FA5}">
                      <a16:colId xmlns:a16="http://schemas.microsoft.com/office/drawing/2014/main" xmlns="" val="20002"/>
                    </a:ext>
                  </a:extLst>
                </a:gridCol>
              </a:tblGrid>
              <a:tr h="370840">
                <a:tc>
                  <a:txBody>
                    <a:bodyPr/>
                    <a:lstStyle/>
                    <a:p>
                      <a:r>
                        <a:rPr lang="en-US" dirty="0"/>
                        <a:t>Sr.No</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a:t>method=“get”</a:t>
                      </a:r>
                    </a:p>
                  </a:txBody>
                  <a:tcPr/>
                </a:tc>
                <a:tc>
                  <a:txBody>
                    <a:bodyPr/>
                    <a:lstStyle/>
                    <a:p>
                      <a:r>
                        <a:rPr lang="en-US" dirty="0"/>
                        <a:t>Indicates that the form data has to be encoded by the web browser into a URL . This is the default method.</a:t>
                      </a:r>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method=“post”</a:t>
                      </a:r>
                    </a:p>
                  </a:txBody>
                  <a:tcPr/>
                </a:tc>
                <a:tc>
                  <a:txBody>
                    <a:bodyPr/>
                    <a:lstStyle/>
                    <a:p>
                      <a:r>
                        <a:rPr lang="en-US" dirty="0"/>
                        <a:t>Indicates that</a:t>
                      </a:r>
                      <a:r>
                        <a:rPr lang="en-US" baseline="0" dirty="0"/>
                        <a:t> the form data appears within the message body.</a:t>
                      </a:r>
                      <a:endParaRPr lang="en-US" dirty="0"/>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8519328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the Action URL Method</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621804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992"/>
            <a:ext cx="10515600" cy="1325563"/>
          </a:xfrm>
        </p:spPr>
        <p:txBody>
          <a:bodyPr/>
          <a:lstStyle/>
          <a:p>
            <a:r>
              <a:rPr lang="en-US" dirty="0"/>
              <a:t>Using the HTML Controls</a:t>
            </a:r>
          </a:p>
        </p:txBody>
      </p:sp>
      <p:sp>
        <p:nvSpPr>
          <p:cNvPr id="3" name="Content Placeholder 2"/>
          <p:cNvSpPr>
            <a:spLocks noGrp="1"/>
          </p:cNvSpPr>
          <p:nvPr>
            <p:ph idx="1"/>
          </p:nvPr>
        </p:nvSpPr>
        <p:spPr>
          <a:xfrm>
            <a:off x="838200" y="1429555"/>
            <a:ext cx="10515600" cy="4958366"/>
          </a:xfrm>
        </p:spPr>
        <p:txBody>
          <a:bodyPr>
            <a:normAutofit/>
          </a:bodyPr>
          <a:lstStyle/>
          <a:p>
            <a:r>
              <a:rPr lang="en-US" dirty="0"/>
              <a:t>A user interacts with forms through controls that are the basic element of a web page form. The HTML controls help to make a Web page user friendly. A user can enter data in the Web page form with the help of the HTML controls. There are plenty of controls available in HTML and the controls that provide input to the form are created using the </a:t>
            </a:r>
            <a:r>
              <a:rPr lang="en-US" dirty="0">
                <a:solidFill>
                  <a:srgbClr val="00B050"/>
                </a:solidFill>
              </a:rPr>
              <a:t>&lt;input&gt; </a:t>
            </a:r>
            <a:r>
              <a:rPr lang="en-US" dirty="0"/>
              <a:t>tag and a different value for the </a:t>
            </a:r>
            <a:r>
              <a:rPr lang="en-US" dirty="0">
                <a:solidFill>
                  <a:srgbClr val="00B050"/>
                </a:solidFill>
              </a:rPr>
              <a:t>type</a:t>
            </a:r>
            <a:r>
              <a:rPr lang="en-US" dirty="0"/>
              <a:t> attribute.</a:t>
            </a:r>
          </a:p>
          <a:p>
            <a:endParaRPr lang="en-US" dirty="0"/>
          </a:p>
          <a:p>
            <a:r>
              <a:rPr lang="en-US" dirty="0"/>
              <a:t>The tag used in HTML to add controls is the </a:t>
            </a:r>
            <a:r>
              <a:rPr lang="en-US" dirty="0">
                <a:solidFill>
                  <a:srgbClr val="00B050"/>
                </a:solidFill>
              </a:rPr>
              <a:t>&lt;input&gt; </a:t>
            </a:r>
            <a:r>
              <a:rPr lang="en-US" dirty="0"/>
              <a:t>tag that defines the start of an input field where the user can enter data. The </a:t>
            </a:r>
            <a:r>
              <a:rPr lang="en-US" dirty="0">
                <a:solidFill>
                  <a:srgbClr val="00B050"/>
                </a:solidFill>
              </a:rPr>
              <a:t>&lt;input&gt; </a:t>
            </a:r>
            <a:r>
              <a:rPr lang="en-US" dirty="0"/>
              <a:t>tag prompts the user to enter data on the Web server. In HTML ,the </a:t>
            </a:r>
            <a:r>
              <a:rPr lang="en-US" dirty="0">
                <a:solidFill>
                  <a:srgbClr val="00B050"/>
                </a:solidFill>
              </a:rPr>
              <a:t>&lt;input&gt; </a:t>
            </a:r>
            <a:r>
              <a:rPr lang="en-US" dirty="0"/>
              <a:t>tag as no end tag. The following Table lists a brief description of the attributes of the </a:t>
            </a:r>
            <a:r>
              <a:rPr lang="en-US" dirty="0">
                <a:solidFill>
                  <a:srgbClr val="00B050"/>
                </a:solidFill>
              </a:rPr>
              <a:t>&lt;input&gt; </a:t>
            </a:r>
            <a:r>
              <a:rPr lang="en-US" dirty="0"/>
              <a:t>tag </a:t>
            </a:r>
          </a:p>
        </p:txBody>
      </p:sp>
      <p:sp>
        <p:nvSpPr>
          <p:cNvPr id="4" name="Title 1"/>
          <p:cNvSpPr txBox="1">
            <a:spLocks/>
          </p:cNvSpPr>
          <p:nvPr/>
        </p:nvSpPr>
        <p:spPr>
          <a:xfrm>
            <a:off x="1119388" y="3908738"/>
            <a:ext cx="4457165"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Using the &lt;input&gt; Tag to Add Controls</a:t>
            </a:r>
          </a:p>
        </p:txBody>
      </p:sp>
    </p:spTree>
    <p:extLst>
      <p:ext uri="{BB962C8B-B14F-4D97-AF65-F5344CB8AC3E}">
        <p14:creationId xmlns:p14="http://schemas.microsoft.com/office/powerpoint/2010/main" val="21651638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70" y="287852"/>
            <a:ext cx="10515600" cy="806852"/>
          </a:xfrm>
        </p:spPr>
        <p:txBody>
          <a:bodyPr/>
          <a:lstStyle/>
          <a:p>
            <a:r>
              <a:rPr lang="en-US" dirty="0"/>
              <a:t>Attributes of the &lt;input&gt; tag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98035137"/>
              </p:ext>
            </p:extLst>
          </p:nvPr>
        </p:nvGraphicFramePr>
        <p:xfrm>
          <a:off x="412123" y="1233197"/>
          <a:ext cx="11372047" cy="5313680"/>
        </p:xfrm>
        <a:graphic>
          <a:graphicData uri="http://schemas.openxmlformats.org/drawingml/2006/table">
            <a:tbl>
              <a:tblPr firstRow="1" bandRow="1">
                <a:tableStyleId>{93296810-A885-4BE3-A3E7-6D5BEEA58F35}</a:tableStyleId>
              </a:tblPr>
              <a:tblGrid>
                <a:gridCol w="764869">
                  <a:extLst>
                    <a:ext uri="{9D8B030D-6E8A-4147-A177-3AD203B41FA5}">
                      <a16:colId xmlns:a16="http://schemas.microsoft.com/office/drawing/2014/main" xmlns="" val="20000"/>
                    </a:ext>
                  </a:extLst>
                </a:gridCol>
                <a:gridCol w="1406708">
                  <a:extLst>
                    <a:ext uri="{9D8B030D-6E8A-4147-A177-3AD203B41FA5}">
                      <a16:colId xmlns:a16="http://schemas.microsoft.com/office/drawing/2014/main" xmlns="" val="20001"/>
                    </a:ext>
                  </a:extLst>
                </a:gridCol>
                <a:gridCol w="1420636">
                  <a:extLst>
                    <a:ext uri="{9D8B030D-6E8A-4147-A177-3AD203B41FA5}">
                      <a16:colId xmlns:a16="http://schemas.microsoft.com/office/drawing/2014/main" xmlns="" val="20002"/>
                    </a:ext>
                  </a:extLst>
                </a:gridCol>
                <a:gridCol w="7779834">
                  <a:extLst>
                    <a:ext uri="{9D8B030D-6E8A-4147-A177-3AD203B41FA5}">
                      <a16:colId xmlns:a16="http://schemas.microsoft.com/office/drawing/2014/main" xmlns="" val="20003"/>
                    </a:ext>
                  </a:extLst>
                </a:gridCol>
              </a:tblGrid>
              <a:tr h="370840">
                <a:tc>
                  <a:txBody>
                    <a:bodyPr/>
                    <a:lstStyle/>
                    <a:p>
                      <a:r>
                        <a:rPr lang="en-US" dirty="0"/>
                        <a:t>Sr.No</a:t>
                      </a:r>
                    </a:p>
                  </a:txBody>
                  <a:tcPr/>
                </a:tc>
                <a:tc>
                  <a:txBody>
                    <a:bodyPr/>
                    <a:lstStyle/>
                    <a:p>
                      <a:r>
                        <a:rPr lang="en-US" dirty="0"/>
                        <a:t>Attribute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a:t>align</a:t>
                      </a:r>
                    </a:p>
                  </a:txBody>
                  <a:tcPr/>
                </a:tc>
                <a:tc>
                  <a:txBody>
                    <a:bodyPr/>
                    <a:lstStyle/>
                    <a:p>
                      <a:r>
                        <a:rPr lang="en-US" dirty="0"/>
                        <a:t>Left</a:t>
                      </a:r>
                    </a:p>
                    <a:p>
                      <a:r>
                        <a:rPr lang="en-US" dirty="0" err="1"/>
                        <a:t>rigt</a:t>
                      </a:r>
                      <a:endParaRPr lang="en-US" dirty="0"/>
                    </a:p>
                    <a:p>
                      <a:r>
                        <a:rPr lang="en-US" dirty="0"/>
                        <a:t>top</a:t>
                      </a:r>
                    </a:p>
                    <a:p>
                      <a:r>
                        <a:rPr lang="en-US" dirty="0" err="1"/>
                        <a:t>texttop</a:t>
                      </a:r>
                      <a:endParaRPr lang="en-US" dirty="0"/>
                    </a:p>
                    <a:p>
                      <a:r>
                        <a:rPr lang="en-US" dirty="0"/>
                        <a:t>middle</a:t>
                      </a:r>
                    </a:p>
                    <a:p>
                      <a:r>
                        <a:rPr lang="en-US" dirty="0" err="1"/>
                        <a:t>absmiddle</a:t>
                      </a:r>
                      <a:endParaRPr lang="en-US" dirty="0"/>
                    </a:p>
                  </a:txBody>
                  <a:tcPr/>
                </a:tc>
                <a:tc>
                  <a:txBody>
                    <a:bodyPr/>
                    <a:lstStyle/>
                    <a:p>
                      <a:r>
                        <a:rPr lang="en-US" dirty="0"/>
                        <a:t>Defines the alignment of the text following the image. It is used only with type =“image”</a:t>
                      </a:r>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alt</a:t>
                      </a:r>
                    </a:p>
                  </a:txBody>
                  <a:tcPr/>
                </a:tc>
                <a:tc>
                  <a:txBody>
                    <a:bodyPr/>
                    <a:lstStyle/>
                    <a:p>
                      <a:r>
                        <a:rPr lang="en-US" dirty="0"/>
                        <a:t>text</a:t>
                      </a:r>
                    </a:p>
                  </a:txBody>
                  <a:tcPr/>
                </a:tc>
                <a:tc>
                  <a:txBody>
                    <a:bodyPr/>
                    <a:lstStyle/>
                    <a:p>
                      <a:r>
                        <a:rPr lang="en-US" dirty="0"/>
                        <a:t>Defines an alternate text for the image. It is used only with type=“image”</a:t>
                      </a:r>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r>
                        <a:rPr lang="en-US" dirty="0"/>
                        <a:t>checked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checked</a:t>
                      </a:r>
                    </a:p>
                  </a:txBody>
                  <a:tcPr/>
                </a:tc>
                <a:tc>
                  <a:txBody>
                    <a:bodyPr/>
                    <a:lstStyle/>
                    <a:p>
                      <a:r>
                        <a:rPr lang="en-US" dirty="0"/>
                        <a:t>Indicates that the input element should be checked</a:t>
                      </a:r>
                      <a:r>
                        <a:rPr lang="en-US" baseline="0" dirty="0"/>
                        <a:t> when it loads on the web server. It is used only with type=“checkbox” and type=“radio”</a:t>
                      </a:r>
                      <a:endParaRPr lang="en-US" dirty="0"/>
                    </a:p>
                  </a:txBody>
                  <a:tcPr/>
                </a:tc>
                <a:extLst>
                  <a:ext uri="{0D108BD9-81ED-4DB2-BD59-A6C34878D82A}">
                    <a16:rowId xmlns:a16="http://schemas.microsoft.com/office/drawing/2014/main" xmlns="" val="10003"/>
                  </a:ext>
                </a:extLst>
              </a:tr>
              <a:tr h="370840">
                <a:tc>
                  <a:txBody>
                    <a:bodyPr/>
                    <a:lstStyle/>
                    <a:p>
                      <a:r>
                        <a:rPr lang="en-US" dirty="0"/>
                        <a:t>4</a:t>
                      </a:r>
                    </a:p>
                  </a:txBody>
                  <a:tcPr/>
                </a:tc>
                <a:tc>
                  <a:txBody>
                    <a:bodyPr/>
                    <a:lstStyle/>
                    <a:p>
                      <a:r>
                        <a:rPr lang="en-US" dirty="0"/>
                        <a:t>disabled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disabled</a:t>
                      </a:r>
                    </a:p>
                  </a:txBody>
                  <a:tcPr/>
                </a:tc>
                <a:tc>
                  <a:txBody>
                    <a:bodyPr/>
                    <a:lstStyle/>
                    <a:p>
                      <a:r>
                        <a:rPr lang="en-US" dirty="0"/>
                        <a:t>Disables the input element when it loads on the Web server, so that the user cannot write text in it or select it.It cannot be used with type=“hidden”</a:t>
                      </a:r>
                    </a:p>
                  </a:txBody>
                  <a:tcPr/>
                </a:tc>
                <a:extLst>
                  <a:ext uri="{0D108BD9-81ED-4DB2-BD59-A6C34878D82A}">
                    <a16:rowId xmlns:a16="http://schemas.microsoft.com/office/drawing/2014/main" xmlns="" val="10004"/>
                  </a:ext>
                </a:extLst>
              </a:tr>
              <a:tr h="370840">
                <a:tc>
                  <a:txBody>
                    <a:bodyPr/>
                    <a:lstStyle/>
                    <a:p>
                      <a:r>
                        <a:rPr lang="en-US" dirty="0"/>
                        <a:t>5</a:t>
                      </a:r>
                    </a:p>
                  </a:txBody>
                  <a:tcPr/>
                </a:tc>
                <a:tc>
                  <a:txBody>
                    <a:bodyPr/>
                    <a:lstStyle/>
                    <a:p>
                      <a:r>
                        <a:rPr lang="en-US" dirty="0" err="1"/>
                        <a:t>maxlength</a:t>
                      </a:r>
                      <a:endParaRPr lang="en-US" dirty="0"/>
                    </a:p>
                  </a:txBody>
                  <a:tcPr/>
                </a:tc>
                <a:tc>
                  <a:txBody>
                    <a:bodyPr/>
                    <a:lstStyle/>
                    <a:p>
                      <a:r>
                        <a:rPr lang="en-US" dirty="0"/>
                        <a:t>number</a:t>
                      </a:r>
                    </a:p>
                  </a:txBody>
                  <a:tcPr/>
                </a:tc>
                <a:tc>
                  <a:txBody>
                    <a:bodyPr/>
                    <a:lstStyle/>
                    <a:p>
                      <a:r>
                        <a:rPr lang="en-US" dirty="0"/>
                        <a:t>Specifies the maximum</a:t>
                      </a:r>
                      <a:r>
                        <a:rPr lang="en-US" baseline="0" dirty="0"/>
                        <a:t> number of characters allowed in a text </a:t>
                      </a:r>
                      <a:r>
                        <a:rPr lang="en-US" baseline="0" dirty="0" err="1"/>
                        <a:t>field.It</a:t>
                      </a:r>
                      <a:r>
                        <a:rPr lang="en-US" baseline="0" dirty="0"/>
                        <a:t> can be used only with type=“text”</a:t>
                      </a:r>
                      <a:endParaRPr lang="en-US" dirty="0"/>
                    </a:p>
                  </a:txBody>
                  <a:tcPr/>
                </a:tc>
                <a:extLst>
                  <a:ext uri="{0D108BD9-81ED-4DB2-BD59-A6C34878D82A}">
                    <a16:rowId xmlns:a16="http://schemas.microsoft.com/office/drawing/2014/main" xmlns="" val="10005"/>
                  </a:ext>
                </a:extLst>
              </a:tr>
              <a:tr h="370840">
                <a:tc>
                  <a:txBody>
                    <a:bodyPr/>
                    <a:lstStyle/>
                    <a:p>
                      <a:r>
                        <a:rPr lang="en-US" dirty="0"/>
                        <a:t>6</a:t>
                      </a:r>
                    </a:p>
                  </a:txBody>
                  <a:tcPr/>
                </a:tc>
                <a:tc>
                  <a:txBody>
                    <a:bodyPr/>
                    <a:lstStyle/>
                    <a:p>
                      <a:r>
                        <a:rPr lang="en-US" dirty="0"/>
                        <a:t>name</a:t>
                      </a:r>
                    </a:p>
                  </a:txBody>
                  <a:tcPr/>
                </a:tc>
                <a:tc>
                  <a:txBody>
                    <a:bodyPr/>
                    <a:lstStyle/>
                    <a:p>
                      <a:r>
                        <a:rPr lang="en-US" dirty="0" err="1"/>
                        <a:t>Field_name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Defines a unique name for the input element. This attribute is required with type=“</a:t>
                      </a:r>
                      <a:r>
                        <a:rPr lang="en-US" dirty="0" err="1"/>
                        <a:t>button”,type</a:t>
                      </a:r>
                      <a:r>
                        <a:rPr lang="en-US" dirty="0"/>
                        <a:t>=“</a:t>
                      </a:r>
                      <a:r>
                        <a:rPr lang="en-US" dirty="0" err="1"/>
                        <a:t>checkbox”,type</a:t>
                      </a:r>
                      <a:r>
                        <a:rPr lang="en-US" dirty="0"/>
                        <a:t>=“field”, type=“</a:t>
                      </a:r>
                      <a:r>
                        <a:rPr lang="en-US" dirty="0" err="1"/>
                        <a:t>hidden”,type</a:t>
                      </a:r>
                      <a:r>
                        <a:rPr lang="en-US" dirty="0"/>
                        <a:t>=“</a:t>
                      </a:r>
                      <a:r>
                        <a:rPr lang="en-US" dirty="0" err="1"/>
                        <a:t>image”,and</a:t>
                      </a:r>
                      <a:r>
                        <a:rPr lang="en-US" dirty="0"/>
                        <a:t> type=“</a:t>
                      </a:r>
                      <a:r>
                        <a:rPr lang="en-US" dirty="0" err="1"/>
                        <a:t>password”,type</a:t>
                      </a:r>
                      <a:r>
                        <a:rPr lang="en-US" dirty="0"/>
                        <a:t>=“</a:t>
                      </a:r>
                      <a:r>
                        <a:rPr lang="en-US" dirty="0" err="1"/>
                        <a:t>text”,and</a:t>
                      </a:r>
                      <a:r>
                        <a:rPr lang="en-US" dirty="0"/>
                        <a:t> type=“radio”</a:t>
                      </a: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2518327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06" y="365125"/>
            <a:ext cx="10515600" cy="806852"/>
          </a:xfrm>
        </p:spPr>
        <p:txBody>
          <a:bodyPr/>
          <a:lstStyle/>
          <a:p>
            <a:r>
              <a:rPr lang="en-US" dirty="0"/>
              <a:t>Attributes of the &lt;input&gt; tag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306084"/>
              </p:ext>
            </p:extLst>
          </p:nvPr>
        </p:nvGraphicFramePr>
        <p:xfrm>
          <a:off x="476517" y="1429555"/>
          <a:ext cx="11372047" cy="4216400"/>
        </p:xfrm>
        <a:graphic>
          <a:graphicData uri="http://schemas.openxmlformats.org/drawingml/2006/table">
            <a:tbl>
              <a:tblPr firstRow="1" bandRow="1">
                <a:tableStyleId>{93296810-A885-4BE3-A3E7-6D5BEEA58F35}</a:tableStyleId>
              </a:tblPr>
              <a:tblGrid>
                <a:gridCol w="764869">
                  <a:extLst>
                    <a:ext uri="{9D8B030D-6E8A-4147-A177-3AD203B41FA5}">
                      <a16:colId xmlns:a16="http://schemas.microsoft.com/office/drawing/2014/main" xmlns="" val="20000"/>
                    </a:ext>
                  </a:extLst>
                </a:gridCol>
                <a:gridCol w="1406708">
                  <a:extLst>
                    <a:ext uri="{9D8B030D-6E8A-4147-A177-3AD203B41FA5}">
                      <a16:colId xmlns:a16="http://schemas.microsoft.com/office/drawing/2014/main" xmlns="" val="20001"/>
                    </a:ext>
                  </a:extLst>
                </a:gridCol>
                <a:gridCol w="1420636">
                  <a:extLst>
                    <a:ext uri="{9D8B030D-6E8A-4147-A177-3AD203B41FA5}">
                      <a16:colId xmlns:a16="http://schemas.microsoft.com/office/drawing/2014/main" xmlns="" val="20002"/>
                    </a:ext>
                  </a:extLst>
                </a:gridCol>
                <a:gridCol w="7779834">
                  <a:extLst>
                    <a:ext uri="{9D8B030D-6E8A-4147-A177-3AD203B41FA5}">
                      <a16:colId xmlns:a16="http://schemas.microsoft.com/office/drawing/2014/main" xmlns="" val="20003"/>
                    </a:ext>
                  </a:extLst>
                </a:gridCol>
              </a:tblGrid>
              <a:tr h="370840">
                <a:tc>
                  <a:txBody>
                    <a:bodyPr/>
                    <a:lstStyle/>
                    <a:p>
                      <a:r>
                        <a:rPr lang="en-US" dirty="0"/>
                        <a:t>Sr.No</a:t>
                      </a:r>
                    </a:p>
                  </a:txBody>
                  <a:tcPr/>
                </a:tc>
                <a:tc>
                  <a:txBody>
                    <a:bodyPr/>
                    <a:lstStyle/>
                    <a:p>
                      <a:r>
                        <a:rPr lang="en-US" dirty="0"/>
                        <a:t>Attribute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7</a:t>
                      </a:r>
                    </a:p>
                  </a:txBody>
                  <a:tcPr/>
                </a:tc>
                <a:tc>
                  <a:txBody>
                    <a:bodyPr/>
                    <a:lstStyle/>
                    <a:p>
                      <a:r>
                        <a:rPr lang="en-US" dirty="0" err="1"/>
                        <a:t>readonly</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readonly</a:t>
                      </a:r>
                      <a:endParaRPr lang="en-US" dirty="0"/>
                    </a:p>
                  </a:txBody>
                  <a:tcPr/>
                </a:tc>
                <a:tc>
                  <a:txBody>
                    <a:bodyPr/>
                    <a:lstStyle/>
                    <a:p>
                      <a:r>
                        <a:rPr lang="en-US" dirty="0"/>
                        <a:t>Indicates that the value of this field cannot be modified .It can be used</a:t>
                      </a:r>
                      <a:r>
                        <a:rPr lang="en-US" baseline="0" dirty="0"/>
                        <a:t> only with type = “text”</a:t>
                      </a:r>
                      <a:endParaRPr lang="en-US" dirty="0"/>
                    </a:p>
                  </a:txBody>
                  <a:tcPr/>
                </a:tc>
                <a:extLst>
                  <a:ext uri="{0D108BD9-81ED-4DB2-BD59-A6C34878D82A}">
                    <a16:rowId xmlns:a16="http://schemas.microsoft.com/office/drawing/2014/main" xmlns="" val="10001"/>
                  </a:ext>
                </a:extLst>
              </a:tr>
              <a:tr h="370840">
                <a:tc>
                  <a:txBody>
                    <a:bodyPr/>
                    <a:lstStyle/>
                    <a:p>
                      <a:r>
                        <a:rPr lang="en-US" dirty="0"/>
                        <a:t>8</a:t>
                      </a:r>
                    </a:p>
                  </a:txBody>
                  <a:tcPr/>
                </a:tc>
                <a:tc>
                  <a:txBody>
                    <a:bodyPr/>
                    <a:lstStyle/>
                    <a:p>
                      <a:r>
                        <a:rPr lang="en-US" dirty="0" err="1"/>
                        <a:t>src</a:t>
                      </a:r>
                      <a:endParaRPr lang="en-US" dirty="0"/>
                    </a:p>
                  </a:txBody>
                  <a:tcPr/>
                </a:tc>
                <a:tc>
                  <a:txBody>
                    <a:bodyPr/>
                    <a:lstStyle/>
                    <a:p>
                      <a:r>
                        <a:rPr lang="en-US" dirty="0"/>
                        <a:t>URL</a:t>
                      </a:r>
                    </a:p>
                  </a:txBody>
                  <a:tcPr/>
                </a:tc>
                <a:tc>
                  <a:txBody>
                    <a:bodyPr/>
                    <a:lstStyle/>
                    <a:p>
                      <a:r>
                        <a:rPr lang="en-US" dirty="0"/>
                        <a:t>Defines the URL of the image to display. It can be used only with type = “image”</a:t>
                      </a:r>
                    </a:p>
                  </a:txBody>
                  <a:tcPr/>
                </a:tc>
                <a:extLst>
                  <a:ext uri="{0D108BD9-81ED-4DB2-BD59-A6C34878D82A}">
                    <a16:rowId xmlns:a16="http://schemas.microsoft.com/office/drawing/2014/main" xmlns="" val="10002"/>
                  </a:ext>
                </a:extLst>
              </a:tr>
              <a:tr h="370840">
                <a:tc>
                  <a:txBody>
                    <a:bodyPr/>
                    <a:lstStyle/>
                    <a:p>
                      <a:r>
                        <a:rPr lang="en-US" dirty="0"/>
                        <a:t>9</a:t>
                      </a:r>
                    </a:p>
                  </a:txBody>
                  <a:tcPr/>
                </a:tc>
                <a:tc>
                  <a:txBody>
                    <a:bodyPr/>
                    <a:lstStyle/>
                    <a:p>
                      <a:r>
                        <a:rPr lang="en-US" dirty="0"/>
                        <a:t>type</a:t>
                      </a:r>
                    </a:p>
                  </a:txBody>
                  <a:tcPr/>
                </a:tc>
                <a:tc>
                  <a:txBody>
                    <a:bodyPr/>
                    <a:lstStyle/>
                    <a:p>
                      <a:r>
                        <a:rPr lang="en-US" dirty="0"/>
                        <a:t>Button</a:t>
                      </a:r>
                    </a:p>
                    <a:p>
                      <a:r>
                        <a:rPr lang="en-US" dirty="0"/>
                        <a:t>Checkbox</a:t>
                      </a:r>
                    </a:p>
                    <a:p>
                      <a:r>
                        <a:rPr lang="en-US" dirty="0"/>
                        <a:t>File</a:t>
                      </a:r>
                    </a:p>
                    <a:p>
                      <a:r>
                        <a:rPr lang="en-US" dirty="0"/>
                        <a:t>Hidden</a:t>
                      </a:r>
                    </a:p>
                    <a:p>
                      <a:r>
                        <a:rPr lang="en-US" dirty="0"/>
                        <a:t>Image</a:t>
                      </a:r>
                    </a:p>
                    <a:p>
                      <a:r>
                        <a:rPr lang="en-US" dirty="0"/>
                        <a:t>Password</a:t>
                      </a:r>
                    </a:p>
                    <a:p>
                      <a:r>
                        <a:rPr lang="en-US" dirty="0"/>
                        <a:t>Radio</a:t>
                      </a:r>
                    </a:p>
                    <a:p>
                      <a:r>
                        <a:rPr lang="en-US" dirty="0"/>
                        <a:t>Reset</a:t>
                      </a:r>
                    </a:p>
                    <a:p>
                      <a:r>
                        <a:rPr lang="en-US" dirty="0"/>
                        <a:t>Submit</a:t>
                      </a:r>
                    </a:p>
                    <a:p>
                      <a:r>
                        <a:rPr lang="en-US" dirty="0"/>
                        <a:t>text</a:t>
                      </a:r>
                    </a:p>
                  </a:txBody>
                  <a:tcPr/>
                </a:tc>
                <a:tc>
                  <a:txBody>
                    <a:bodyPr/>
                    <a:lstStyle/>
                    <a:p>
                      <a:r>
                        <a:rPr lang="en-US" dirty="0"/>
                        <a:t>Indicates the type of the input element. The default value is “text”</a:t>
                      </a: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7222818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Text Field to a Form</a:t>
            </a:r>
          </a:p>
        </p:txBody>
      </p:sp>
      <p:sp>
        <p:nvSpPr>
          <p:cNvPr id="3" name="Content Placeholder 2"/>
          <p:cNvSpPr>
            <a:spLocks noGrp="1"/>
          </p:cNvSpPr>
          <p:nvPr>
            <p:ph idx="1"/>
          </p:nvPr>
        </p:nvSpPr>
        <p:spPr/>
        <p:txBody>
          <a:bodyPr/>
          <a:lstStyle/>
          <a:p>
            <a:r>
              <a:rPr lang="en-US" dirty="0"/>
              <a:t>The </a:t>
            </a:r>
            <a:r>
              <a:rPr lang="en-US" dirty="0">
                <a:solidFill>
                  <a:srgbClr val="00B050"/>
                </a:solidFill>
              </a:rPr>
              <a:t>&lt;input type=“text”&gt; </a:t>
            </a:r>
            <a:r>
              <a:rPr lang="en-US" dirty="0"/>
              <a:t>tag is used to add a text field to a form. This tab provides a box to enter text that is transferred to the Web server.</a:t>
            </a:r>
          </a:p>
        </p:txBody>
      </p:sp>
      <p:pic>
        <p:nvPicPr>
          <p:cNvPr id="5" name="Picture 4"/>
          <p:cNvPicPr>
            <a:picLocks noChangeAspect="1"/>
          </p:cNvPicPr>
          <p:nvPr/>
        </p:nvPicPr>
        <p:blipFill>
          <a:blip r:embed="rId2"/>
          <a:stretch>
            <a:fillRect/>
          </a:stretch>
        </p:blipFill>
        <p:spPr>
          <a:xfrm>
            <a:off x="1368514" y="3525043"/>
            <a:ext cx="4895850" cy="2409825"/>
          </a:xfrm>
          <a:prstGeom prst="rect">
            <a:avLst/>
          </a:prstGeom>
        </p:spPr>
      </p:pic>
      <p:sp>
        <p:nvSpPr>
          <p:cNvPr id="6" name="Title 1"/>
          <p:cNvSpPr txBox="1">
            <a:spLocks/>
          </p:cNvSpPr>
          <p:nvPr/>
        </p:nvSpPr>
        <p:spPr>
          <a:xfrm>
            <a:off x="1518633" y="266928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AddingTextField.html</a:t>
            </a:r>
          </a:p>
        </p:txBody>
      </p:sp>
      <p:sp>
        <p:nvSpPr>
          <p:cNvPr id="7" name="Title 1"/>
          <p:cNvSpPr txBox="1">
            <a:spLocks/>
          </p:cNvSpPr>
          <p:nvPr/>
        </p:nvSpPr>
        <p:spPr>
          <a:xfrm>
            <a:off x="7159580" y="281989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8" name="Picture 7"/>
          <p:cNvPicPr>
            <a:picLocks noChangeAspect="1"/>
          </p:cNvPicPr>
          <p:nvPr/>
        </p:nvPicPr>
        <p:blipFill>
          <a:blip r:embed="rId3"/>
          <a:stretch>
            <a:fillRect/>
          </a:stretch>
        </p:blipFill>
        <p:spPr>
          <a:xfrm>
            <a:off x="7159580" y="3471619"/>
            <a:ext cx="3581400" cy="1628775"/>
          </a:xfrm>
          <a:prstGeom prst="rect">
            <a:avLst/>
          </a:prstGeom>
        </p:spPr>
      </p:pic>
    </p:spTree>
    <p:extLst>
      <p:ext uri="{BB962C8B-B14F-4D97-AF65-F5344CB8AC3E}">
        <p14:creationId xmlns:p14="http://schemas.microsoft.com/office/powerpoint/2010/main" val="4754142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Button to a Form</a:t>
            </a:r>
          </a:p>
        </p:txBody>
      </p:sp>
      <p:sp>
        <p:nvSpPr>
          <p:cNvPr id="3" name="Content Placeholder 2"/>
          <p:cNvSpPr>
            <a:spLocks noGrp="1"/>
          </p:cNvSpPr>
          <p:nvPr>
            <p:ph idx="1"/>
          </p:nvPr>
        </p:nvSpPr>
        <p:spPr/>
        <p:txBody>
          <a:bodyPr/>
          <a:lstStyle/>
          <a:p>
            <a:r>
              <a:rPr lang="en-US" dirty="0"/>
              <a:t>A button is a type attribute value of the </a:t>
            </a:r>
            <a:r>
              <a:rPr lang="en-US" dirty="0">
                <a:solidFill>
                  <a:srgbClr val="00B050"/>
                </a:solidFill>
              </a:rPr>
              <a:t>&lt;input&gt; </a:t>
            </a:r>
            <a:r>
              <a:rPr lang="en-US" dirty="0"/>
              <a:t>tag that is used to create a button on the HTML form.</a:t>
            </a:r>
          </a:p>
          <a:p>
            <a:r>
              <a:rPr lang="en-US" dirty="0"/>
              <a:t>To add a button on your Web page, add the </a:t>
            </a:r>
            <a:r>
              <a:rPr lang="en-US" dirty="0">
                <a:solidFill>
                  <a:srgbClr val="00B050"/>
                </a:solidFill>
              </a:rPr>
              <a:t>&lt;input type=“button”&gt; </a:t>
            </a:r>
            <a:r>
              <a:rPr lang="en-US" dirty="0"/>
              <a:t>tag in your HTML code.</a:t>
            </a:r>
          </a:p>
          <a:p>
            <a:endParaRPr lang="en-US" dirty="0"/>
          </a:p>
        </p:txBody>
      </p:sp>
      <p:pic>
        <p:nvPicPr>
          <p:cNvPr id="4" name="Picture 3"/>
          <p:cNvPicPr>
            <a:picLocks noChangeAspect="1"/>
          </p:cNvPicPr>
          <p:nvPr/>
        </p:nvPicPr>
        <p:blipFill>
          <a:blip r:embed="rId2"/>
          <a:stretch>
            <a:fillRect/>
          </a:stretch>
        </p:blipFill>
        <p:spPr>
          <a:xfrm>
            <a:off x="1169294" y="4319588"/>
            <a:ext cx="4495800" cy="1857375"/>
          </a:xfrm>
          <a:prstGeom prst="rect">
            <a:avLst/>
          </a:prstGeom>
        </p:spPr>
      </p:pic>
      <p:pic>
        <p:nvPicPr>
          <p:cNvPr id="5" name="Picture 4"/>
          <p:cNvPicPr>
            <a:picLocks noChangeAspect="1"/>
          </p:cNvPicPr>
          <p:nvPr/>
        </p:nvPicPr>
        <p:blipFill>
          <a:blip r:embed="rId3"/>
          <a:stretch>
            <a:fillRect/>
          </a:stretch>
        </p:blipFill>
        <p:spPr>
          <a:xfrm>
            <a:off x="7428359" y="4125589"/>
            <a:ext cx="2162175" cy="2085975"/>
          </a:xfrm>
          <a:prstGeom prst="rect">
            <a:avLst/>
          </a:prstGeom>
        </p:spPr>
      </p:pic>
      <p:sp>
        <p:nvSpPr>
          <p:cNvPr id="6" name="Title 1"/>
          <p:cNvSpPr txBox="1">
            <a:spLocks/>
          </p:cNvSpPr>
          <p:nvPr/>
        </p:nvSpPr>
        <p:spPr>
          <a:xfrm>
            <a:off x="1634543" y="3511921"/>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AddingButton.html</a:t>
            </a:r>
          </a:p>
        </p:txBody>
      </p:sp>
      <p:sp>
        <p:nvSpPr>
          <p:cNvPr id="7" name="Title 1"/>
          <p:cNvSpPr txBox="1">
            <a:spLocks/>
          </p:cNvSpPr>
          <p:nvPr/>
        </p:nvSpPr>
        <p:spPr>
          <a:xfrm>
            <a:off x="7301248" y="347732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8122121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Check Box to a Form</a:t>
            </a:r>
          </a:p>
        </p:txBody>
      </p:sp>
      <p:sp>
        <p:nvSpPr>
          <p:cNvPr id="3" name="Content Placeholder 2"/>
          <p:cNvSpPr>
            <a:spLocks noGrp="1"/>
          </p:cNvSpPr>
          <p:nvPr>
            <p:ph idx="1"/>
          </p:nvPr>
        </p:nvSpPr>
        <p:spPr>
          <a:xfrm>
            <a:off x="838200" y="1516532"/>
            <a:ext cx="10515600" cy="4351338"/>
          </a:xfrm>
        </p:spPr>
        <p:txBody>
          <a:bodyPr/>
          <a:lstStyle/>
          <a:p>
            <a:r>
              <a:rPr lang="en-US" dirty="0"/>
              <a:t>A Check Box  is a small box with a check mark in it and a user can either select or clear it by a click. To add a Check Box  to your Web page, add the </a:t>
            </a:r>
            <a:r>
              <a:rPr lang="en-US" dirty="0">
                <a:solidFill>
                  <a:srgbClr val="00B050"/>
                </a:solidFill>
              </a:rPr>
              <a:t>&lt;input type=“checkbox”&gt; </a:t>
            </a:r>
            <a:r>
              <a:rPr lang="en-US" dirty="0"/>
              <a:t>tag in your HTML code.</a:t>
            </a:r>
          </a:p>
          <a:p>
            <a:endParaRPr lang="en-US" dirty="0"/>
          </a:p>
          <a:p>
            <a:endParaRPr lang="en-US" dirty="0"/>
          </a:p>
        </p:txBody>
      </p:sp>
      <p:pic>
        <p:nvPicPr>
          <p:cNvPr id="4" name="Picture 3"/>
          <p:cNvPicPr>
            <a:picLocks noChangeAspect="1"/>
          </p:cNvPicPr>
          <p:nvPr/>
        </p:nvPicPr>
        <p:blipFill>
          <a:blip r:embed="rId2"/>
          <a:stretch>
            <a:fillRect/>
          </a:stretch>
        </p:blipFill>
        <p:spPr>
          <a:xfrm>
            <a:off x="1186868" y="3384124"/>
            <a:ext cx="5619750" cy="3000375"/>
          </a:xfrm>
          <a:prstGeom prst="rect">
            <a:avLst/>
          </a:prstGeom>
        </p:spPr>
      </p:pic>
      <p:sp>
        <p:nvSpPr>
          <p:cNvPr id="5" name="Title 1"/>
          <p:cNvSpPr txBox="1">
            <a:spLocks/>
          </p:cNvSpPr>
          <p:nvPr/>
        </p:nvSpPr>
        <p:spPr>
          <a:xfrm>
            <a:off x="1634543" y="2858777"/>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AddingButton.html</a:t>
            </a:r>
          </a:p>
        </p:txBody>
      </p:sp>
      <p:sp>
        <p:nvSpPr>
          <p:cNvPr id="6" name="Title 1"/>
          <p:cNvSpPr txBox="1">
            <a:spLocks/>
          </p:cNvSpPr>
          <p:nvPr/>
        </p:nvSpPr>
        <p:spPr>
          <a:xfrm>
            <a:off x="7159580" y="281989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7" name="Picture 6"/>
          <p:cNvPicPr>
            <a:picLocks noChangeAspect="1"/>
          </p:cNvPicPr>
          <p:nvPr/>
        </p:nvPicPr>
        <p:blipFill>
          <a:blip r:embed="rId3"/>
          <a:stretch>
            <a:fillRect/>
          </a:stretch>
        </p:blipFill>
        <p:spPr>
          <a:xfrm>
            <a:off x="7903871" y="3581693"/>
            <a:ext cx="2352675" cy="1962150"/>
          </a:xfrm>
          <a:prstGeom prst="rect">
            <a:avLst/>
          </a:prstGeom>
        </p:spPr>
      </p:pic>
    </p:spTree>
    <p:extLst>
      <p:ext uri="{BB962C8B-B14F-4D97-AF65-F5344CB8AC3E}">
        <p14:creationId xmlns:p14="http://schemas.microsoft.com/office/powerpoint/2010/main" val="17962522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Radio Button to a Form</a:t>
            </a:r>
          </a:p>
        </p:txBody>
      </p:sp>
      <p:sp>
        <p:nvSpPr>
          <p:cNvPr id="5" name="Content Placeholder 4"/>
          <p:cNvSpPr>
            <a:spLocks noGrp="1"/>
          </p:cNvSpPr>
          <p:nvPr>
            <p:ph idx="1"/>
          </p:nvPr>
        </p:nvSpPr>
        <p:spPr/>
        <p:txBody>
          <a:bodyPr/>
          <a:lstStyle/>
          <a:p>
            <a:r>
              <a:rPr lang="en-US" dirty="0"/>
              <a:t>A radio button is displayed as a circle and displays a dot in the middle when selected. To add a radio button to your Web page, add the </a:t>
            </a:r>
            <a:r>
              <a:rPr lang="en-US" dirty="0">
                <a:solidFill>
                  <a:srgbClr val="00B050"/>
                </a:solidFill>
              </a:rPr>
              <a:t>&lt;input type=“radio”&gt; </a:t>
            </a:r>
            <a:r>
              <a:rPr lang="en-US" dirty="0"/>
              <a:t>tag in your HTML code.</a:t>
            </a:r>
          </a:p>
          <a:p>
            <a:endParaRPr lang="en-US" dirty="0"/>
          </a:p>
        </p:txBody>
      </p:sp>
      <p:pic>
        <p:nvPicPr>
          <p:cNvPr id="6" name="Content Placeholder 3"/>
          <p:cNvPicPr>
            <a:picLocks noChangeAspect="1"/>
          </p:cNvPicPr>
          <p:nvPr/>
        </p:nvPicPr>
        <p:blipFill>
          <a:blip r:embed="rId2"/>
          <a:stretch>
            <a:fillRect/>
          </a:stretch>
        </p:blipFill>
        <p:spPr>
          <a:xfrm>
            <a:off x="1247775" y="3738563"/>
            <a:ext cx="4848225" cy="2438400"/>
          </a:xfrm>
          <a:prstGeom prst="rect">
            <a:avLst/>
          </a:prstGeom>
        </p:spPr>
      </p:pic>
      <p:sp>
        <p:nvSpPr>
          <p:cNvPr id="7" name="Title 1"/>
          <p:cNvSpPr txBox="1">
            <a:spLocks/>
          </p:cNvSpPr>
          <p:nvPr/>
        </p:nvSpPr>
        <p:spPr>
          <a:xfrm>
            <a:off x="1364086" y="2989958"/>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AddingRadioButton.html</a:t>
            </a:r>
          </a:p>
        </p:txBody>
      </p:sp>
      <p:pic>
        <p:nvPicPr>
          <p:cNvPr id="8" name="Picture 7"/>
          <p:cNvPicPr>
            <a:picLocks noChangeAspect="1"/>
          </p:cNvPicPr>
          <p:nvPr/>
        </p:nvPicPr>
        <p:blipFill>
          <a:blip r:embed="rId3"/>
          <a:stretch>
            <a:fillRect/>
          </a:stretch>
        </p:blipFill>
        <p:spPr>
          <a:xfrm>
            <a:off x="7842093" y="4001294"/>
            <a:ext cx="2200275" cy="1828800"/>
          </a:xfrm>
          <a:prstGeom prst="rect">
            <a:avLst/>
          </a:prstGeom>
        </p:spPr>
      </p:pic>
      <p:sp>
        <p:nvSpPr>
          <p:cNvPr id="9" name="Title 1"/>
          <p:cNvSpPr txBox="1">
            <a:spLocks/>
          </p:cNvSpPr>
          <p:nvPr/>
        </p:nvSpPr>
        <p:spPr>
          <a:xfrm>
            <a:off x="7939791" y="3124895"/>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01471600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488"/>
            <a:ext cx="10515600" cy="806852"/>
          </a:xfrm>
        </p:spPr>
        <p:txBody>
          <a:bodyPr/>
          <a:lstStyle/>
          <a:p>
            <a:r>
              <a:rPr lang="en-US" dirty="0"/>
              <a:t>Adding a Submit Button to a Form</a:t>
            </a:r>
          </a:p>
        </p:txBody>
      </p:sp>
      <p:sp>
        <p:nvSpPr>
          <p:cNvPr id="5" name="Content Placeholder 4"/>
          <p:cNvSpPr>
            <a:spLocks noGrp="1"/>
          </p:cNvSpPr>
          <p:nvPr>
            <p:ph idx="1"/>
          </p:nvPr>
        </p:nvSpPr>
        <p:spPr>
          <a:xfrm>
            <a:off x="838200" y="862884"/>
            <a:ext cx="10515600" cy="5185289"/>
          </a:xfrm>
        </p:spPr>
        <p:txBody>
          <a:bodyPr/>
          <a:lstStyle/>
          <a:p>
            <a:r>
              <a:rPr lang="en-US" dirty="0"/>
              <a:t>A submit button is the most important control in a form because when you click this button ,all the data in the form is sent to the Web server. When the user clicks the submit button, the data in the form is transferred to the URL specified in the </a:t>
            </a:r>
            <a:r>
              <a:rPr lang="en-US" dirty="0">
                <a:solidFill>
                  <a:srgbClr val="00B050"/>
                </a:solidFill>
              </a:rPr>
              <a:t>&lt;form action&gt; </a:t>
            </a:r>
            <a:r>
              <a:rPr lang="en-US" dirty="0"/>
              <a:t>tag. To add a submit button to your Web page, add the </a:t>
            </a:r>
            <a:r>
              <a:rPr lang="en-US" dirty="0">
                <a:solidFill>
                  <a:srgbClr val="00B050"/>
                </a:solidFill>
              </a:rPr>
              <a:t>&lt;input type=“submit”&gt; </a:t>
            </a:r>
            <a:r>
              <a:rPr lang="en-US" dirty="0"/>
              <a:t>tag to your HTML code.</a:t>
            </a:r>
          </a:p>
          <a:p>
            <a:endParaRPr lang="en-US" dirty="0"/>
          </a:p>
        </p:txBody>
      </p:sp>
      <p:pic>
        <p:nvPicPr>
          <p:cNvPr id="6" name="Picture 5"/>
          <p:cNvPicPr>
            <a:picLocks noChangeAspect="1"/>
          </p:cNvPicPr>
          <p:nvPr/>
        </p:nvPicPr>
        <p:blipFill>
          <a:blip r:embed="rId2"/>
          <a:stretch>
            <a:fillRect/>
          </a:stretch>
        </p:blipFill>
        <p:spPr>
          <a:xfrm>
            <a:off x="1542982" y="3584318"/>
            <a:ext cx="4752975" cy="2790825"/>
          </a:xfrm>
          <a:prstGeom prst="rect">
            <a:avLst/>
          </a:prstGeom>
        </p:spPr>
      </p:pic>
      <p:pic>
        <p:nvPicPr>
          <p:cNvPr id="7" name="Picture 6"/>
          <p:cNvPicPr>
            <a:picLocks noChangeAspect="1"/>
          </p:cNvPicPr>
          <p:nvPr/>
        </p:nvPicPr>
        <p:blipFill>
          <a:blip r:embed="rId3"/>
          <a:stretch>
            <a:fillRect/>
          </a:stretch>
        </p:blipFill>
        <p:spPr>
          <a:xfrm>
            <a:off x="7504693" y="4217730"/>
            <a:ext cx="3209925" cy="1524000"/>
          </a:xfrm>
          <a:prstGeom prst="rect">
            <a:avLst/>
          </a:prstGeom>
        </p:spPr>
      </p:pic>
      <p:sp>
        <p:nvSpPr>
          <p:cNvPr id="8" name="Title 1"/>
          <p:cNvSpPr txBox="1">
            <a:spLocks/>
          </p:cNvSpPr>
          <p:nvPr/>
        </p:nvSpPr>
        <p:spPr>
          <a:xfrm>
            <a:off x="3695162" y="314869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AddingSubmitButton.html</a:t>
            </a:r>
          </a:p>
        </p:txBody>
      </p:sp>
      <p:sp>
        <p:nvSpPr>
          <p:cNvPr id="9" name="Title 1"/>
          <p:cNvSpPr txBox="1">
            <a:spLocks/>
          </p:cNvSpPr>
          <p:nvPr/>
        </p:nvSpPr>
        <p:spPr>
          <a:xfrm>
            <a:off x="7856581" y="314869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9557172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9"/>
            <a:ext cx="10515600" cy="768216"/>
          </a:xfrm>
        </p:spPr>
        <p:txBody>
          <a:bodyPr/>
          <a:lstStyle/>
          <a:p>
            <a:r>
              <a:rPr lang="en-US" dirty="0"/>
              <a:t>Adding a Reset Button to a Form</a:t>
            </a:r>
          </a:p>
        </p:txBody>
      </p:sp>
      <p:sp>
        <p:nvSpPr>
          <p:cNvPr id="3" name="Content Placeholder 2"/>
          <p:cNvSpPr>
            <a:spLocks noGrp="1"/>
          </p:cNvSpPr>
          <p:nvPr>
            <p:ph idx="1"/>
          </p:nvPr>
        </p:nvSpPr>
        <p:spPr>
          <a:xfrm>
            <a:off x="838200" y="746975"/>
            <a:ext cx="10515600" cy="5962918"/>
          </a:xfrm>
        </p:spPr>
        <p:txBody>
          <a:bodyPr/>
          <a:lstStyle/>
          <a:p>
            <a:r>
              <a:rPr lang="en-US" dirty="0"/>
              <a:t>A reset button helps the user to clear all the data that they have entered in the text fields and start all over again. When the user clicks the reset button, all the controls in the form are returned to their original state and the values in the form fields are cleared. To add a reset button to your Web page ,add the</a:t>
            </a:r>
            <a:r>
              <a:rPr lang="en-US" dirty="0">
                <a:solidFill>
                  <a:srgbClr val="00B050"/>
                </a:solidFill>
              </a:rPr>
              <a:t> &lt;input type=“reset”&gt; </a:t>
            </a:r>
            <a:r>
              <a:rPr lang="en-US" dirty="0"/>
              <a:t>tag to your HTML code. </a:t>
            </a:r>
          </a:p>
        </p:txBody>
      </p:sp>
      <p:pic>
        <p:nvPicPr>
          <p:cNvPr id="4" name="Picture 3"/>
          <p:cNvPicPr>
            <a:picLocks noChangeAspect="1"/>
          </p:cNvPicPr>
          <p:nvPr/>
        </p:nvPicPr>
        <p:blipFill>
          <a:blip r:embed="rId2"/>
          <a:stretch>
            <a:fillRect/>
          </a:stretch>
        </p:blipFill>
        <p:spPr>
          <a:xfrm>
            <a:off x="1127438" y="3519924"/>
            <a:ext cx="4038600" cy="2933700"/>
          </a:xfrm>
          <a:prstGeom prst="rect">
            <a:avLst/>
          </a:prstGeom>
        </p:spPr>
      </p:pic>
      <p:pic>
        <p:nvPicPr>
          <p:cNvPr id="5" name="Picture 4"/>
          <p:cNvPicPr>
            <a:picLocks noChangeAspect="1"/>
          </p:cNvPicPr>
          <p:nvPr/>
        </p:nvPicPr>
        <p:blipFill>
          <a:blip r:embed="rId3"/>
          <a:stretch>
            <a:fillRect/>
          </a:stretch>
        </p:blipFill>
        <p:spPr>
          <a:xfrm>
            <a:off x="6739407" y="4096890"/>
            <a:ext cx="3581400" cy="1343025"/>
          </a:xfrm>
          <a:prstGeom prst="rect">
            <a:avLst/>
          </a:prstGeom>
        </p:spPr>
      </p:pic>
      <p:sp>
        <p:nvSpPr>
          <p:cNvPr id="6" name="Title 1"/>
          <p:cNvSpPr txBox="1">
            <a:spLocks/>
          </p:cNvSpPr>
          <p:nvPr/>
        </p:nvSpPr>
        <p:spPr>
          <a:xfrm>
            <a:off x="7856581" y="314869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
        <p:nvSpPr>
          <p:cNvPr id="7" name="Title 1"/>
          <p:cNvSpPr txBox="1">
            <a:spLocks/>
          </p:cNvSpPr>
          <p:nvPr/>
        </p:nvSpPr>
        <p:spPr>
          <a:xfrm>
            <a:off x="2918372" y="3114766"/>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AddingResetButton.html</a:t>
            </a:r>
          </a:p>
        </p:txBody>
      </p:sp>
    </p:spTree>
    <p:extLst>
      <p:ext uri="{BB962C8B-B14F-4D97-AF65-F5344CB8AC3E}">
        <p14:creationId xmlns:p14="http://schemas.microsoft.com/office/powerpoint/2010/main" val="15424412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7"/>
            <a:ext cx="10515600" cy="768214"/>
          </a:xfrm>
        </p:spPr>
        <p:txBody>
          <a:bodyPr/>
          <a:lstStyle/>
          <a:p>
            <a:r>
              <a:rPr lang="en-US" dirty="0"/>
              <a:t>Adding a Text Area to a Form</a:t>
            </a:r>
          </a:p>
        </p:txBody>
      </p:sp>
      <p:sp>
        <p:nvSpPr>
          <p:cNvPr id="3" name="Content Placeholder 2"/>
          <p:cNvSpPr>
            <a:spLocks noGrp="1"/>
          </p:cNvSpPr>
          <p:nvPr>
            <p:ph idx="1"/>
          </p:nvPr>
        </p:nvSpPr>
        <p:spPr>
          <a:xfrm>
            <a:off x="838200" y="1056068"/>
            <a:ext cx="10515600" cy="5120895"/>
          </a:xfrm>
        </p:spPr>
        <p:txBody>
          <a:bodyPr/>
          <a:lstStyle/>
          <a:p>
            <a:r>
              <a:rPr lang="en-US" dirty="0"/>
              <a:t>A text area is a multi-line text input control and displays text entered in it. A user can write unlimited number of  characters in the text area. You must set the numbers of rows and columns you want in the text area using the </a:t>
            </a:r>
            <a:r>
              <a:rPr lang="en-US" dirty="0">
                <a:solidFill>
                  <a:srgbClr val="00B050"/>
                </a:solidFill>
              </a:rPr>
              <a:t>rows</a:t>
            </a:r>
            <a:r>
              <a:rPr lang="en-US" dirty="0"/>
              <a:t> and </a:t>
            </a:r>
            <a:r>
              <a:rPr lang="en-US" dirty="0">
                <a:solidFill>
                  <a:srgbClr val="00B050"/>
                </a:solidFill>
              </a:rPr>
              <a:t>cols</a:t>
            </a:r>
            <a:r>
              <a:rPr lang="en-US" dirty="0"/>
              <a:t> attributes.</a:t>
            </a:r>
          </a:p>
        </p:txBody>
      </p:sp>
      <p:pic>
        <p:nvPicPr>
          <p:cNvPr id="4" name="Picture 3"/>
          <p:cNvPicPr>
            <a:picLocks noChangeAspect="1"/>
          </p:cNvPicPr>
          <p:nvPr/>
        </p:nvPicPr>
        <p:blipFill>
          <a:blip r:embed="rId2"/>
          <a:stretch>
            <a:fillRect/>
          </a:stretch>
        </p:blipFill>
        <p:spPr>
          <a:xfrm>
            <a:off x="8658225" y="3790145"/>
            <a:ext cx="2695575" cy="1905000"/>
          </a:xfrm>
          <a:prstGeom prst="rect">
            <a:avLst/>
          </a:prstGeom>
        </p:spPr>
      </p:pic>
      <p:pic>
        <p:nvPicPr>
          <p:cNvPr id="5" name="Picture 4"/>
          <p:cNvPicPr>
            <a:picLocks noChangeAspect="1"/>
          </p:cNvPicPr>
          <p:nvPr/>
        </p:nvPicPr>
        <p:blipFill>
          <a:blip r:embed="rId3"/>
          <a:stretch>
            <a:fillRect/>
          </a:stretch>
        </p:blipFill>
        <p:spPr>
          <a:xfrm>
            <a:off x="1420533" y="3637745"/>
            <a:ext cx="6486525" cy="2209800"/>
          </a:xfrm>
          <a:prstGeom prst="rect">
            <a:avLst/>
          </a:prstGeom>
        </p:spPr>
      </p:pic>
      <p:sp>
        <p:nvSpPr>
          <p:cNvPr id="6" name="Title 1"/>
          <p:cNvSpPr txBox="1">
            <a:spLocks/>
          </p:cNvSpPr>
          <p:nvPr/>
        </p:nvSpPr>
        <p:spPr>
          <a:xfrm>
            <a:off x="2210034" y="286953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AddingTextArea.html</a:t>
            </a:r>
          </a:p>
        </p:txBody>
      </p:sp>
      <p:sp>
        <p:nvSpPr>
          <p:cNvPr id="8" name="Title 1"/>
          <p:cNvSpPr txBox="1">
            <a:spLocks/>
          </p:cNvSpPr>
          <p:nvPr/>
        </p:nvSpPr>
        <p:spPr>
          <a:xfrm>
            <a:off x="8024007" y="286953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0168188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3"/>
            <a:ext cx="10515600" cy="768216"/>
          </a:xfrm>
        </p:spPr>
        <p:txBody>
          <a:bodyPr/>
          <a:lstStyle/>
          <a:p>
            <a:r>
              <a:rPr lang="en-US" dirty="0"/>
              <a:t>Adding a Selection Control to a Form</a:t>
            </a:r>
          </a:p>
        </p:txBody>
      </p:sp>
      <p:sp>
        <p:nvSpPr>
          <p:cNvPr id="3" name="Content Placeholder 2"/>
          <p:cNvSpPr>
            <a:spLocks noGrp="1"/>
          </p:cNvSpPr>
          <p:nvPr>
            <p:ph idx="1"/>
          </p:nvPr>
        </p:nvSpPr>
        <p:spPr>
          <a:xfrm>
            <a:off x="838200" y="1120462"/>
            <a:ext cx="10515600" cy="5486400"/>
          </a:xfrm>
        </p:spPr>
        <p:txBody>
          <a:bodyPr>
            <a:normAutofit/>
          </a:bodyPr>
          <a:lstStyle/>
          <a:p>
            <a:r>
              <a:rPr lang="en-US" dirty="0"/>
              <a:t>In HTML, you can add selection controls to your Web page. The selection control includes the </a:t>
            </a:r>
            <a:r>
              <a:rPr lang="en-US" dirty="0">
                <a:solidFill>
                  <a:srgbClr val="00B050"/>
                </a:solidFill>
              </a:rPr>
              <a:t>&lt;select&gt; </a:t>
            </a:r>
            <a:r>
              <a:rPr lang="en-US" dirty="0"/>
              <a:t>,</a:t>
            </a:r>
            <a:r>
              <a:rPr lang="en-US" dirty="0">
                <a:solidFill>
                  <a:srgbClr val="00B050"/>
                </a:solidFill>
              </a:rPr>
              <a:t> &lt;option&gt; </a:t>
            </a:r>
            <a:r>
              <a:rPr lang="en-US" dirty="0"/>
              <a:t>, and  </a:t>
            </a:r>
            <a:r>
              <a:rPr lang="en-US" dirty="0">
                <a:solidFill>
                  <a:srgbClr val="00B050"/>
                </a:solidFill>
              </a:rPr>
              <a:t>&lt;</a:t>
            </a:r>
            <a:r>
              <a:rPr lang="en-US" dirty="0" err="1">
                <a:solidFill>
                  <a:srgbClr val="00B050"/>
                </a:solidFill>
              </a:rPr>
              <a:t>optgroup</a:t>
            </a:r>
            <a:r>
              <a:rPr lang="en-US" dirty="0">
                <a:solidFill>
                  <a:srgbClr val="00B050"/>
                </a:solidFill>
              </a:rPr>
              <a:t>&gt; </a:t>
            </a:r>
            <a:r>
              <a:rPr lang="en-US" dirty="0"/>
              <a:t>tags. </a:t>
            </a:r>
          </a:p>
          <a:p>
            <a:r>
              <a:rPr lang="en-US" dirty="0"/>
              <a:t>The </a:t>
            </a:r>
            <a:r>
              <a:rPr lang="en-US" dirty="0">
                <a:solidFill>
                  <a:srgbClr val="00B050"/>
                </a:solidFill>
              </a:rPr>
              <a:t>&lt;select&gt; </a:t>
            </a:r>
            <a:r>
              <a:rPr lang="en-US" dirty="0"/>
              <a:t>tag defines the control for the selection of options and creates a drop-down list. You can use this tag in a form to accept a user input from a list of items.</a:t>
            </a:r>
          </a:p>
          <a:p>
            <a:r>
              <a:rPr lang="en-US" dirty="0"/>
              <a:t>The </a:t>
            </a:r>
            <a:r>
              <a:rPr lang="en-US" dirty="0">
                <a:solidFill>
                  <a:srgbClr val="00B050"/>
                </a:solidFill>
              </a:rPr>
              <a:t>&lt;option&gt; </a:t>
            </a:r>
            <a:r>
              <a:rPr lang="en-US" dirty="0"/>
              <a:t>tag defines an option in a drop-down list. Its most important attribute is the </a:t>
            </a:r>
            <a:r>
              <a:rPr lang="en-US" dirty="0">
                <a:solidFill>
                  <a:srgbClr val="00B050"/>
                </a:solidFill>
              </a:rPr>
              <a:t>&lt;value&gt; </a:t>
            </a:r>
            <a:r>
              <a:rPr lang="en-US" dirty="0"/>
              <a:t>attribute that determines the value being sent to the server.</a:t>
            </a:r>
          </a:p>
          <a:p>
            <a:r>
              <a:rPr lang="en-US" dirty="0"/>
              <a:t>The </a:t>
            </a:r>
            <a:r>
              <a:rPr lang="en-US" dirty="0">
                <a:solidFill>
                  <a:srgbClr val="00B050"/>
                </a:solidFill>
              </a:rPr>
              <a:t>&lt;</a:t>
            </a:r>
            <a:r>
              <a:rPr lang="en-US" dirty="0" err="1">
                <a:solidFill>
                  <a:srgbClr val="00B050"/>
                </a:solidFill>
              </a:rPr>
              <a:t>optgroup</a:t>
            </a:r>
            <a:r>
              <a:rPr lang="en-US" dirty="0">
                <a:solidFill>
                  <a:srgbClr val="00B050"/>
                </a:solidFill>
              </a:rPr>
              <a:t>&gt; </a:t>
            </a:r>
            <a:r>
              <a:rPr lang="en-US" dirty="0"/>
              <a:t>tag allows you to group your choices in the form. This tag helps you to group related choices, when you have a long list of options to select from in the drop-down list created by using the </a:t>
            </a:r>
            <a:r>
              <a:rPr lang="en-US" dirty="0">
                <a:solidFill>
                  <a:srgbClr val="00B050"/>
                </a:solidFill>
              </a:rPr>
              <a:t>&lt;select&gt; </a:t>
            </a:r>
            <a:r>
              <a:rPr lang="en-US" dirty="0"/>
              <a:t>tag.</a:t>
            </a:r>
          </a:p>
        </p:txBody>
      </p:sp>
    </p:spTree>
    <p:extLst>
      <p:ext uri="{BB962C8B-B14F-4D97-AF65-F5344CB8AC3E}">
        <p14:creationId xmlns:p14="http://schemas.microsoft.com/office/powerpoint/2010/main" val="23270182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Selection Control to a Form</a:t>
            </a:r>
          </a:p>
        </p:txBody>
      </p:sp>
      <p:pic>
        <p:nvPicPr>
          <p:cNvPr id="4" name="Content Placeholder 3"/>
          <p:cNvPicPr>
            <a:picLocks noGrp="1" noChangeAspect="1"/>
          </p:cNvPicPr>
          <p:nvPr>
            <p:ph idx="1"/>
          </p:nvPr>
        </p:nvPicPr>
        <p:blipFill>
          <a:blip r:embed="rId2"/>
          <a:stretch>
            <a:fillRect/>
          </a:stretch>
        </p:blipFill>
        <p:spPr>
          <a:xfrm>
            <a:off x="1058146" y="2580526"/>
            <a:ext cx="6315075" cy="3305175"/>
          </a:xfrm>
          <a:prstGeom prst="rect">
            <a:avLst/>
          </a:prstGeom>
        </p:spPr>
      </p:pic>
      <p:pic>
        <p:nvPicPr>
          <p:cNvPr id="5" name="Picture 4"/>
          <p:cNvPicPr>
            <a:picLocks noChangeAspect="1"/>
          </p:cNvPicPr>
          <p:nvPr/>
        </p:nvPicPr>
        <p:blipFill>
          <a:blip r:embed="rId3"/>
          <a:stretch>
            <a:fillRect/>
          </a:stretch>
        </p:blipFill>
        <p:spPr>
          <a:xfrm>
            <a:off x="8302378" y="3103338"/>
            <a:ext cx="2181225" cy="1990725"/>
          </a:xfrm>
          <a:prstGeom prst="rect">
            <a:avLst/>
          </a:prstGeom>
        </p:spPr>
      </p:pic>
      <p:sp>
        <p:nvSpPr>
          <p:cNvPr id="6" name="Title 1"/>
          <p:cNvSpPr txBox="1">
            <a:spLocks/>
          </p:cNvSpPr>
          <p:nvPr/>
        </p:nvSpPr>
        <p:spPr>
          <a:xfrm>
            <a:off x="1939578" y="1966858"/>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SelectionControl.html</a:t>
            </a:r>
          </a:p>
        </p:txBody>
      </p:sp>
      <p:sp>
        <p:nvSpPr>
          <p:cNvPr id="7" name="Title 1"/>
          <p:cNvSpPr txBox="1">
            <a:spLocks/>
          </p:cNvSpPr>
          <p:nvPr/>
        </p:nvSpPr>
        <p:spPr>
          <a:xfrm>
            <a:off x="7745803" y="2090179"/>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5719453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Multiple Selection Control to a Form</a:t>
            </a:r>
          </a:p>
        </p:txBody>
      </p:sp>
      <p:sp>
        <p:nvSpPr>
          <p:cNvPr id="3" name="Content Placeholder 2"/>
          <p:cNvSpPr>
            <a:spLocks noGrp="1"/>
          </p:cNvSpPr>
          <p:nvPr>
            <p:ph idx="1"/>
          </p:nvPr>
        </p:nvSpPr>
        <p:spPr/>
        <p:txBody>
          <a:bodyPr/>
          <a:lstStyle/>
          <a:p>
            <a:r>
              <a:rPr lang="en-US" dirty="0"/>
              <a:t>In the previous example, you can observe that the selection control allows you to select only a single option from the list. You can also select multiple options from the list at a time by using the same </a:t>
            </a:r>
            <a:r>
              <a:rPr lang="en-US" dirty="0">
                <a:solidFill>
                  <a:srgbClr val="00B050"/>
                </a:solidFill>
              </a:rPr>
              <a:t>&lt;select&gt; </a:t>
            </a:r>
            <a:r>
              <a:rPr lang="en-US" dirty="0"/>
              <a:t>tag. In this case, the </a:t>
            </a:r>
            <a:r>
              <a:rPr lang="en-US" dirty="0">
                <a:solidFill>
                  <a:srgbClr val="00B050"/>
                </a:solidFill>
              </a:rPr>
              <a:t>&lt;select&gt; </a:t>
            </a:r>
            <a:r>
              <a:rPr lang="en-US" dirty="0"/>
              <a:t>tag includes the multiple attribute to specify that multiple options can be selected at a time. To select multiple options from the list, you are required to hold down the CTRL key or the SHIFT key.</a:t>
            </a:r>
          </a:p>
        </p:txBody>
      </p:sp>
    </p:spTree>
    <p:extLst>
      <p:ext uri="{BB962C8B-B14F-4D97-AF65-F5344CB8AC3E}">
        <p14:creationId xmlns:p14="http://schemas.microsoft.com/office/powerpoint/2010/main" val="27592424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Multiple Selection Control to a Form</a:t>
            </a:r>
          </a:p>
        </p:txBody>
      </p:sp>
      <p:pic>
        <p:nvPicPr>
          <p:cNvPr id="4" name="Content Placeholder 3"/>
          <p:cNvPicPr>
            <a:picLocks noGrp="1" noChangeAspect="1"/>
          </p:cNvPicPr>
          <p:nvPr>
            <p:ph idx="1"/>
          </p:nvPr>
        </p:nvPicPr>
        <p:blipFill>
          <a:blip r:embed="rId2"/>
          <a:stretch>
            <a:fillRect/>
          </a:stretch>
        </p:blipFill>
        <p:spPr>
          <a:xfrm>
            <a:off x="838200" y="2363531"/>
            <a:ext cx="6286500" cy="3352800"/>
          </a:xfrm>
          <a:prstGeom prst="rect">
            <a:avLst/>
          </a:prstGeom>
        </p:spPr>
      </p:pic>
      <p:pic>
        <p:nvPicPr>
          <p:cNvPr id="5" name="Picture 4"/>
          <p:cNvPicPr>
            <a:picLocks noChangeAspect="1"/>
          </p:cNvPicPr>
          <p:nvPr/>
        </p:nvPicPr>
        <p:blipFill>
          <a:blip r:embed="rId3"/>
          <a:stretch>
            <a:fillRect/>
          </a:stretch>
        </p:blipFill>
        <p:spPr>
          <a:xfrm>
            <a:off x="8367109" y="2810479"/>
            <a:ext cx="2000250" cy="2009775"/>
          </a:xfrm>
          <a:prstGeom prst="rect">
            <a:avLst/>
          </a:prstGeom>
        </p:spPr>
      </p:pic>
      <p:sp>
        <p:nvSpPr>
          <p:cNvPr id="6" name="Title 1"/>
          <p:cNvSpPr txBox="1">
            <a:spLocks/>
          </p:cNvSpPr>
          <p:nvPr/>
        </p:nvSpPr>
        <p:spPr>
          <a:xfrm>
            <a:off x="1939578" y="1690688"/>
            <a:ext cx="3727126"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MultipleSelectionControl.html</a:t>
            </a:r>
          </a:p>
        </p:txBody>
      </p:sp>
      <p:sp>
        <p:nvSpPr>
          <p:cNvPr id="7" name="Title 1"/>
          <p:cNvSpPr txBox="1">
            <a:spLocks/>
          </p:cNvSpPr>
          <p:nvPr/>
        </p:nvSpPr>
        <p:spPr>
          <a:xfrm>
            <a:off x="7745803" y="1749863"/>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5157400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0305"/>
            <a:ext cx="10515600" cy="859709"/>
          </a:xfrm>
        </p:spPr>
        <p:txBody>
          <a:bodyPr/>
          <a:lstStyle/>
          <a:p>
            <a:r>
              <a:rPr lang="en-US" dirty="0"/>
              <a:t>Frames</a:t>
            </a:r>
          </a:p>
        </p:txBody>
      </p:sp>
      <p:sp>
        <p:nvSpPr>
          <p:cNvPr id="3" name="Content Placeholder 2"/>
          <p:cNvSpPr>
            <a:spLocks noGrp="1"/>
          </p:cNvSpPr>
          <p:nvPr>
            <p:ph idx="1"/>
          </p:nvPr>
        </p:nvSpPr>
        <p:spPr>
          <a:xfrm>
            <a:off x="838200" y="1040014"/>
            <a:ext cx="10515600" cy="5136949"/>
          </a:xfrm>
        </p:spPr>
        <p:txBody>
          <a:bodyPr/>
          <a:lstStyle/>
          <a:p>
            <a:r>
              <a:rPr lang="en-US" dirty="0"/>
              <a:t>Frames allows us to split the HTML page window(i.e., the screen that the user sees) into two or more sections.</a:t>
            </a:r>
          </a:p>
          <a:p>
            <a:r>
              <a:rPr lang="en-US" dirty="0"/>
              <a:t>Each section of the page contains its own HTML document.</a:t>
            </a:r>
          </a:p>
          <a:p>
            <a:r>
              <a:rPr lang="en-US" dirty="0"/>
              <a:t>The original HTML page, which splits itself into one or more frames, is also an HTML page . See figure</a:t>
            </a:r>
          </a:p>
        </p:txBody>
      </p:sp>
      <p:sp>
        <p:nvSpPr>
          <p:cNvPr id="4" name="Rectangle 3"/>
          <p:cNvSpPr/>
          <p:nvPr/>
        </p:nvSpPr>
        <p:spPr>
          <a:xfrm>
            <a:off x="6181859" y="3644721"/>
            <a:ext cx="1300766" cy="785611"/>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 HTML page</a:t>
            </a:r>
          </a:p>
        </p:txBody>
      </p:sp>
      <p:sp>
        <p:nvSpPr>
          <p:cNvPr id="5" name="Rectangle 4"/>
          <p:cNvSpPr/>
          <p:nvPr/>
        </p:nvSpPr>
        <p:spPr>
          <a:xfrm>
            <a:off x="5222383" y="4910841"/>
            <a:ext cx="1300766" cy="785611"/>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 HTML page</a:t>
            </a:r>
          </a:p>
        </p:txBody>
      </p:sp>
      <p:sp>
        <p:nvSpPr>
          <p:cNvPr id="6" name="Rectangle 5"/>
          <p:cNvSpPr/>
          <p:nvPr/>
        </p:nvSpPr>
        <p:spPr>
          <a:xfrm>
            <a:off x="7272270" y="4910842"/>
            <a:ext cx="1300766" cy="785611"/>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 HTML page</a:t>
            </a:r>
          </a:p>
        </p:txBody>
      </p:sp>
      <p:cxnSp>
        <p:nvCxnSpPr>
          <p:cNvPr id="8" name="Straight Arrow Connector 7"/>
          <p:cNvCxnSpPr/>
          <p:nvPr/>
        </p:nvCxnSpPr>
        <p:spPr>
          <a:xfrm flipH="1">
            <a:off x="6096000" y="4430332"/>
            <a:ext cx="317679" cy="480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7083380" y="4430332"/>
            <a:ext cx="566671" cy="480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259804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49"/>
            <a:ext cx="10515600" cy="484879"/>
          </a:xfrm>
        </p:spPr>
        <p:txBody>
          <a:bodyPr>
            <a:normAutofit fontScale="90000"/>
          </a:bodyPr>
          <a:lstStyle/>
          <a:p>
            <a:r>
              <a:rPr lang="en-US" dirty="0"/>
              <a:t>Creating a Frame</a:t>
            </a:r>
          </a:p>
        </p:txBody>
      </p:sp>
      <p:sp>
        <p:nvSpPr>
          <p:cNvPr id="3" name="Content Placeholder 2"/>
          <p:cNvSpPr>
            <a:spLocks noGrp="1"/>
          </p:cNvSpPr>
          <p:nvPr>
            <p:ph idx="1"/>
          </p:nvPr>
        </p:nvSpPr>
        <p:spPr>
          <a:xfrm>
            <a:off x="838200" y="772733"/>
            <a:ext cx="10515600" cy="5718220"/>
          </a:xfrm>
          <a:ln>
            <a:solidFill>
              <a:schemeClr val="bg1"/>
            </a:solidFill>
          </a:ln>
        </p:spPr>
        <p:txBody>
          <a:bodyPr>
            <a:normAutofit fontScale="92500" lnSpcReduction="20000"/>
          </a:bodyPr>
          <a:lstStyle/>
          <a:p>
            <a:r>
              <a:rPr lang="en-US" dirty="0"/>
              <a:t>You an create a frame using </a:t>
            </a:r>
            <a:r>
              <a:rPr lang="en-US" dirty="0">
                <a:solidFill>
                  <a:srgbClr val="00B050"/>
                </a:solidFill>
              </a:rPr>
              <a:t>&lt;frameset&gt; </a:t>
            </a:r>
            <a:r>
              <a:rPr lang="en-US" dirty="0"/>
              <a:t>tag.</a:t>
            </a:r>
          </a:p>
          <a:p>
            <a:r>
              <a:rPr lang="en-US" dirty="0"/>
              <a:t>Inside the </a:t>
            </a:r>
            <a:r>
              <a:rPr lang="en-US" dirty="0">
                <a:solidFill>
                  <a:srgbClr val="00B050"/>
                </a:solidFill>
              </a:rPr>
              <a:t>&lt;frameset&gt; </a:t>
            </a:r>
            <a:r>
              <a:rPr lang="en-US" dirty="0"/>
              <a:t>tag, you have to use </a:t>
            </a:r>
            <a:r>
              <a:rPr lang="en-US" dirty="0">
                <a:solidFill>
                  <a:srgbClr val="00B050"/>
                </a:solidFill>
              </a:rPr>
              <a:t>&lt;frame&gt; </a:t>
            </a:r>
            <a:r>
              <a:rPr lang="en-US" dirty="0"/>
              <a:t>tag.</a:t>
            </a:r>
          </a:p>
          <a:p>
            <a:r>
              <a:rPr lang="en-US" dirty="0"/>
              <a:t>You must close all of your </a:t>
            </a:r>
            <a:r>
              <a:rPr lang="en-US" dirty="0">
                <a:solidFill>
                  <a:srgbClr val="00B050"/>
                </a:solidFill>
              </a:rPr>
              <a:t>&lt;frameset&gt; </a:t>
            </a:r>
            <a:r>
              <a:rPr lang="en-US" dirty="0"/>
              <a:t>tags after they have been used.</a:t>
            </a:r>
          </a:p>
          <a:p>
            <a:r>
              <a:rPr lang="en-US" dirty="0"/>
              <a:t>The </a:t>
            </a:r>
            <a:r>
              <a:rPr lang="en-US" dirty="0">
                <a:solidFill>
                  <a:srgbClr val="00B050"/>
                </a:solidFill>
              </a:rPr>
              <a:t>&lt;frame&gt; </a:t>
            </a:r>
            <a:r>
              <a:rPr lang="en-US" dirty="0"/>
              <a:t>tag uses an attribute named as </a:t>
            </a:r>
            <a:r>
              <a:rPr lang="en-US" dirty="0">
                <a:solidFill>
                  <a:srgbClr val="00B050"/>
                </a:solidFill>
              </a:rPr>
              <a:t>src</a:t>
            </a:r>
          </a:p>
          <a:p>
            <a:r>
              <a:rPr lang="en-US" dirty="0"/>
              <a:t>The </a:t>
            </a:r>
            <a:r>
              <a:rPr lang="en-US" dirty="0">
                <a:solidFill>
                  <a:srgbClr val="00B050"/>
                </a:solidFill>
              </a:rPr>
              <a:t>scr</a:t>
            </a:r>
            <a:r>
              <a:rPr lang="en-US" dirty="0"/>
              <a:t> attribute takes an html file, as a value, which you want to upload to that frame.</a:t>
            </a:r>
          </a:p>
          <a:p>
            <a:r>
              <a:rPr lang="en-US" dirty="0"/>
              <a:t>You can create multiple </a:t>
            </a:r>
            <a:r>
              <a:rPr lang="en-US" dirty="0">
                <a:solidFill>
                  <a:srgbClr val="00B050"/>
                </a:solidFill>
              </a:rPr>
              <a:t>&lt;frame&gt; </a:t>
            </a:r>
            <a:r>
              <a:rPr lang="en-US" dirty="0"/>
              <a:t>tag inside a </a:t>
            </a:r>
            <a:r>
              <a:rPr lang="en-US" dirty="0">
                <a:solidFill>
                  <a:srgbClr val="00B050"/>
                </a:solidFill>
              </a:rPr>
              <a:t>&lt;frameset&gt; </a:t>
            </a:r>
            <a:r>
              <a:rPr lang="en-US" dirty="0"/>
              <a:t>tag.</a:t>
            </a:r>
          </a:p>
          <a:p>
            <a:r>
              <a:rPr lang="en-US" dirty="0"/>
              <a:t>The browser reads the frame </a:t>
            </a:r>
            <a:r>
              <a:rPr lang="en-US" dirty="0" err="1">
                <a:solidFill>
                  <a:srgbClr val="00B050"/>
                </a:solidFill>
              </a:rPr>
              <a:t>src</a:t>
            </a:r>
            <a:r>
              <a:rPr lang="en-US" dirty="0"/>
              <a:t> tags for the columns from left to right. Therefore, we should keep everything in the order we want it to appear. Suppose we wanted 3 frames across the page, not 2.We must modify our frameset tag and add another frame </a:t>
            </a:r>
            <a:r>
              <a:rPr lang="en-US" dirty="0" err="1"/>
              <a:t>src</a:t>
            </a:r>
            <a:r>
              <a:rPr lang="en-US" dirty="0"/>
              <a:t> tag for the third frame</a:t>
            </a:r>
          </a:p>
          <a:p>
            <a:pPr marL="457200" lvl="1" indent="0">
              <a:buNone/>
            </a:pPr>
            <a:r>
              <a:rPr lang="en-US" dirty="0"/>
              <a:t>	</a:t>
            </a:r>
            <a:r>
              <a:rPr lang="en-US" dirty="0">
                <a:solidFill>
                  <a:srgbClr val="00B050"/>
                </a:solidFill>
              </a:rPr>
              <a:t>&lt;frameset cols="33%,33%,33%"&gt;</a:t>
            </a:r>
          </a:p>
          <a:p>
            <a:pPr marL="457200" lvl="1" indent="0">
              <a:buNone/>
            </a:pPr>
            <a:r>
              <a:rPr lang="en-US" dirty="0">
                <a:solidFill>
                  <a:srgbClr val="00B050"/>
                </a:solidFill>
              </a:rPr>
              <a:t>	&lt;frame </a:t>
            </a:r>
            <a:r>
              <a:rPr lang="en-US" dirty="0" err="1">
                <a:solidFill>
                  <a:srgbClr val="00B050"/>
                </a:solidFill>
              </a:rPr>
              <a:t>src</a:t>
            </a:r>
            <a:r>
              <a:rPr lang="en-US" dirty="0">
                <a:solidFill>
                  <a:srgbClr val="00B050"/>
                </a:solidFill>
              </a:rPr>
              <a:t>="frame1.html"/&gt;</a:t>
            </a:r>
          </a:p>
          <a:p>
            <a:pPr marL="457200" lvl="1" indent="0">
              <a:buNone/>
            </a:pPr>
            <a:r>
              <a:rPr lang="en-US" dirty="0">
                <a:solidFill>
                  <a:srgbClr val="00B050"/>
                </a:solidFill>
              </a:rPr>
              <a:t>	&lt;frame </a:t>
            </a:r>
            <a:r>
              <a:rPr lang="en-US" dirty="0" err="1">
                <a:solidFill>
                  <a:srgbClr val="00B050"/>
                </a:solidFill>
              </a:rPr>
              <a:t>src</a:t>
            </a:r>
            <a:r>
              <a:rPr lang="en-US" dirty="0">
                <a:solidFill>
                  <a:srgbClr val="00B050"/>
                </a:solidFill>
              </a:rPr>
              <a:t>="frame2.html"/&gt;</a:t>
            </a:r>
          </a:p>
          <a:p>
            <a:pPr marL="457200" lvl="1" indent="0">
              <a:buNone/>
            </a:pPr>
            <a:r>
              <a:rPr lang="en-US" dirty="0">
                <a:solidFill>
                  <a:srgbClr val="00B050"/>
                </a:solidFill>
              </a:rPr>
              <a:t>	&lt;frame </a:t>
            </a:r>
            <a:r>
              <a:rPr lang="en-US" dirty="0" err="1">
                <a:solidFill>
                  <a:srgbClr val="00B050"/>
                </a:solidFill>
              </a:rPr>
              <a:t>src</a:t>
            </a:r>
            <a:r>
              <a:rPr lang="en-US" dirty="0">
                <a:solidFill>
                  <a:srgbClr val="00B050"/>
                </a:solidFill>
              </a:rPr>
              <a:t>="frame3.html"/&gt;</a:t>
            </a:r>
          </a:p>
          <a:p>
            <a:pPr marL="457200" lvl="1" indent="0">
              <a:buNone/>
            </a:pPr>
            <a:r>
              <a:rPr lang="en-US" dirty="0">
                <a:solidFill>
                  <a:srgbClr val="00B050"/>
                </a:solidFill>
              </a:rPr>
              <a:t>	&lt;/frameset&gt;</a:t>
            </a:r>
          </a:p>
        </p:txBody>
      </p:sp>
    </p:spTree>
    <p:extLst>
      <p:ext uri="{BB962C8B-B14F-4D97-AF65-F5344CB8AC3E}">
        <p14:creationId xmlns:p14="http://schemas.microsoft.com/office/powerpoint/2010/main" val="23877509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6" y="309092"/>
            <a:ext cx="10515600" cy="6284891"/>
          </a:xfrm>
        </p:spPr>
        <p:txBody>
          <a:bodyPr>
            <a:normAutofit/>
          </a:bodyPr>
          <a:lstStyle/>
          <a:p>
            <a:r>
              <a:rPr lang="en-US" dirty="0"/>
              <a:t>This covers only 99% of the space on the page. What about the remaining 1%?The browser would fill it up on its own. This may lead to slightly unpredictable results, so it is better to increase one of the 33% by 1 to make it 34%</a:t>
            </a:r>
          </a:p>
          <a:p>
            <a:pPr marL="0" indent="0">
              <a:buNone/>
            </a:pPr>
            <a:r>
              <a:rPr lang="en-US" dirty="0">
                <a:solidFill>
                  <a:srgbClr val="00B050"/>
                </a:solidFill>
              </a:rPr>
              <a:t>&lt;frameset cols=“50%,50%”&gt; </a:t>
            </a:r>
          </a:p>
          <a:p>
            <a:pPr marL="0" indent="0">
              <a:buNone/>
            </a:pPr>
            <a:r>
              <a:rPr lang="en-US" dirty="0"/>
              <a:t>This tag indicates to the browser that is loading this HTML page that the HTML page is not like traditional HTML page. It is a set of frames. There are 2 frames, each of which occupies 50% of screen space.</a:t>
            </a:r>
          </a:p>
          <a:p>
            <a:pPr marL="0" indent="0">
              <a:buNone/>
            </a:pPr>
            <a:r>
              <a:rPr lang="en-US" dirty="0">
                <a:solidFill>
                  <a:srgbClr val="00B050"/>
                </a:solidFill>
              </a:rPr>
              <a:t>&lt;frame </a:t>
            </a:r>
            <a:r>
              <a:rPr lang="en-US" dirty="0" err="1">
                <a:solidFill>
                  <a:srgbClr val="00B050"/>
                </a:solidFill>
              </a:rPr>
              <a:t>src</a:t>
            </a:r>
            <a:r>
              <a:rPr lang="en-US" dirty="0">
                <a:solidFill>
                  <a:srgbClr val="00B050"/>
                </a:solidFill>
              </a:rPr>
              <a:t>=“frame1.html”&gt;</a:t>
            </a:r>
          </a:p>
          <a:p>
            <a:pPr marL="0" indent="0">
              <a:buNone/>
            </a:pPr>
            <a:r>
              <a:rPr lang="en-US" dirty="0"/>
              <a:t>This tag tells the browser that in the first 50% reserved area, the contents of the HTML page titled frame1.html should be loaded.</a:t>
            </a:r>
          </a:p>
          <a:p>
            <a:pPr marL="0" indent="0">
              <a:buNone/>
            </a:pPr>
            <a:r>
              <a:rPr lang="en-US" dirty="0">
                <a:solidFill>
                  <a:srgbClr val="00B050"/>
                </a:solidFill>
              </a:rPr>
              <a:t>&lt;frame </a:t>
            </a:r>
            <a:r>
              <a:rPr lang="en-US" dirty="0" err="1">
                <a:solidFill>
                  <a:srgbClr val="00B050"/>
                </a:solidFill>
              </a:rPr>
              <a:t>src</a:t>
            </a:r>
            <a:r>
              <a:rPr lang="en-US" dirty="0">
                <a:solidFill>
                  <a:srgbClr val="00B050"/>
                </a:solidFill>
              </a:rPr>
              <a:t>=“frame2.html”&gt;</a:t>
            </a:r>
          </a:p>
          <a:p>
            <a:pPr marL="0" indent="0">
              <a:buNone/>
            </a:pPr>
            <a:r>
              <a:rPr lang="en-US" dirty="0"/>
              <a:t>This tag tells the browser that in the second 50% reserved area, the contents of the HTML page titled frame2.html should be loaded.</a:t>
            </a:r>
          </a:p>
          <a:p>
            <a:endParaRPr lang="en-US" dirty="0"/>
          </a:p>
        </p:txBody>
      </p:sp>
    </p:spTree>
    <p:extLst>
      <p:ext uri="{BB962C8B-B14F-4D97-AF65-F5344CB8AC3E}">
        <p14:creationId xmlns:p14="http://schemas.microsoft.com/office/powerpoint/2010/main" val="1257497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842" y="636292"/>
            <a:ext cx="2858037" cy="613668"/>
          </a:xfrm>
        </p:spPr>
        <p:txBody>
          <a:bodyPr>
            <a:normAutofit/>
          </a:bodyPr>
          <a:lstStyle/>
          <a:p>
            <a:r>
              <a:rPr lang="en-US" sz="2000" dirty="0"/>
              <a:t>Frame1.html</a:t>
            </a:r>
          </a:p>
        </p:txBody>
      </p:sp>
      <p:pic>
        <p:nvPicPr>
          <p:cNvPr id="4" name="Content Placeholder 3"/>
          <p:cNvPicPr>
            <a:picLocks noGrp="1" noChangeAspect="1"/>
          </p:cNvPicPr>
          <p:nvPr>
            <p:ph idx="1"/>
          </p:nvPr>
        </p:nvPicPr>
        <p:blipFill>
          <a:blip r:embed="rId2"/>
          <a:stretch>
            <a:fillRect/>
          </a:stretch>
        </p:blipFill>
        <p:spPr>
          <a:xfrm>
            <a:off x="1079645" y="1524285"/>
            <a:ext cx="2867025" cy="1362075"/>
          </a:xfrm>
          <a:prstGeom prst="rect">
            <a:avLst/>
          </a:prstGeom>
        </p:spPr>
      </p:pic>
      <p:pic>
        <p:nvPicPr>
          <p:cNvPr id="5" name="Picture 4"/>
          <p:cNvPicPr>
            <a:picLocks noChangeAspect="1"/>
          </p:cNvPicPr>
          <p:nvPr/>
        </p:nvPicPr>
        <p:blipFill>
          <a:blip r:embed="rId3"/>
          <a:stretch>
            <a:fillRect/>
          </a:stretch>
        </p:blipFill>
        <p:spPr>
          <a:xfrm>
            <a:off x="1098695" y="4194977"/>
            <a:ext cx="2847975" cy="1381125"/>
          </a:xfrm>
          <a:prstGeom prst="rect">
            <a:avLst/>
          </a:prstGeom>
        </p:spPr>
      </p:pic>
      <p:pic>
        <p:nvPicPr>
          <p:cNvPr id="7" name="Picture 6"/>
          <p:cNvPicPr>
            <a:picLocks noChangeAspect="1"/>
          </p:cNvPicPr>
          <p:nvPr/>
        </p:nvPicPr>
        <p:blipFill>
          <a:blip r:embed="rId4"/>
          <a:stretch>
            <a:fillRect/>
          </a:stretch>
        </p:blipFill>
        <p:spPr>
          <a:xfrm>
            <a:off x="4929658" y="3687368"/>
            <a:ext cx="1714500" cy="2396342"/>
          </a:xfrm>
          <a:prstGeom prst="rect">
            <a:avLst/>
          </a:prstGeom>
        </p:spPr>
      </p:pic>
      <p:sp>
        <p:nvSpPr>
          <p:cNvPr id="8" name="Title 1"/>
          <p:cNvSpPr txBox="1">
            <a:spLocks/>
          </p:cNvSpPr>
          <p:nvPr/>
        </p:nvSpPr>
        <p:spPr>
          <a:xfrm>
            <a:off x="1079645" y="3380195"/>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Frame2.html</a:t>
            </a:r>
          </a:p>
        </p:txBody>
      </p:sp>
      <p:sp>
        <p:nvSpPr>
          <p:cNvPr id="9" name="Title 1"/>
          <p:cNvSpPr txBox="1">
            <a:spLocks/>
          </p:cNvSpPr>
          <p:nvPr/>
        </p:nvSpPr>
        <p:spPr>
          <a:xfrm>
            <a:off x="4455822" y="537465"/>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2horizontalFrames.html</a:t>
            </a:r>
          </a:p>
        </p:txBody>
      </p:sp>
      <p:sp>
        <p:nvSpPr>
          <p:cNvPr id="10" name="Title 1"/>
          <p:cNvSpPr txBox="1">
            <a:spLocks/>
          </p:cNvSpPr>
          <p:nvPr/>
        </p:nvSpPr>
        <p:spPr>
          <a:xfrm>
            <a:off x="3988695" y="2991218"/>
            <a:ext cx="332516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2Horizontal Frames output</a:t>
            </a:r>
          </a:p>
        </p:txBody>
      </p:sp>
      <p:sp>
        <p:nvSpPr>
          <p:cNvPr id="12" name="Title 1"/>
          <p:cNvSpPr txBox="1">
            <a:spLocks/>
          </p:cNvSpPr>
          <p:nvPr/>
        </p:nvSpPr>
        <p:spPr>
          <a:xfrm>
            <a:off x="7946802" y="636292"/>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2verticalFrames.html</a:t>
            </a:r>
          </a:p>
        </p:txBody>
      </p:sp>
      <p:pic>
        <p:nvPicPr>
          <p:cNvPr id="13" name="Picture 12"/>
          <p:cNvPicPr>
            <a:picLocks noChangeAspect="1"/>
          </p:cNvPicPr>
          <p:nvPr/>
        </p:nvPicPr>
        <p:blipFill>
          <a:blip r:embed="rId5"/>
          <a:stretch>
            <a:fillRect/>
          </a:stretch>
        </p:blipFill>
        <p:spPr>
          <a:xfrm>
            <a:off x="8241197" y="3682680"/>
            <a:ext cx="3076575" cy="2047875"/>
          </a:xfrm>
          <a:prstGeom prst="rect">
            <a:avLst/>
          </a:prstGeom>
        </p:spPr>
      </p:pic>
      <p:sp>
        <p:nvSpPr>
          <p:cNvPr id="14" name="Title 1"/>
          <p:cNvSpPr txBox="1">
            <a:spLocks/>
          </p:cNvSpPr>
          <p:nvPr/>
        </p:nvSpPr>
        <p:spPr>
          <a:xfrm>
            <a:off x="7946802" y="3069012"/>
            <a:ext cx="3528274"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2Vertical Frames output</a:t>
            </a:r>
          </a:p>
        </p:txBody>
      </p:sp>
      <p:sp>
        <p:nvSpPr>
          <p:cNvPr id="15" name="Title 1"/>
          <p:cNvSpPr txBox="1">
            <a:spLocks/>
          </p:cNvSpPr>
          <p:nvPr/>
        </p:nvSpPr>
        <p:spPr>
          <a:xfrm>
            <a:off x="803906" y="111194"/>
            <a:ext cx="10515600" cy="578218"/>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Two Frames in rows and columns</a:t>
            </a:r>
          </a:p>
        </p:txBody>
      </p:sp>
      <p:pic>
        <p:nvPicPr>
          <p:cNvPr id="3" name="Picture 2"/>
          <p:cNvPicPr>
            <a:picLocks noChangeAspect="1"/>
          </p:cNvPicPr>
          <p:nvPr/>
        </p:nvPicPr>
        <p:blipFill>
          <a:blip r:embed="rId6"/>
          <a:stretch>
            <a:fillRect/>
          </a:stretch>
        </p:blipFill>
        <p:spPr>
          <a:xfrm>
            <a:off x="4351315" y="1151133"/>
            <a:ext cx="3067050" cy="1504950"/>
          </a:xfrm>
          <a:prstGeom prst="rect">
            <a:avLst/>
          </a:prstGeom>
        </p:spPr>
      </p:pic>
      <p:pic>
        <p:nvPicPr>
          <p:cNvPr id="17" name="Picture 16"/>
          <p:cNvPicPr>
            <a:picLocks noChangeAspect="1"/>
          </p:cNvPicPr>
          <p:nvPr/>
        </p:nvPicPr>
        <p:blipFill>
          <a:blip r:embed="rId7"/>
          <a:stretch>
            <a:fillRect/>
          </a:stretch>
        </p:blipFill>
        <p:spPr>
          <a:xfrm>
            <a:off x="7818482" y="1254207"/>
            <a:ext cx="3114675" cy="1562100"/>
          </a:xfrm>
          <a:prstGeom prst="rect">
            <a:avLst/>
          </a:prstGeom>
        </p:spPr>
      </p:pic>
    </p:spTree>
    <p:extLst>
      <p:ext uri="{BB962C8B-B14F-4D97-AF65-F5344CB8AC3E}">
        <p14:creationId xmlns:p14="http://schemas.microsoft.com/office/powerpoint/2010/main" val="17504511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Frames: Vertical and Horizontal</a:t>
            </a:r>
          </a:p>
        </p:txBody>
      </p:sp>
      <p:pic>
        <p:nvPicPr>
          <p:cNvPr id="4" name="Content Placeholder 3"/>
          <p:cNvPicPr>
            <a:picLocks noGrp="1" noChangeAspect="1"/>
          </p:cNvPicPr>
          <p:nvPr>
            <p:ph idx="1"/>
          </p:nvPr>
        </p:nvPicPr>
        <p:blipFill>
          <a:blip r:embed="rId2"/>
          <a:stretch>
            <a:fillRect/>
          </a:stretch>
        </p:blipFill>
        <p:spPr>
          <a:xfrm>
            <a:off x="6449296" y="2801959"/>
            <a:ext cx="4676775" cy="2571750"/>
          </a:xfrm>
          <a:prstGeom prst="rect">
            <a:avLst/>
          </a:prstGeom>
        </p:spPr>
      </p:pic>
      <p:pic>
        <p:nvPicPr>
          <p:cNvPr id="5" name="Picture 4"/>
          <p:cNvPicPr>
            <a:picLocks noChangeAspect="1"/>
          </p:cNvPicPr>
          <p:nvPr/>
        </p:nvPicPr>
        <p:blipFill>
          <a:blip r:embed="rId3"/>
          <a:stretch>
            <a:fillRect/>
          </a:stretch>
        </p:blipFill>
        <p:spPr>
          <a:xfrm>
            <a:off x="1157287" y="2163650"/>
            <a:ext cx="4391025" cy="2419350"/>
          </a:xfrm>
          <a:prstGeom prst="rect">
            <a:avLst/>
          </a:prstGeom>
        </p:spPr>
      </p:pic>
      <p:pic>
        <p:nvPicPr>
          <p:cNvPr id="6" name="Picture 5"/>
          <p:cNvPicPr>
            <a:picLocks noChangeAspect="1"/>
          </p:cNvPicPr>
          <p:nvPr/>
        </p:nvPicPr>
        <p:blipFill>
          <a:blip r:embed="rId4"/>
          <a:stretch>
            <a:fillRect/>
          </a:stretch>
        </p:blipFill>
        <p:spPr>
          <a:xfrm>
            <a:off x="2933666" y="4767778"/>
            <a:ext cx="2867025" cy="1390650"/>
          </a:xfrm>
          <a:prstGeom prst="rect">
            <a:avLst/>
          </a:prstGeom>
        </p:spPr>
      </p:pic>
      <p:sp>
        <p:nvSpPr>
          <p:cNvPr id="7" name="Title 1"/>
          <p:cNvSpPr txBox="1">
            <a:spLocks/>
          </p:cNvSpPr>
          <p:nvPr/>
        </p:nvSpPr>
        <p:spPr>
          <a:xfrm>
            <a:off x="1504648" y="4760041"/>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Frame3.html</a:t>
            </a:r>
          </a:p>
        </p:txBody>
      </p:sp>
      <p:sp>
        <p:nvSpPr>
          <p:cNvPr id="8" name="Title 1"/>
          <p:cNvSpPr txBox="1">
            <a:spLocks/>
          </p:cNvSpPr>
          <p:nvPr/>
        </p:nvSpPr>
        <p:spPr>
          <a:xfrm>
            <a:off x="1347955" y="153625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3frames.html</a:t>
            </a:r>
          </a:p>
        </p:txBody>
      </p:sp>
      <p:sp>
        <p:nvSpPr>
          <p:cNvPr id="9" name="Title 1"/>
          <p:cNvSpPr txBox="1">
            <a:spLocks/>
          </p:cNvSpPr>
          <p:nvPr/>
        </p:nvSpPr>
        <p:spPr>
          <a:xfrm>
            <a:off x="7038271" y="1856816"/>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3frames.html Output</a:t>
            </a:r>
          </a:p>
        </p:txBody>
      </p:sp>
    </p:spTree>
    <p:extLst>
      <p:ext uri="{BB962C8B-B14F-4D97-AF65-F5344CB8AC3E}">
        <p14:creationId xmlns:p14="http://schemas.microsoft.com/office/powerpoint/2010/main" val="8280505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Frame </a:t>
            </a:r>
            <a:r>
              <a:rPr lang="en-US"/>
              <a:t>Border Thickness</a:t>
            </a:r>
          </a:p>
        </p:txBody>
      </p:sp>
      <p:sp>
        <p:nvSpPr>
          <p:cNvPr id="3" name="Content Placeholder 2"/>
          <p:cNvSpPr>
            <a:spLocks noGrp="1"/>
          </p:cNvSpPr>
          <p:nvPr>
            <p:ph idx="1"/>
          </p:nvPr>
        </p:nvSpPr>
        <p:spPr/>
        <p:txBody>
          <a:bodyPr/>
          <a:lstStyle/>
          <a:p>
            <a:r>
              <a:rPr lang="en-US" dirty="0"/>
              <a:t>You can apply border to the frame using the </a:t>
            </a:r>
            <a:r>
              <a:rPr lang="en-US" dirty="0" err="1">
                <a:solidFill>
                  <a:srgbClr val="00B050"/>
                </a:solidFill>
              </a:rPr>
              <a:t>frameborder</a:t>
            </a:r>
            <a:r>
              <a:rPr lang="en-US" dirty="0"/>
              <a:t> attribute of the </a:t>
            </a:r>
            <a:r>
              <a:rPr lang="en-US" dirty="0">
                <a:solidFill>
                  <a:srgbClr val="00B050"/>
                </a:solidFill>
              </a:rPr>
              <a:t>&lt;frameset&gt; </a:t>
            </a:r>
            <a:r>
              <a:rPr lang="en-US" dirty="0"/>
              <a:t>tag</a:t>
            </a:r>
          </a:p>
          <a:p>
            <a:r>
              <a:rPr lang="en-US" dirty="0"/>
              <a:t>If you want to set a border to your frame, specify either yes or 1 as a value of the </a:t>
            </a:r>
            <a:r>
              <a:rPr lang="en-US" dirty="0" err="1">
                <a:solidFill>
                  <a:srgbClr val="00B050"/>
                </a:solidFill>
              </a:rPr>
              <a:t>frameborder</a:t>
            </a:r>
            <a:r>
              <a:rPr lang="en-US" dirty="0">
                <a:solidFill>
                  <a:srgbClr val="00B050"/>
                </a:solidFill>
              </a:rPr>
              <a:t> </a:t>
            </a:r>
            <a:r>
              <a:rPr lang="en-US" dirty="0"/>
              <a:t>attribute.</a:t>
            </a:r>
          </a:p>
          <a:p>
            <a:r>
              <a:rPr lang="en-US" dirty="0"/>
              <a:t>If you do not want to set a border to your frame, specify either no or 0 as a value of the </a:t>
            </a:r>
            <a:r>
              <a:rPr lang="en-US" dirty="0" err="1">
                <a:solidFill>
                  <a:srgbClr val="00B050"/>
                </a:solidFill>
              </a:rPr>
              <a:t>frameborder</a:t>
            </a:r>
            <a:r>
              <a:rPr lang="en-US" dirty="0">
                <a:solidFill>
                  <a:srgbClr val="00B050"/>
                </a:solidFill>
              </a:rPr>
              <a:t> </a:t>
            </a:r>
            <a:r>
              <a:rPr lang="en-US" dirty="0"/>
              <a:t>attribute.</a:t>
            </a:r>
          </a:p>
          <a:p>
            <a:r>
              <a:rPr lang="en-US" dirty="0"/>
              <a:t>By default, a frame border is applied to the frames.</a:t>
            </a:r>
          </a:p>
          <a:p>
            <a:r>
              <a:rPr lang="en-US" dirty="0"/>
              <a:t>You can also set the thickness of the frame border using the </a:t>
            </a:r>
            <a:r>
              <a:rPr lang="en-US" dirty="0" err="1">
                <a:solidFill>
                  <a:srgbClr val="00B050"/>
                </a:solidFill>
              </a:rPr>
              <a:t>framespacing</a:t>
            </a:r>
            <a:r>
              <a:rPr lang="en-US" dirty="0"/>
              <a:t> attribute of he </a:t>
            </a:r>
            <a:r>
              <a:rPr lang="en-US" dirty="0">
                <a:solidFill>
                  <a:srgbClr val="00B050"/>
                </a:solidFill>
              </a:rPr>
              <a:t>&lt;frameset&gt; </a:t>
            </a:r>
            <a:r>
              <a:rPr lang="en-US" dirty="0"/>
              <a:t>tag</a:t>
            </a:r>
          </a:p>
          <a:p>
            <a:endParaRPr lang="en-US" dirty="0"/>
          </a:p>
          <a:p>
            <a:endParaRPr lang="en-US" dirty="0"/>
          </a:p>
        </p:txBody>
      </p:sp>
    </p:spTree>
    <p:extLst>
      <p:ext uri="{BB962C8B-B14F-4D97-AF65-F5344CB8AC3E}">
        <p14:creationId xmlns:p14="http://schemas.microsoft.com/office/powerpoint/2010/main" val="9373243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3458"/>
            <a:ext cx="10515600" cy="5793505"/>
          </a:xfrm>
        </p:spPr>
        <p:txBody>
          <a:bodyPr/>
          <a:lstStyle/>
          <a:p>
            <a:r>
              <a:rPr lang="en-US" dirty="0"/>
              <a:t>Create a web page ,named FrameBorderThickness.html to learn how to set the frame border thickness.</a:t>
            </a:r>
          </a:p>
          <a:p>
            <a:endParaRPr lang="en-US" dirty="0"/>
          </a:p>
        </p:txBody>
      </p:sp>
      <p:pic>
        <p:nvPicPr>
          <p:cNvPr id="4" name="Picture 3"/>
          <p:cNvPicPr>
            <a:picLocks noChangeAspect="1"/>
          </p:cNvPicPr>
          <p:nvPr/>
        </p:nvPicPr>
        <p:blipFill>
          <a:blip r:embed="rId2"/>
          <a:stretch>
            <a:fillRect/>
          </a:stretch>
        </p:blipFill>
        <p:spPr>
          <a:xfrm>
            <a:off x="7374193" y="2791619"/>
            <a:ext cx="4204259" cy="2419350"/>
          </a:xfrm>
          <a:prstGeom prst="rect">
            <a:avLst/>
          </a:prstGeom>
        </p:spPr>
      </p:pic>
      <p:pic>
        <p:nvPicPr>
          <p:cNvPr id="5" name="Picture 4"/>
          <p:cNvPicPr>
            <a:picLocks noChangeAspect="1"/>
          </p:cNvPicPr>
          <p:nvPr/>
        </p:nvPicPr>
        <p:blipFill>
          <a:blip r:embed="rId3"/>
          <a:stretch>
            <a:fillRect/>
          </a:stretch>
        </p:blipFill>
        <p:spPr>
          <a:xfrm>
            <a:off x="267101" y="1814052"/>
            <a:ext cx="6723634" cy="3517056"/>
          </a:xfrm>
          <a:prstGeom prst="rect">
            <a:avLst/>
          </a:prstGeom>
        </p:spPr>
      </p:pic>
    </p:spTree>
    <p:extLst>
      <p:ext uri="{BB962C8B-B14F-4D97-AF65-F5344CB8AC3E}">
        <p14:creationId xmlns:p14="http://schemas.microsoft.com/office/powerpoint/2010/main" val="22120890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Hyperlink Targets to a frame</a:t>
            </a:r>
          </a:p>
        </p:txBody>
      </p:sp>
      <p:sp>
        <p:nvSpPr>
          <p:cNvPr id="3" name="Content Placeholder 2"/>
          <p:cNvSpPr>
            <a:spLocks noGrp="1"/>
          </p:cNvSpPr>
          <p:nvPr>
            <p:ph idx="1"/>
          </p:nvPr>
        </p:nvSpPr>
        <p:spPr/>
        <p:txBody>
          <a:bodyPr/>
          <a:lstStyle/>
          <a:p>
            <a:r>
              <a:rPr lang="en-US" dirty="0"/>
              <a:t>A hyperlink is used to create a link between Web pages. When you click a hyperlink, it takes you to the referenced section on the same web page or another by using the </a:t>
            </a:r>
            <a:r>
              <a:rPr lang="en-US" dirty="0" err="1">
                <a:solidFill>
                  <a:srgbClr val="00B050"/>
                </a:solidFill>
              </a:rPr>
              <a:t>href</a:t>
            </a:r>
            <a:r>
              <a:rPr lang="en-US" dirty="0"/>
              <a:t> attribute of the anchor tag </a:t>
            </a:r>
            <a:r>
              <a:rPr lang="en-US" dirty="0">
                <a:solidFill>
                  <a:srgbClr val="00B050"/>
                </a:solidFill>
              </a:rPr>
              <a:t>&lt;a&gt;</a:t>
            </a:r>
          </a:p>
          <a:p>
            <a:r>
              <a:rPr lang="en-US" dirty="0"/>
              <a:t>You can specify the target location of the desired web page by using the </a:t>
            </a:r>
            <a:r>
              <a:rPr lang="en-US" dirty="0">
                <a:solidFill>
                  <a:srgbClr val="00B050"/>
                </a:solidFill>
              </a:rPr>
              <a:t>target </a:t>
            </a:r>
            <a:r>
              <a:rPr lang="en-US" dirty="0"/>
              <a:t>attribute inside the </a:t>
            </a:r>
            <a:r>
              <a:rPr lang="en-US" dirty="0">
                <a:solidFill>
                  <a:srgbClr val="00B050"/>
                </a:solidFill>
              </a:rPr>
              <a:t>&lt;a&gt; </a:t>
            </a:r>
            <a:r>
              <a:rPr lang="en-US" dirty="0"/>
              <a:t>tag. You can use a name frame or predefined target name as hyperlink targets</a:t>
            </a:r>
          </a:p>
        </p:txBody>
      </p:sp>
    </p:spTree>
    <p:extLst>
      <p:ext uri="{BB962C8B-B14F-4D97-AF65-F5344CB8AC3E}">
        <p14:creationId xmlns:p14="http://schemas.microsoft.com/office/powerpoint/2010/main" val="171751076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Named Frame as Hyperlink Targets</a:t>
            </a:r>
          </a:p>
        </p:txBody>
      </p:sp>
      <p:sp>
        <p:nvSpPr>
          <p:cNvPr id="3" name="Content Placeholder 2"/>
          <p:cNvSpPr>
            <a:spLocks noGrp="1"/>
          </p:cNvSpPr>
          <p:nvPr>
            <p:ph idx="1"/>
          </p:nvPr>
        </p:nvSpPr>
        <p:spPr/>
        <p:txBody>
          <a:bodyPr/>
          <a:lstStyle/>
          <a:p>
            <a:r>
              <a:rPr lang="en-US" dirty="0"/>
              <a:t>Named frames are those frames for which names are assigned and they can be used as hyperlink targets by specifying a frame name to the </a:t>
            </a:r>
            <a:r>
              <a:rPr lang="en-US" dirty="0">
                <a:solidFill>
                  <a:srgbClr val="00B050"/>
                </a:solidFill>
              </a:rPr>
              <a:t>target</a:t>
            </a:r>
            <a:r>
              <a:rPr lang="en-US" dirty="0"/>
              <a:t> attribute . Therefore, when you click the hyperlink, the referenced page opens in the target frame specified in the </a:t>
            </a:r>
            <a:r>
              <a:rPr lang="en-US" dirty="0">
                <a:solidFill>
                  <a:srgbClr val="00B050"/>
                </a:solidFill>
              </a:rPr>
              <a:t>target </a:t>
            </a:r>
            <a:r>
              <a:rPr lang="en-US" dirty="0"/>
              <a:t>attribute.</a:t>
            </a:r>
          </a:p>
        </p:txBody>
      </p:sp>
    </p:spTree>
    <p:extLst>
      <p:ext uri="{BB962C8B-B14F-4D97-AF65-F5344CB8AC3E}">
        <p14:creationId xmlns:p14="http://schemas.microsoft.com/office/powerpoint/2010/main" val="24249444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174883" y="3680127"/>
            <a:ext cx="4467225" cy="2438400"/>
          </a:xfrm>
          <a:prstGeom prst="rect">
            <a:avLst/>
          </a:prstGeom>
        </p:spPr>
      </p:pic>
      <p:pic>
        <p:nvPicPr>
          <p:cNvPr id="5" name="Picture 4"/>
          <p:cNvPicPr>
            <a:picLocks noChangeAspect="1"/>
          </p:cNvPicPr>
          <p:nvPr/>
        </p:nvPicPr>
        <p:blipFill>
          <a:blip r:embed="rId3"/>
          <a:stretch>
            <a:fillRect/>
          </a:stretch>
        </p:blipFill>
        <p:spPr>
          <a:xfrm>
            <a:off x="1031383" y="1109531"/>
            <a:ext cx="4133850" cy="1562100"/>
          </a:xfrm>
          <a:prstGeom prst="rect">
            <a:avLst/>
          </a:prstGeom>
        </p:spPr>
      </p:pic>
      <p:pic>
        <p:nvPicPr>
          <p:cNvPr id="6" name="Picture 5"/>
          <p:cNvPicPr>
            <a:picLocks noChangeAspect="1"/>
          </p:cNvPicPr>
          <p:nvPr/>
        </p:nvPicPr>
        <p:blipFill>
          <a:blip r:embed="rId4"/>
          <a:stretch>
            <a:fillRect/>
          </a:stretch>
        </p:blipFill>
        <p:spPr>
          <a:xfrm>
            <a:off x="1031383" y="3375327"/>
            <a:ext cx="3105150" cy="2743200"/>
          </a:xfrm>
          <a:prstGeom prst="rect">
            <a:avLst/>
          </a:prstGeom>
        </p:spPr>
      </p:pic>
      <p:pic>
        <p:nvPicPr>
          <p:cNvPr id="7" name="Picture 6"/>
          <p:cNvPicPr>
            <a:picLocks noChangeAspect="1"/>
          </p:cNvPicPr>
          <p:nvPr/>
        </p:nvPicPr>
        <p:blipFill>
          <a:blip r:embed="rId5"/>
          <a:stretch>
            <a:fillRect/>
          </a:stretch>
        </p:blipFill>
        <p:spPr>
          <a:xfrm>
            <a:off x="6495379" y="907336"/>
            <a:ext cx="3219450" cy="1543050"/>
          </a:xfrm>
          <a:prstGeom prst="rect">
            <a:avLst/>
          </a:prstGeom>
        </p:spPr>
      </p:pic>
      <p:sp>
        <p:nvSpPr>
          <p:cNvPr id="8" name="Title 1"/>
          <p:cNvSpPr txBox="1">
            <a:spLocks/>
          </p:cNvSpPr>
          <p:nvPr/>
        </p:nvSpPr>
        <p:spPr>
          <a:xfrm>
            <a:off x="1566896" y="293668"/>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Namedframe.html</a:t>
            </a:r>
          </a:p>
        </p:txBody>
      </p:sp>
      <p:sp>
        <p:nvSpPr>
          <p:cNvPr id="9" name="Title 1"/>
          <p:cNvSpPr txBox="1">
            <a:spLocks/>
          </p:cNvSpPr>
          <p:nvPr/>
        </p:nvSpPr>
        <p:spPr>
          <a:xfrm>
            <a:off x="8105104" y="312216"/>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Defaultpage.html</a:t>
            </a:r>
          </a:p>
        </p:txBody>
      </p:sp>
      <p:sp>
        <p:nvSpPr>
          <p:cNvPr id="10" name="Title 1"/>
          <p:cNvSpPr txBox="1">
            <a:spLocks/>
          </p:cNvSpPr>
          <p:nvPr/>
        </p:nvSpPr>
        <p:spPr>
          <a:xfrm>
            <a:off x="2583958" y="2918729"/>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Mainpage.html</a:t>
            </a:r>
          </a:p>
        </p:txBody>
      </p:sp>
      <p:sp>
        <p:nvSpPr>
          <p:cNvPr id="11" name="Title 1"/>
          <p:cNvSpPr txBox="1">
            <a:spLocks/>
          </p:cNvSpPr>
          <p:nvPr/>
        </p:nvSpPr>
        <p:spPr>
          <a:xfrm>
            <a:off x="7890423" y="2925599"/>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5692098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Predefined Target Name as Hyperlink Targets</a:t>
            </a:r>
          </a:p>
        </p:txBody>
      </p:sp>
      <p:sp>
        <p:nvSpPr>
          <p:cNvPr id="3" name="Content Placeholder 2"/>
          <p:cNvSpPr>
            <a:spLocks noGrp="1"/>
          </p:cNvSpPr>
          <p:nvPr>
            <p:ph idx="1"/>
          </p:nvPr>
        </p:nvSpPr>
        <p:spPr/>
        <p:txBody>
          <a:bodyPr/>
          <a:lstStyle/>
          <a:p>
            <a:r>
              <a:rPr lang="en-US" dirty="0"/>
              <a:t>When you do not want to open a Web page in a named frame,HTML provides the facility to use predefined target names to set the target locations of the desired Web page. Predefined target names take one of the four values : </a:t>
            </a:r>
            <a:r>
              <a:rPr lang="en-US" dirty="0">
                <a:solidFill>
                  <a:srgbClr val="00B050"/>
                </a:solidFill>
              </a:rPr>
              <a:t>_blank</a:t>
            </a:r>
            <a:r>
              <a:rPr lang="en-US" dirty="0"/>
              <a:t>, </a:t>
            </a:r>
            <a:r>
              <a:rPr lang="en-US" dirty="0">
                <a:solidFill>
                  <a:srgbClr val="00B050"/>
                </a:solidFill>
              </a:rPr>
              <a:t>_self </a:t>
            </a:r>
            <a:r>
              <a:rPr lang="en-US" dirty="0"/>
              <a:t>,</a:t>
            </a:r>
            <a:r>
              <a:rPr lang="en-US" dirty="0">
                <a:solidFill>
                  <a:srgbClr val="00B050"/>
                </a:solidFill>
              </a:rPr>
              <a:t>_parent</a:t>
            </a:r>
            <a:r>
              <a:rPr lang="en-US" dirty="0"/>
              <a:t>, and </a:t>
            </a:r>
            <a:r>
              <a:rPr lang="en-US" dirty="0">
                <a:solidFill>
                  <a:srgbClr val="00B050"/>
                </a:solidFill>
              </a:rPr>
              <a:t>_top </a:t>
            </a:r>
            <a:r>
              <a:rPr lang="en-US" dirty="0"/>
              <a:t>to the </a:t>
            </a:r>
            <a:r>
              <a:rPr lang="en-US" dirty="0">
                <a:solidFill>
                  <a:srgbClr val="00B050"/>
                </a:solidFill>
              </a:rPr>
              <a:t>target</a:t>
            </a:r>
            <a:r>
              <a:rPr lang="en-US" dirty="0"/>
              <a:t> attribute. So when you click the hyperlink, the referenced page opens in the </a:t>
            </a:r>
            <a:r>
              <a:rPr lang="en-US" dirty="0">
                <a:solidFill>
                  <a:srgbClr val="00B050"/>
                </a:solidFill>
              </a:rPr>
              <a:t>target</a:t>
            </a:r>
            <a:r>
              <a:rPr lang="en-US" dirty="0"/>
              <a:t> frame that you assign in the target attribute. For example, if you use </a:t>
            </a:r>
            <a:r>
              <a:rPr lang="en-US" dirty="0">
                <a:solidFill>
                  <a:srgbClr val="00B050"/>
                </a:solidFill>
              </a:rPr>
              <a:t>_blank </a:t>
            </a:r>
            <a:r>
              <a:rPr lang="en-US" dirty="0"/>
              <a:t>, the web page opens in a new blank window.</a:t>
            </a:r>
          </a:p>
        </p:txBody>
      </p:sp>
    </p:spTree>
    <p:extLst>
      <p:ext uri="{BB962C8B-B14F-4D97-AF65-F5344CB8AC3E}">
        <p14:creationId xmlns:p14="http://schemas.microsoft.com/office/powerpoint/2010/main" val="29694173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845475" y="2206766"/>
            <a:ext cx="2933700" cy="2714625"/>
          </a:xfrm>
          <a:prstGeom prst="rect">
            <a:avLst/>
          </a:prstGeom>
        </p:spPr>
      </p:pic>
      <p:pic>
        <p:nvPicPr>
          <p:cNvPr id="5" name="Picture 4"/>
          <p:cNvPicPr>
            <a:picLocks noChangeAspect="1"/>
          </p:cNvPicPr>
          <p:nvPr/>
        </p:nvPicPr>
        <p:blipFill>
          <a:blip r:embed="rId3"/>
          <a:stretch>
            <a:fillRect/>
          </a:stretch>
        </p:blipFill>
        <p:spPr>
          <a:xfrm>
            <a:off x="1371332" y="2543443"/>
            <a:ext cx="3009900" cy="2724150"/>
          </a:xfrm>
          <a:prstGeom prst="rect">
            <a:avLst/>
          </a:prstGeom>
        </p:spPr>
      </p:pic>
      <p:sp>
        <p:nvSpPr>
          <p:cNvPr id="6"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dirty="0"/>
          </a:p>
        </p:txBody>
      </p:sp>
      <p:sp>
        <p:nvSpPr>
          <p:cNvPr id="7" name="Title 1"/>
          <p:cNvSpPr txBox="1">
            <a:spLocks/>
          </p:cNvSpPr>
          <p:nvPr/>
        </p:nvSpPr>
        <p:spPr>
          <a:xfrm>
            <a:off x="974468" y="179963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PredefinedTarget.html</a:t>
            </a:r>
          </a:p>
        </p:txBody>
      </p:sp>
      <p:sp>
        <p:nvSpPr>
          <p:cNvPr id="8" name="Title 1"/>
          <p:cNvSpPr txBox="1">
            <a:spLocks/>
          </p:cNvSpPr>
          <p:nvPr/>
        </p:nvSpPr>
        <p:spPr>
          <a:xfrm>
            <a:off x="8017902" y="1728179"/>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9" name="Picture 8"/>
          <p:cNvPicPr>
            <a:picLocks noChangeAspect="1"/>
          </p:cNvPicPr>
          <p:nvPr/>
        </p:nvPicPr>
        <p:blipFill>
          <a:blip r:embed="rId4"/>
          <a:stretch>
            <a:fillRect/>
          </a:stretch>
        </p:blipFill>
        <p:spPr>
          <a:xfrm>
            <a:off x="8243418" y="2238829"/>
            <a:ext cx="3295650" cy="1447800"/>
          </a:xfrm>
          <a:prstGeom prst="rect">
            <a:avLst/>
          </a:prstGeom>
        </p:spPr>
      </p:pic>
    </p:spTree>
    <p:extLst>
      <p:ext uri="{BB962C8B-B14F-4D97-AF65-F5344CB8AC3E}">
        <p14:creationId xmlns:p14="http://schemas.microsoft.com/office/powerpoint/2010/main" val="1329852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a:t>
            </a:r>
          </a:p>
        </p:txBody>
      </p:sp>
      <p:sp>
        <p:nvSpPr>
          <p:cNvPr id="3" name="Content Placeholder 2"/>
          <p:cNvSpPr>
            <a:spLocks noGrp="1"/>
          </p:cNvSpPr>
          <p:nvPr>
            <p:ph idx="1"/>
          </p:nvPr>
        </p:nvSpPr>
        <p:spPr/>
        <p:txBody>
          <a:bodyPr>
            <a:normAutofit/>
          </a:bodyPr>
          <a:lstStyle/>
          <a:p>
            <a:pPr marL="0" indent="0" algn="just">
              <a:buNone/>
            </a:pPr>
            <a:r>
              <a:rPr lang="en-US" dirty="0"/>
              <a:t>An HTML table allows you to arrange data ,such as </a:t>
            </a:r>
            <a:r>
              <a:rPr lang="en-US" dirty="0" err="1"/>
              <a:t>texts,links,forms</a:t>
            </a:r>
            <a:r>
              <a:rPr lang="en-US" dirty="0"/>
              <a:t>, and other tables. In a table, data is arranged in the form of rows and columns of cells. A table can have an associated caption to provide a short description of the purpose of the table. You can specify headings of a table and set the table border and color. You can also set the width of the table and its columns, as well as alignment and cell content as per the requirement. You can set the distance between cell borders and the content within the cell through </a:t>
            </a:r>
            <a:r>
              <a:rPr lang="en-US" dirty="0" err="1">
                <a:solidFill>
                  <a:srgbClr val="00B050"/>
                </a:solidFill>
              </a:rPr>
              <a:t>Cellpadding</a:t>
            </a:r>
            <a:r>
              <a:rPr lang="en-US" dirty="0">
                <a:solidFill>
                  <a:srgbClr val="00B050"/>
                </a:solidFill>
              </a:rPr>
              <a:t> </a:t>
            </a:r>
            <a:r>
              <a:rPr lang="en-US" dirty="0"/>
              <a:t>attribute of the </a:t>
            </a:r>
            <a:r>
              <a:rPr lang="en-US" dirty="0">
                <a:solidFill>
                  <a:srgbClr val="00B050"/>
                </a:solidFill>
              </a:rPr>
              <a:t>&lt;table&gt; </a:t>
            </a:r>
            <a:r>
              <a:rPr lang="en-US" dirty="0"/>
              <a:t>tag. If you want ,you can also create multiple tables inside a table and combine rows and columns in a table using the </a:t>
            </a:r>
            <a:r>
              <a:rPr lang="en-US" dirty="0" err="1">
                <a:solidFill>
                  <a:srgbClr val="00B050"/>
                </a:solidFill>
              </a:rPr>
              <a:t>rowspan</a:t>
            </a:r>
            <a:r>
              <a:rPr lang="en-US" dirty="0"/>
              <a:t> and </a:t>
            </a:r>
            <a:r>
              <a:rPr lang="en-US" dirty="0" err="1">
                <a:solidFill>
                  <a:srgbClr val="00B050"/>
                </a:solidFill>
              </a:rPr>
              <a:t>colspan</a:t>
            </a:r>
            <a:r>
              <a:rPr lang="en-US" dirty="0">
                <a:solidFill>
                  <a:srgbClr val="00B050"/>
                </a:solidFill>
              </a:rPr>
              <a:t> </a:t>
            </a:r>
            <a:r>
              <a:rPr lang="en-US" dirty="0"/>
              <a:t>attributes of the </a:t>
            </a:r>
            <a:r>
              <a:rPr lang="en-US" dirty="0">
                <a:solidFill>
                  <a:srgbClr val="00B050"/>
                </a:solidFill>
              </a:rPr>
              <a:t>&lt;table&gt; </a:t>
            </a:r>
            <a:r>
              <a:rPr lang="en-US" dirty="0"/>
              <a:t>tag respectively.</a:t>
            </a:r>
          </a:p>
        </p:txBody>
      </p:sp>
    </p:spTree>
    <p:extLst>
      <p:ext uri="{BB962C8B-B14F-4D97-AF65-F5344CB8AC3E}">
        <p14:creationId xmlns:p14="http://schemas.microsoft.com/office/powerpoint/2010/main" val="468183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Table</a:t>
            </a:r>
          </a:p>
        </p:txBody>
      </p:sp>
      <p:sp>
        <p:nvSpPr>
          <p:cNvPr id="3" name="Content Placeholder 2"/>
          <p:cNvSpPr>
            <a:spLocks noGrp="1"/>
          </p:cNvSpPr>
          <p:nvPr>
            <p:ph idx="1"/>
          </p:nvPr>
        </p:nvSpPr>
        <p:spPr/>
        <p:txBody>
          <a:bodyPr/>
          <a:lstStyle/>
          <a:p>
            <a:pPr marL="0" indent="0" algn="just">
              <a:buNone/>
            </a:pPr>
            <a:r>
              <a:rPr lang="en-US" dirty="0"/>
              <a:t>A pair of </a:t>
            </a:r>
            <a:r>
              <a:rPr lang="en-US" dirty="0">
                <a:solidFill>
                  <a:srgbClr val="00B050"/>
                </a:solidFill>
              </a:rPr>
              <a:t>&lt;table&gt; </a:t>
            </a:r>
            <a:r>
              <a:rPr lang="en-US" dirty="0"/>
              <a:t>and </a:t>
            </a:r>
            <a:r>
              <a:rPr lang="en-US" dirty="0">
                <a:solidFill>
                  <a:srgbClr val="00B050"/>
                </a:solidFill>
              </a:rPr>
              <a:t>&lt;/table&gt; </a:t>
            </a:r>
            <a:r>
              <a:rPr lang="en-US" dirty="0"/>
              <a:t>tags represents an HTML table and a pair of </a:t>
            </a:r>
            <a:r>
              <a:rPr lang="en-US" dirty="0">
                <a:solidFill>
                  <a:srgbClr val="00B050"/>
                </a:solidFill>
              </a:rPr>
              <a:t>&lt;</a:t>
            </a:r>
            <a:r>
              <a:rPr lang="en-US" dirty="0" err="1">
                <a:solidFill>
                  <a:srgbClr val="00B050"/>
                </a:solidFill>
              </a:rPr>
              <a:t>tr</a:t>
            </a:r>
            <a:r>
              <a:rPr lang="en-US" dirty="0">
                <a:solidFill>
                  <a:srgbClr val="00B050"/>
                </a:solidFill>
              </a:rPr>
              <a:t>&gt; </a:t>
            </a:r>
            <a:r>
              <a:rPr lang="en-US" dirty="0"/>
              <a:t>and </a:t>
            </a:r>
            <a:r>
              <a:rPr lang="en-US" dirty="0">
                <a:solidFill>
                  <a:srgbClr val="00B050"/>
                </a:solidFill>
              </a:rPr>
              <a:t>&lt;/</a:t>
            </a:r>
            <a:r>
              <a:rPr lang="en-US" dirty="0" err="1">
                <a:solidFill>
                  <a:srgbClr val="00B050"/>
                </a:solidFill>
              </a:rPr>
              <a:t>tr</a:t>
            </a:r>
            <a:r>
              <a:rPr lang="en-US" dirty="0">
                <a:solidFill>
                  <a:srgbClr val="00B050"/>
                </a:solidFill>
              </a:rPr>
              <a:t>&gt; </a:t>
            </a:r>
            <a:r>
              <a:rPr lang="en-US" dirty="0"/>
              <a:t>tags represents a row in a table. A pair of </a:t>
            </a:r>
            <a:r>
              <a:rPr lang="en-US" dirty="0">
                <a:solidFill>
                  <a:srgbClr val="00B050"/>
                </a:solidFill>
              </a:rPr>
              <a:t>&lt;</a:t>
            </a:r>
            <a:r>
              <a:rPr lang="en-US" dirty="0" err="1">
                <a:solidFill>
                  <a:srgbClr val="00B050"/>
                </a:solidFill>
              </a:rPr>
              <a:t>th</a:t>
            </a:r>
            <a:r>
              <a:rPr lang="en-US" dirty="0">
                <a:solidFill>
                  <a:srgbClr val="00B050"/>
                </a:solidFill>
              </a:rPr>
              <a:t>&gt; </a:t>
            </a:r>
            <a:r>
              <a:rPr lang="en-US" dirty="0"/>
              <a:t>and </a:t>
            </a:r>
            <a:r>
              <a:rPr lang="en-US" dirty="0">
                <a:solidFill>
                  <a:srgbClr val="00B050"/>
                </a:solidFill>
              </a:rPr>
              <a:t>&lt;/</a:t>
            </a:r>
            <a:r>
              <a:rPr lang="en-US" dirty="0" err="1">
                <a:solidFill>
                  <a:srgbClr val="00B050"/>
                </a:solidFill>
              </a:rPr>
              <a:t>th</a:t>
            </a:r>
            <a:r>
              <a:rPr lang="en-US" dirty="0">
                <a:solidFill>
                  <a:srgbClr val="00B050"/>
                </a:solidFill>
              </a:rPr>
              <a:t>&gt; </a:t>
            </a:r>
            <a:r>
              <a:rPr lang="en-US" dirty="0"/>
              <a:t>tags is used to add a column heading in a column and pairs of </a:t>
            </a:r>
            <a:r>
              <a:rPr lang="en-US" dirty="0">
                <a:solidFill>
                  <a:srgbClr val="00B050"/>
                </a:solidFill>
              </a:rPr>
              <a:t>&lt;td&gt; </a:t>
            </a:r>
            <a:r>
              <a:rPr lang="en-US" dirty="0"/>
              <a:t>and </a:t>
            </a:r>
            <a:r>
              <a:rPr lang="en-US" dirty="0">
                <a:solidFill>
                  <a:srgbClr val="00B050"/>
                </a:solidFill>
              </a:rPr>
              <a:t>&lt;/td&gt; </a:t>
            </a:r>
            <a:r>
              <a:rPr lang="en-US" dirty="0"/>
              <a:t>tags are used to add data values in the column. While creating a table, the number of pairs of </a:t>
            </a:r>
            <a:r>
              <a:rPr lang="en-US" dirty="0">
                <a:solidFill>
                  <a:srgbClr val="00B050"/>
                </a:solidFill>
              </a:rPr>
              <a:t>&lt;</a:t>
            </a:r>
            <a:r>
              <a:rPr lang="en-US" dirty="0" err="1">
                <a:solidFill>
                  <a:srgbClr val="00B050"/>
                </a:solidFill>
              </a:rPr>
              <a:t>tr</a:t>
            </a:r>
            <a:r>
              <a:rPr lang="en-US" dirty="0">
                <a:solidFill>
                  <a:srgbClr val="00B050"/>
                </a:solidFill>
              </a:rPr>
              <a:t>&gt; </a:t>
            </a:r>
            <a:r>
              <a:rPr lang="en-US" dirty="0"/>
              <a:t>and </a:t>
            </a:r>
            <a:r>
              <a:rPr lang="en-US" dirty="0">
                <a:solidFill>
                  <a:srgbClr val="00B050"/>
                </a:solidFill>
              </a:rPr>
              <a:t>&lt;/</a:t>
            </a:r>
            <a:r>
              <a:rPr lang="en-US" dirty="0" err="1">
                <a:solidFill>
                  <a:srgbClr val="00B050"/>
                </a:solidFill>
              </a:rPr>
              <a:t>tr</a:t>
            </a:r>
            <a:r>
              <a:rPr lang="en-US" dirty="0">
                <a:solidFill>
                  <a:srgbClr val="00B050"/>
                </a:solidFill>
              </a:rPr>
              <a:t>&gt; </a:t>
            </a:r>
            <a:r>
              <a:rPr lang="en-US" dirty="0"/>
              <a:t>tags added between the </a:t>
            </a:r>
            <a:r>
              <a:rPr lang="en-US" dirty="0">
                <a:solidFill>
                  <a:srgbClr val="00B050"/>
                </a:solidFill>
              </a:rPr>
              <a:t>&lt;table&gt; </a:t>
            </a:r>
            <a:r>
              <a:rPr lang="en-US" dirty="0"/>
              <a:t>and </a:t>
            </a:r>
            <a:r>
              <a:rPr lang="en-US" dirty="0">
                <a:solidFill>
                  <a:srgbClr val="00B050"/>
                </a:solidFill>
              </a:rPr>
              <a:t>&lt;/table&gt; </a:t>
            </a:r>
            <a:r>
              <a:rPr lang="en-US" dirty="0"/>
              <a:t>tags determines the number of rows in the </a:t>
            </a:r>
            <a:r>
              <a:rPr lang="en-US" dirty="0" err="1"/>
              <a:t>table.Each</a:t>
            </a:r>
            <a:r>
              <a:rPr lang="en-US" dirty="0"/>
              <a:t> pair of </a:t>
            </a:r>
            <a:r>
              <a:rPr lang="en-US" dirty="0">
                <a:solidFill>
                  <a:srgbClr val="00B050"/>
                </a:solidFill>
              </a:rPr>
              <a:t>&lt;</a:t>
            </a:r>
            <a:r>
              <a:rPr lang="en-US" dirty="0" err="1">
                <a:solidFill>
                  <a:srgbClr val="00B050"/>
                </a:solidFill>
              </a:rPr>
              <a:t>tr</a:t>
            </a:r>
            <a:r>
              <a:rPr lang="en-US" dirty="0">
                <a:solidFill>
                  <a:srgbClr val="00B050"/>
                </a:solidFill>
              </a:rPr>
              <a:t>&gt; </a:t>
            </a:r>
            <a:r>
              <a:rPr lang="en-US" dirty="0"/>
              <a:t>and </a:t>
            </a:r>
            <a:r>
              <a:rPr lang="en-US" dirty="0">
                <a:solidFill>
                  <a:srgbClr val="00B050"/>
                </a:solidFill>
              </a:rPr>
              <a:t>&lt;/</a:t>
            </a:r>
            <a:r>
              <a:rPr lang="en-US" dirty="0" err="1">
                <a:solidFill>
                  <a:srgbClr val="00B050"/>
                </a:solidFill>
              </a:rPr>
              <a:t>tr</a:t>
            </a:r>
            <a:r>
              <a:rPr lang="en-US" dirty="0">
                <a:solidFill>
                  <a:srgbClr val="00B050"/>
                </a:solidFill>
              </a:rPr>
              <a:t>&gt; </a:t>
            </a:r>
            <a:r>
              <a:rPr lang="en-US" dirty="0"/>
              <a:t>tags contains several pairs of </a:t>
            </a:r>
            <a:r>
              <a:rPr lang="en-US" dirty="0">
                <a:solidFill>
                  <a:srgbClr val="00B050"/>
                </a:solidFill>
              </a:rPr>
              <a:t>&lt;td&gt; </a:t>
            </a:r>
            <a:r>
              <a:rPr lang="en-US" dirty="0"/>
              <a:t>and </a:t>
            </a:r>
            <a:r>
              <a:rPr lang="en-US" dirty="0">
                <a:solidFill>
                  <a:srgbClr val="00B050"/>
                </a:solidFill>
              </a:rPr>
              <a:t>&lt;/td&gt; </a:t>
            </a:r>
            <a:r>
              <a:rPr lang="en-US" dirty="0"/>
              <a:t>tags (or pairs of </a:t>
            </a:r>
            <a:r>
              <a:rPr lang="en-US" dirty="0">
                <a:solidFill>
                  <a:srgbClr val="00B050"/>
                </a:solidFill>
              </a:rPr>
              <a:t>&lt;</a:t>
            </a:r>
            <a:r>
              <a:rPr lang="en-US" dirty="0" err="1">
                <a:solidFill>
                  <a:srgbClr val="00B050"/>
                </a:solidFill>
              </a:rPr>
              <a:t>th</a:t>
            </a:r>
            <a:r>
              <a:rPr lang="en-US" dirty="0">
                <a:solidFill>
                  <a:srgbClr val="00B050"/>
                </a:solidFill>
              </a:rPr>
              <a:t>&gt; </a:t>
            </a:r>
            <a:r>
              <a:rPr lang="en-US" dirty="0"/>
              <a:t>and </a:t>
            </a:r>
            <a:r>
              <a:rPr lang="en-US" dirty="0">
                <a:solidFill>
                  <a:srgbClr val="00B050"/>
                </a:solidFill>
              </a:rPr>
              <a:t>&lt;/</a:t>
            </a:r>
            <a:r>
              <a:rPr lang="en-US" dirty="0" err="1">
                <a:solidFill>
                  <a:srgbClr val="00B050"/>
                </a:solidFill>
              </a:rPr>
              <a:t>th</a:t>
            </a:r>
            <a:r>
              <a:rPr lang="en-US" dirty="0">
                <a:solidFill>
                  <a:srgbClr val="00B050"/>
                </a:solidFill>
              </a:rPr>
              <a:t>&gt; </a:t>
            </a:r>
            <a:r>
              <a:rPr lang="en-US" dirty="0"/>
              <a:t>tags for the row containing  column headings) to determine the number of columns in the table.</a:t>
            </a:r>
          </a:p>
        </p:txBody>
      </p:sp>
    </p:spTree>
    <p:extLst>
      <p:ext uri="{BB962C8B-B14F-4D97-AF65-F5344CB8AC3E}">
        <p14:creationId xmlns:p14="http://schemas.microsoft.com/office/powerpoint/2010/main" val="14146897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noGrp="1"/>
          </p:cNvSpPr>
          <p:nvPr>
            <p:ph type="title"/>
          </p:nvPr>
        </p:nvSpPr>
        <p:spPr>
          <a:xfrm>
            <a:off x="838200" y="365126"/>
            <a:ext cx="10515600" cy="5106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dirty="0"/>
          </a:p>
        </p:txBody>
      </p:sp>
      <p:sp>
        <p:nvSpPr>
          <p:cNvPr id="7" name="Title 1"/>
          <p:cNvSpPr txBox="1">
            <a:spLocks/>
          </p:cNvSpPr>
          <p:nvPr/>
        </p:nvSpPr>
        <p:spPr>
          <a:xfrm>
            <a:off x="1930623" y="103480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Table.html</a:t>
            </a:r>
          </a:p>
        </p:txBody>
      </p:sp>
      <p:sp>
        <p:nvSpPr>
          <p:cNvPr id="8" name="Title 1"/>
          <p:cNvSpPr txBox="1">
            <a:spLocks/>
          </p:cNvSpPr>
          <p:nvPr/>
        </p:nvSpPr>
        <p:spPr>
          <a:xfrm>
            <a:off x="7116381" y="1270184"/>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10" name="Content Placeholder 9"/>
          <p:cNvPicPr>
            <a:picLocks noGrp="1" noChangeAspect="1"/>
          </p:cNvPicPr>
          <p:nvPr>
            <p:ph idx="1"/>
          </p:nvPr>
        </p:nvPicPr>
        <p:blipFill>
          <a:blip r:embed="rId2"/>
          <a:stretch>
            <a:fillRect/>
          </a:stretch>
        </p:blipFill>
        <p:spPr>
          <a:xfrm>
            <a:off x="577311" y="1399439"/>
            <a:ext cx="4921967" cy="5280981"/>
          </a:xfrm>
          <a:prstGeom prst="rect">
            <a:avLst/>
          </a:prstGeom>
        </p:spPr>
      </p:pic>
      <p:pic>
        <p:nvPicPr>
          <p:cNvPr id="12" name="Picture 11"/>
          <p:cNvPicPr>
            <a:picLocks noChangeAspect="1"/>
          </p:cNvPicPr>
          <p:nvPr/>
        </p:nvPicPr>
        <p:blipFill>
          <a:blip r:embed="rId3"/>
          <a:stretch>
            <a:fillRect/>
          </a:stretch>
        </p:blipFill>
        <p:spPr>
          <a:xfrm>
            <a:off x="6730886" y="3335963"/>
            <a:ext cx="3629025" cy="1190625"/>
          </a:xfrm>
          <a:prstGeom prst="rect">
            <a:avLst/>
          </a:prstGeom>
        </p:spPr>
      </p:pic>
    </p:spTree>
    <p:extLst>
      <p:ext uri="{BB962C8B-B14F-4D97-AF65-F5344CB8AC3E}">
        <p14:creationId xmlns:p14="http://schemas.microsoft.com/office/powerpoint/2010/main" val="1809194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a Caption to a Table</a:t>
            </a:r>
          </a:p>
        </p:txBody>
      </p:sp>
      <p:sp>
        <p:nvSpPr>
          <p:cNvPr id="3" name="Content Placeholder 2"/>
          <p:cNvSpPr>
            <a:spLocks noGrp="1"/>
          </p:cNvSpPr>
          <p:nvPr>
            <p:ph idx="1"/>
          </p:nvPr>
        </p:nvSpPr>
        <p:spPr/>
        <p:txBody>
          <a:bodyPr/>
          <a:lstStyle/>
          <a:p>
            <a:pPr marL="0" indent="0">
              <a:buNone/>
            </a:pPr>
            <a:r>
              <a:rPr lang="en-US" dirty="0"/>
              <a:t>A caption is a short description of a table that provides a brief explanation about it and helps you to understand its purpose. </a:t>
            </a:r>
          </a:p>
          <a:p>
            <a:pPr marL="0" indent="0">
              <a:buNone/>
            </a:pPr>
            <a:r>
              <a:rPr lang="en-US" dirty="0"/>
              <a:t>For example, when you create table containing the details about students, you can specify a relevant caption to it, such as Student Details.</a:t>
            </a:r>
          </a:p>
          <a:p>
            <a:pPr marL="0" indent="0">
              <a:buNone/>
            </a:pPr>
            <a:r>
              <a:rPr lang="en-US" dirty="0"/>
              <a:t>A caption is specified to a table with the </a:t>
            </a:r>
            <a:r>
              <a:rPr lang="en-US" dirty="0">
                <a:solidFill>
                  <a:srgbClr val="00B050"/>
                </a:solidFill>
              </a:rPr>
              <a:t>&lt;caption&gt; </a:t>
            </a:r>
            <a:r>
              <a:rPr lang="en-US" dirty="0"/>
              <a:t>tag.</a:t>
            </a:r>
          </a:p>
        </p:txBody>
      </p:sp>
    </p:spTree>
    <p:extLst>
      <p:ext uri="{BB962C8B-B14F-4D97-AF65-F5344CB8AC3E}">
        <p14:creationId xmlns:p14="http://schemas.microsoft.com/office/powerpoint/2010/main" val="13036383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262355" y="69995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TableCaption.html</a:t>
            </a:r>
          </a:p>
        </p:txBody>
      </p:sp>
      <p:sp>
        <p:nvSpPr>
          <p:cNvPr id="7" name="Title 1"/>
          <p:cNvSpPr txBox="1">
            <a:spLocks/>
          </p:cNvSpPr>
          <p:nvPr/>
        </p:nvSpPr>
        <p:spPr>
          <a:xfrm>
            <a:off x="7126845" y="725735"/>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
        <p:nvSpPr>
          <p:cNvPr id="8" name="Title 1"/>
          <p:cNvSpPr>
            <a:spLocks noGrp="1"/>
          </p:cNvSpPr>
          <p:nvPr>
            <p:ph type="title"/>
          </p:nvPr>
        </p:nvSpPr>
        <p:spPr>
          <a:xfrm>
            <a:off x="838200" y="133305"/>
            <a:ext cx="10515600" cy="523517"/>
          </a:xfrm>
        </p:spPr>
        <p:txBody>
          <a:bodyPr>
            <a:normAutofit fontScale="90000"/>
          </a:bodyPr>
          <a:lstStyle/>
          <a:p>
            <a:r>
              <a:rPr lang="en-US" dirty="0"/>
              <a:t>Specifying a Caption to a Table</a:t>
            </a:r>
          </a:p>
        </p:txBody>
      </p:sp>
      <p:pic>
        <p:nvPicPr>
          <p:cNvPr id="9" name="Content Placeholder 8"/>
          <p:cNvPicPr>
            <a:picLocks noGrp="1" noChangeAspect="1"/>
          </p:cNvPicPr>
          <p:nvPr>
            <p:ph idx="1"/>
          </p:nvPr>
        </p:nvPicPr>
        <p:blipFill>
          <a:blip r:embed="rId2"/>
          <a:stretch>
            <a:fillRect/>
          </a:stretch>
        </p:blipFill>
        <p:spPr>
          <a:xfrm>
            <a:off x="977428" y="1242167"/>
            <a:ext cx="4142964" cy="5416210"/>
          </a:xfrm>
          <a:prstGeom prst="rect">
            <a:avLst/>
          </a:prstGeom>
        </p:spPr>
      </p:pic>
      <p:pic>
        <p:nvPicPr>
          <p:cNvPr id="10" name="Picture 9"/>
          <p:cNvPicPr>
            <a:picLocks noChangeAspect="1"/>
          </p:cNvPicPr>
          <p:nvPr/>
        </p:nvPicPr>
        <p:blipFill>
          <a:blip r:embed="rId3"/>
          <a:stretch>
            <a:fillRect/>
          </a:stretch>
        </p:blipFill>
        <p:spPr>
          <a:xfrm>
            <a:off x="6692787" y="3011040"/>
            <a:ext cx="3133725" cy="1685925"/>
          </a:xfrm>
          <a:prstGeom prst="rect">
            <a:avLst/>
          </a:prstGeom>
        </p:spPr>
      </p:pic>
    </p:spTree>
    <p:extLst>
      <p:ext uri="{BB962C8B-B14F-4D97-AF65-F5344CB8AC3E}">
        <p14:creationId xmlns:p14="http://schemas.microsoft.com/office/powerpoint/2010/main" val="20477132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Table Heading</a:t>
            </a:r>
          </a:p>
        </p:txBody>
      </p:sp>
      <p:sp>
        <p:nvSpPr>
          <p:cNvPr id="3" name="Content Placeholder 2"/>
          <p:cNvSpPr>
            <a:spLocks noGrp="1"/>
          </p:cNvSpPr>
          <p:nvPr>
            <p:ph idx="1"/>
          </p:nvPr>
        </p:nvSpPr>
        <p:spPr/>
        <p:txBody>
          <a:bodyPr/>
          <a:lstStyle/>
          <a:p>
            <a:r>
              <a:rPr lang="en-US" dirty="0"/>
              <a:t>A table heading is used to specify the title of a particular cell.</a:t>
            </a:r>
          </a:p>
          <a:p>
            <a:r>
              <a:rPr lang="en-US" dirty="0"/>
              <a:t>For example, when you create a student database containing student name, date of birth, and address fields, you can specify these fields as table headers to facilitate better understanding.</a:t>
            </a:r>
          </a:p>
        </p:txBody>
      </p:sp>
    </p:spTree>
    <p:extLst>
      <p:ext uri="{BB962C8B-B14F-4D97-AF65-F5344CB8AC3E}">
        <p14:creationId xmlns:p14="http://schemas.microsoft.com/office/powerpoint/2010/main" val="16404859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5"/>
            <a:ext cx="10515600" cy="523517"/>
          </a:xfrm>
        </p:spPr>
        <p:txBody>
          <a:bodyPr>
            <a:normAutofit fontScale="90000"/>
          </a:bodyPr>
          <a:lstStyle/>
          <a:p>
            <a:r>
              <a:rPr lang="en-US" dirty="0"/>
              <a:t>Adding a Table Heading</a:t>
            </a:r>
          </a:p>
        </p:txBody>
      </p:sp>
      <p:sp>
        <p:nvSpPr>
          <p:cNvPr id="6" name="Title 1"/>
          <p:cNvSpPr txBox="1">
            <a:spLocks/>
          </p:cNvSpPr>
          <p:nvPr/>
        </p:nvSpPr>
        <p:spPr>
          <a:xfrm>
            <a:off x="2094929" y="88333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TableHeading.html</a:t>
            </a:r>
          </a:p>
        </p:txBody>
      </p:sp>
      <p:sp>
        <p:nvSpPr>
          <p:cNvPr id="7" name="Title 1"/>
          <p:cNvSpPr txBox="1">
            <a:spLocks/>
          </p:cNvSpPr>
          <p:nvPr/>
        </p:nvSpPr>
        <p:spPr>
          <a:xfrm>
            <a:off x="7895688" y="870452"/>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8" name="Content Placeholder 7"/>
          <p:cNvPicPr>
            <a:picLocks noGrp="1" noChangeAspect="1"/>
          </p:cNvPicPr>
          <p:nvPr>
            <p:ph idx="1"/>
          </p:nvPr>
        </p:nvPicPr>
        <p:blipFill>
          <a:blip r:embed="rId2"/>
          <a:stretch>
            <a:fillRect/>
          </a:stretch>
        </p:blipFill>
        <p:spPr>
          <a:xfrm>
            <a:off x="950786" y="1652050"/>
            <a:ext cx="4213642" cy="4980570"/>
          </a:xfrm>
          <a:prstGeom prst="rect">
            <a:avLst/>
          </a:prstGeom>
        </p:spPr>
      </p:pic>
      <p:pic>
        <p:nvPicPr>
          <p:cNvPr id="10" name="Picture 9"/>
          <p:cNvPicPr>
            <a:picLocks noChangeAspect="1"/>
          </p:cNvPicPr>
          <p:nvPr/>
        </p:nvPicPr>
        <p:blipFill>
          <a:blip r:embed="rId3"/>
          <a:stretch>
            <a:fillRect/>
          </a:stretch>
        </p:blipFill>
        <p:spPr>
          <a:xfrm>
            <a:off x="6569902" y="2861457"/>
            <a:ext cx="3971925" cy="1933575"/>
          </a:xfrm>
          <a:prstGeom prst="rect">
            <a:avLst/>
          </a:prstGeom>
        </p:spPr>
      </p:pic>
    </p:spTree>
    <p:extLst>
      <p:ext uri="{BB962C8B-B14F-4D97-AF65-F5344CB8AC3E}">
        <p14:creationId xmlns:p14="http://schemas.microsoft.com/office/powerpoint/2010/main" val="38390926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Table Border</a:t>
            </a:r>
          </a:p>
        </p:txBody>
      </p:sp>
      <p:sp>
        <p:nvSpPr>
          <p:cNvPr id="3" name="Content Placeholder 2"/>
          <p:cNvSpPr>
            <a:spLocks noGrp="1"/>
          </p:cNvSpPr>
          <p:nvPr>
            <p:ph idx="1"/>
          </p:nvPr>
        </p:nvSpPr>
        <p:spPr/>
        <p:txBody>
          <a:bodyPr/>
          <a:lstStyle/>
          <a:p>
            <a:r>
              <a:rPr lang="en-US" dirty="0"/>
              <a:t>When you create a table, it appears without border and looks incomplete.</a:t>
            </a:r>
          </a:p>
          <a:p>
            <a:r>
              <a:rPr lang="en-US" dirty="0"/>
              <a:t>You can add a border to a table with the </a:t>
            </a:r>
            <a:r>
              <a:rPr lang="en-US" dirty="0">
                <a:solidFill>
                  <a:srgbClr val="00B050"/>
                </a:solidFill>
              </a:rPr>
              <a:t>border</a:t>
            </a:r>
            <a:r>
              <a:rPr lang="en-US" dirty="0"/>
              <a:t> attribute of the </a:t>
            </a:r>
            <a:r>
              <a:rPr lang="en-US" dirty="0">
                <a:solidFill>
                  <a:srgbClr val="00B050"/>
                </a:solidFill>
              </a:rPr>
              <a:t>&lt;table&gt; </a:t>
            </a:r>
            <a:r>
              <a:rPr lang="en-US" dirty="0"/>
              <a:t>tag.</a:t>
            </a:r>
          </a:p>
          <a:p>
            <a:r>
              <a:rPr lang="en-US" dirty="0"/>
              <a:t>In addition to add a border to a table, you can also set the thickness of the border as per the need.</a:t>
            </a:r>
          </a:p>
        </p:txBody>
      </p:sp>
    </p:spTree>
    <p:extLst>
      <p:ext uri="{BB962C8B-B14F-4D97-AF65-F5344CB8AC3E}">
        <p14:creationId xmlns:p14="http://schemas.microsoft.com/office/powerpoint/2010/main" val="41567911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1" y="146186"/>
            <a:ext cx="10515600" cy="639426"/>
          </a:xfrm>
        </p:spPr>
        <p:txBody>
          <a:bodyPr>
            <a:normAutofit fontScale="90000"/>
          </a:bodyPr>
          <a:lstStyle/>
          <a:p>
            <a:r>
              <a:rPr lang="en-US" dirty="0"/>
              <a:t>Setting the Table Border</a:t>
            </a:r>
          </a:p>
        </p:txBody>
      </p:sp>
      <p:sp>
        <p:nvSpPr>
          <p:cNvPr id="6" name="Title 1"/>
          <p:cNvSpPr txBox="1">
            <a:spLocks/>
          </p:cNvSpPr>
          <p:nvPr/>
        </p:nvSpPr>
        <p:spPr>
          <a:xfrm>
            <a:off x="2177601" y="752766"/>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TableBorder.html</a:t>
            </a:r>
          </a:p>
        </p:txBody>
      </p:sp>
      <p:sp>
        <p:nvSpPr>
          <p:cNvPr id="7" name="Title 1"/>
          <p:cNvSpPr txBox="1">
            <a:spLocks/>
          </p:cNvSpPr>
          <p:nvPr/>
        </p:nvSpPr>
        <p:spPr>
          <a:xfrm>
            <a:off x="7741141" y="717037"/>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9" name="Picture 8"/>
          <p:cNvPicPr>
            <a:picLocks noChangeAspect="1"/>
          </p:cNvPicPr>
          <p:nvPr/>
        </p:nvPicPr>
        <p:blipFill>
          <a:blip r:embed="rId2"/>
          <a:stretch>
            <a:fillRect/>
          </a:stretch>
        </p:blipFill>
        <p:spPr>
          <a:xfrm>
            <a:off x="6151003" y="2800115"/>
            <a:ext cx="4448175" cy="1800225"/>
          </a:xfrm>
          <a:prstGeom prst="rect">
            <a:avLst/>
          </a:prstGeom>
        </p:spPr>
      </p:pic>
      <p:pic>
        <p:nvPicPr>
          <p:cNvPr id="11" name="Content Placeholder 10"/>
          <p:cNvPicPr>
            <a:picLocks noGrp="1" noChangeAspect="1"/>
          </p:cNvPicPr>
          <p:nvPr>
            <p:ph idx="1"/>
          </p:nvPr>
        </p:nvPicPr>
        <p:blipFill>
          <a:blip r:embed="rId3"/>
          <a:stretch>
            <a:fillRect/>
          </a:stretch>
        </p:blipFill>
        <p:spPr>
          <a:xfrm>
            <a:off x="489397" y="1330705"/>
            <a:ext cx="5164428" cy="5366309"/>
          </a:xfrm>
          <a:prstGeom prst="rect">
            <a:avLst/>
          </a:prstGeom>
        </p:spPr>
      </p:pic>
    </p:spTree>
    <p:extLst>
      <p:ext uri="{BB962C8B-B14F-4D97-AF65-F5344CB8AC3E}">
        <p14:creationId xmlns:p14="http://schemas.microsoft.com/office/powerpoint/2010/main" val="4041458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a Table and Cell Content</a:t>
            </a:r>
          </a:p>
        </p:txBody>
      </p:sp>
      <p:sp>
        <p:nvSpPr>
          <p:cNvPr id="3" name="Content Placeholder 2"/>
          <p:cNvSpPr>
            <a:spLocks noGrp="1"/>
          </p:cNvSpPr>
          <p:nvPr>
            <p:ph idx="1"/>
          </p:nvPr>
        </p:nvSpPr>
        <p:spPr/>
        <p:txBody>
          <a:bodyPr/>
          <a:lstStyle/>
          <a:p>
            <a:r>
              <a:rPr lang="en-US" dirty="0"/>
              <a:t>You can align your table with the </a:t>
            </a:r>
            <a:r>
              <a:rPr lang="en-US" dirty="0">
                <a:solidFill>
                  <a:srgbClr val="00B050"/>
                </a:solidFill>
              </a:rPr>
              <a:t>align</a:t>
            </a:r>
            <a:r>
              <a:rPr lang="en-US" dirty="0"/>
              <a:t> attribute of the </a:t>
            </a:r>
            <a:r>
              <a:rPr lang="en-US" dirty="0">
                <a:solidFill>
                  <a:srgbClr val="00B050"/>
                </a:solidFill>
              </a:rPr>
              <a:t>&lt;table&gt; </a:t>
            </a:r>
            <a:r>
              <a:rPr lang="en-US" dirty="0"/>
              <a:t>tag. You can also align the cell content inside a table by specifying the </a:t>
            </a:r>
            <a:r>
              <a:rPr lang="en-US" dirty="0">
                <a:solidFill>
                  <a:srgbClr val="00B050"/>
                </a:solidFill>
              </a:rPr>
              <a:t>align</a:t>
            </a:r>
            <a:r>
              <a:rPr lang="en-US" dirty="0"/>
              <a:t> attribute and its value inside the </a:t>
            </a:r>
            <a:r>
              <a:rPr lang="en-US" dirty="0">
                <a:solidFill>
                  <a:srgbClr val="00B050"/>
                </a:solidFill>
              </a:rPr>
              <a:t>&lt;</a:t>
            </a:r>
            <a:r>
              <a:rPr lang="en-US" dirty="0" err="1">
                <a:solidFill>
                  <a:srgbClr val="00B050"/>
                </a:solidFill>
              </a:rPr>
              <a:t>th</a:t>
            </a:r>
            <a:r>
              <a:rPr lang="en-US" dirty="0">
                <a:solidFill>
                  <a:srgbClr val="00B050"/>
                </a:solidFill>
              </a:rPr>
              <a:t>&gt; </a:t>
            </a:r>
            <a:r>
              <a:rPr lang="en-US" dirty="0"/>
              <a:t>tag or </a:t>
            </a:r>
            <a:r>
              <a:rPr lang="en-US" dirty="0">
                <a:solidFill>
                  <a:srgbClr val="00B050"/>
                </a:solidFill>
              </a:rPr>
              <a:t>&lt;td&gt; </a:t>
            </a:r>
            <a:r>
              <a:rPr lang="en-US" dirty="0"/>
              <a:t>tag</a:t>
            </a:r>
          </a:p>
          <a:p>
            <a:endParaRPr lang="en-US" dirty="0"/>
          </a:p>
          <a:p>
            <a:endParaRPr lang="en-US" dirty="0"/>
          </a:p>
          <a:p>
            <a:r>
              <a:rPr lang="en-US" dirty="0"/>
              <a:t>While creating a Web page, when you have both text and table, you can align your table as per the requirement. Table alignment can be done in one of the three different ways, such as left, right, and center.</a:t>
            </a:r>
          </a:p>
        </p:txBody>
      </p:sp>
      <p:sp>
        <p:nvSpPr>
          <p:cNvPr id="4" name="Title 1"/>
          <p:cNvSpPr txBox="1">
            <a:spLocks/>
          </p:cNvSpPr>
          <p:nvPr/>
        </p:nvSpPr>
        <p:spPr>
          <a:xfrm>
            <a:off x="838200" y="31190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Aligning a Table in a Web page</a:t>
            </a:r>
          </a:p>
        </p:txBody>
      </p:sp>
    </p:spTree>
    <p:extLst>
      <p:ext uri="{BB962C8B-B14F-4D97-AF65-F5344CB8AC3E}">
        <p14:creationId xmlns:p14="http://schemas.microsoft.com/office/powerpoint/2010/main" val="31250473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564" y="386366"/>
            <a:ext cx="10515600" cy="605307"/>
          </a:xfrm>
        </p:spPr>
        <p:txBody>
          <a:bodyPr>
            <a:normAutofit fontScale="90000"/>
          </a:bodyPr>
          <a:lstStyle/>
          <a:p>
            <a:r>
              <a:rPr lang="en-US" dirty="0"/>
              <a:t>Aligning a Table in a Web page</a:t>
            </a:r>
            <a:br>
              <a:rPr lang="en-US" dirty="0"/>
            </a:br>
            <a:endParaRPr lang="en-US" dirty="0"/>
          </a:p>
        </p:txBody>
      </p:sp>
      <p:sp>
        <p:nvSpPr>
          <p:cNvPr id="6" name="Title 1"/>
          <p:cNvSpPr txBox="1">
            <a:spLocks/>
          </p:cNvSpPr>
          <p:nvPr/>
        </p:nvSpPr>
        <p:spPr>
          <a:xfrm>
            <a:off x="2177601" y="752766"/>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AlignTable.html</a:t>
            </a:r>
          </a:p>
        </p:txBody>
      </p:sp>
      <p:sp>
        <p:nvSpPr>
          <p:cNvPr id="7" name="Title 1"/>
          <p:cNvSpPr txBox="1">
            <a:spLocks/>
          </p:cNvSpPr>
          <p:nvPr/>
        </p:nvSpPr>
        <p:spPr>
          <a:xfrm>
            <a:off x="7741141" y="717037"/>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3" name="Picture 2"/>
          <p:cNvPicPr>
            <a:picLocks noChangeAspect="1"/>
          </p:cNvPicPr>
          <p:nvPr/>
        </p:nvPicPr>
        <p:blipFill>
          <a:blip r:embed="rId2"/>
          <a:stretch>
            <a:fillRect/>
          </a:stretch>
        </p:blipFill>
        <p:spPr>
          <a:xfrm>
            <a:off x="5241701" y="2506349"/>
            <a:ext cx="6581105" cy="2257425"/>
          </a:xfrm>
          <a:prstGeom prst="rect">
            <a:avLst/>
          </a:prstGeom>
        </p:spPr>
      </p:pic>
      <p:pic>
        <p:nvPicPr>
          <p:cNvPr id="10" name="Content Placeholder 9"/>
          <p:cNvPicPr>
            <a:picLocks noGrp="1" noChangeAspect="1"/>
          </p:cNvPicPr>
          <p:nvPr>
            <p:ph idx="1"/>
          </p:nvPr>
        </p:nvPicPr>
        <p:blipFill>
          <a:blip r:embed="rId3"/>
          <a:stretch>
            <a:fillRect/>
          </a:stretch>
        </p:blipFill>
        <p:spPr>
          <a:xfrm>
            <a:off x="386366" y="1358073"/>
            <a:ext cx="4481847" cy="5313183"/>
          </a:xfrm>
          <a:prstGeom prst="rect">
            <a:avLst/>
          </a:prstGeom>
        </p:spPr>
      </p:pic>
    </p:spTree>
    <p:extLst>
      <p:ext uri="{BB962C8B-B14F-4D97-AF65-F5344CB8AC3E}">
        <p14:creationId xmlns:p14="http://schemas.microsoft.com/office/powerpoint/2010/main" val="22001065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the Cell Content</a:t>
            </a:r>
          </a:p>
        </p:txBody>
      </p:sp>
      <p:sp>
        <p:nvSpPr>
          <p:cNvPr id="3" name="Content Placeholder 2"/>
          <p:cNvSpPr>
            <a:spLocks noGrp="1"/>
          </p:cNvSpPr>
          <p:nvPr>
            <p:ph idx="1"/>
          </p:nvPr>
        </p:nvSpPr>
        <p:spPr/>
        <p:txBody>
          <a:bodyPr/>
          <a:lstStyle/>
          <a:p>
            <a:r>
              <a:rPr lang="en-US" dirty="0"/>
              <a:t>You can also align cell content similar to a table, in one of the three different ways:</a:t>
            </a:r>
          </a:p>
          <a:p>
            <a:pPr marL="514350" indent="-514350">
              <a:buFont typeface="+mj-lt"/>
              <a:buAutoNum type="arabicPeriod"/>
            </a:pPr>
            <a:r>
              <a:rPr lang="en-US" dirty="0"/>
              <a:t>Left</a:t>
            </a:r>
          </a:p>
          <a:p>
            <a:pPr marL="514350" indent="-514350">
              <a:buFont typeface="+mj-lt"/>
              <a:buAutoNum type="arabicPeriod"/>
            </a:pPr>
            <a:r>
              <a:rPr lang="en-US" dirty="0"/>
              <a:t>Right</a:t>
            </a:r>
          </a:p>
          <a:p>
            <a:pPr marL="514350" indent="-514350">
              <a:buFont typeface="+mj-lt"/>
              <a:buAutoNum type="arabicPeriod"/>
            </a:pPr>
            <a:r>
              <a:rPr lang="en-US" dirty="0"/>
              <a:t>center</a:t>
            </a:r>
          </a:p>
        </p:txBody>
      </p:sp>
    </p:spTree>
    <p:extLst>
      <p:ext uri="{BB962C8B-B14F-4D97-AF65-F5344CB8AC3E}">
        <p14:creationId xmlns:p14="http://schemas.microsoft.com/office/powerpoint/2010/main" val="37891322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957" y="94668"/>
            <a:ext cx="10515600" cy="575033"/>
          </a:xfrm>
        </p:spPr>
        <p:txBody>
          <a:bodyPr>
            <a:normAutofit fontScale="90000"/>
          </a:bodyPr>
          <a:lstStyle/>
          <a:p>
            <a:r>
              <a:rPr lang="en-US" dirty="0"/>
              <a:t>Aligning the Cell Content</a:t>
            </a:r>
          </a:p>
        </p:txBody>
      </p:sp>
      <p:sp>
        <p:nvSpPr>
          <p:cNvPr id="5" name="Title 1"/>
          <p:cNvSpPr txBox="1">
            <a:spLocks/>
          </p:cNvSpPr>
          <p:nvPr/>
        </p:nvSpPr>
        <p:spPr>
          <a:xfrm>
            <a:off x="2177601" y="752766"/>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AlignContent.html</a:t>
            </a:r>
          </a:p>
        </p:txBody>
      </p:sp>
      <p:sp>
        <p:nvSpPr>
          <p:cNvPr id="7" name="Title 1"/>
          <p:cNvSpPr txBox="1">
            <a:spLocks/>
          </p:cNvSpPr>
          <p:nvPr/>
        </p:nvSpPr>
        <p:spPr>
          <a:xfrm>
            <a:off x="7741141" y="717037"/>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3" name="Picture 2"/>
          <p:cNvPicPr>
            <a:picLocks noChangeAspect="1"/>
          </p:cNvPicPr>
          <p:nvPr/>
        </p:nvPicPr>
        <p:blipFill>
          <a:blip r:embed="rId2"/>
          <a:stretch>
            <a:fillRect/>
          </a:stretch>
        </p:blipFill>
        <p:spPr>
          <a:xfrm>
            <a:off x="5995048" y="2588720"/>
            <a:ext cx="5095875" cy="2066925"/>
          </a:xfrm>
          <a:prstGeom prst="rect">
            <a:avLst/>
          </a:prstGeom>
        </p:spPr>
      </p:pic>
      <p:pic>
        <p:nvPicPr>
          <p:cNvPr id="9" name="Content Placeholder 8"/>
          <p:cNvPicPr>
            <a:picLocks noGrp="1" noChangeAspect="1"/>
          </p:cNvPicPr>
          <p:nvPr>
            <p:ph idx="1"/>
          </p:nvPr>
        </p:nvPicPr>
        <p:blipFill>
          <a:blip r:embed="rId3"/>
          <a:stretch>
            <a:fillRect/>
          </a:stretch>
        </p:blipFill>
        <p:spPr>
          <a:xfrm>
            <a:off x="373487" y="1294976"/>
            <a:ext cx="5306095" cy="5389159"/>
          </a:xfrm>
          <a:prstGeom prst="rect">
            <a:avLst/>
          </a:prstGeom>
        </p:spPr>
      </p:pic>
    </p:spTree>
    <p:extLst>
      <p:ext uri="{BB962C8B-B14F-4D97-AF65-F5344CB8AC3E}">
        <p14:creationId xmlns:p14="http://schemas.microsoft.com/office/powerpoint/2010/main" val="42523603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Width of a Table and Table Columns</a:t>
            </a:r>
          </a:p>
        </p:txBody>
      </p:sp>
      <p:sp>
        <p:nvSpPr>
          <p:cNvPr id="3" name="Content Placeholder 2"/>
          <p:cNvSpPr>
            <a:spLocks noGrp="1"/>
          </p:cNvSpPr>
          <p:nvPr>
            <p:ph idx="1"/>
          </p:nvPr>
        </p:nvSpPr>
        <p:spPr/>
        <p:txBody>
          <a:bodyPr/>
          <a:lstStyle/>
          <a:p>
            <a:r>
              <a:rPr lang="en-US" dirty="0"/>
              <a:t>If you are creating a table with large number of columns, which makes it difficult to see the records clearly, you can increase the table width to enhance visibility. You can also decrease the table width as per the requirement.</a:t>
            </a:r>
          </a:p>
          <a:p>
            <a:r>
              <a:rPr lang="en-US" dirty="0"/>
              <a:t>If your table contains large values and the small size of columns effects its visibility, you can increase the column width. You can also decrease the column width as per the requirement.</a:t>
            </a:r>
          </a:p>
          <a:p>
            <a:r>
              <a:rPr lang="en-US" dirty="0"/>
              <a:t>You can specify the width of both table and table columns using the </a:t>
            </a:r>
            <a:r>
              <a:rPr lang="en-US" dirty="0">
                <a:solidFill>
                  <a:srgbClr val="00B050"/>
                </a:solidFill>
              </a:rPr>
              <a:t>width</a:t>
            </a:r>
            <a:r>
              <a:rPr lang="en-US" dirty="0"/>
              <a:t> attribute of</a:t>
            </a:r>
            <a:r>
              <a:rPr lang="en-US" dirty="0">
                <a:solidFill>
                  <a:srgbClr val="00B050"/>
                </a:solidFill>
              </a:rPr>
              <a:t> &lt;table&gt; </a:t>
            </a:r>
            <a:r>
              <a:rPr lang="en-US" dirty="0"/>
              <a:t>,</a:t>
            </a:r>
            <a:r>
              <a:rPr lang="en-US" dirty="0">
                <a:solidFill>
                  <a:srgbClr val="00B050"/>
                </a:solidFill>
              </a:rPr>
              <a:t> &lt;</a:t>
            </a:r>
            <a:r>
              <a:rPr lang="en-US" dirty="0" err="1">
                <a:solidFill>
                  <a:srgbClr val="00B050"/>
                </a:solidFill>
              </a:rPr>
              <a:t>th</a:t>
            </a:r>
            <a:r>
              <a:rPr lang="en-US" dirty="0">
                <a:solidFill>
                  <a:srgbClr val="00B050"/>
                </a:solidFill>
              </a:rPr>
              <a:t>&gt;</a:t>
            </a:r>
            <a:r>
              <a:rPr lang="en-US" dirty="0"/>
              <a:t>, and </a:t>
            </a:r>
            <a:r>
              <a:rPr lang="en-US" dirty="0">
                <a:solidFill>
                  <a:srgbClr val="00B050"/>
                </a:solidFill>
              </a:rPr>
              <a:t>&lt;td&gt; </a:t>
            </a:r>
            <a:r>
              <a:rPr lang="en-US" dirty="0"/>
              <a:t>tags respectively. </a:t>
            </a:r>
          </a:p>
        </p:txBody>
      </p:sp>
    </p:spTree>
    <p:extLst>
      <p:ext uri="{BB962C8B-B14F-4D97-AF65-F5344CB8AC3E}">
        <p14:creationId xmlns:p14="http://schemas.microsoft.com/office/powerpoint/2010/main" val="430013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Width of a Table</a:t>
            </a:r>
          </a:p>
        </p:txBody>
      </p:sp>
      <p:sp>
        <p:nvSpPr>
          <p:cNvPr id="3" name="Content Placeholder 2"/>
          <p:cNvSpPr>
            <a:spLocks noGrp="1"/>
          </p:cNvSpPr>
          <p:nvPr>
            <p:ph idx="1"/>
          </p:nvPr>
        </p:nvSpPr>
        <p:spPr/>
        <p:txBody>
          <a:bodyPr/>
          <a:lstStyle/>
          <a:p>
            <a:r>
              <a:rPr lang="en-US" dirty="0"/>
              <a:t>A table width can be expressed as an absolute value in pixels or as a percentage of screen width.</a:t>
            </a:r>
          </a:p>
          <a:p>
            <a:r>
              <a:rPr lang="en-US" dirty="0"/>
              <a:t>If you have a table of graphics, such as a Navigation bar, it is better to define the table width in pixels.</a:t>
            </a:r>
          </a:p>
          <a:p>
            <a:r>
              <a:rPr lang="en-US" dirty="0"/>
              <a:t>If you have a table of text, such as student record, it is better to define the table width in percentage.</a:t>
            </a:r>
          </a:p>
        </p:txBody>
      </p:sp>
    </p:spTree>
    <p:extLst>
      <p:ext uri="{BB962C8B-B14F-4D97-AF65-F5344CB8AC3E}">
        <p14:creationId xmlns:p14="http://schemas.microsoft.com/office/powerpoint/2010/main" val="27183216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028" y="133305"/>
            <a:ext cx="10515600" cy="781095"/>
          </a:xfrm>
        </p:spPr>
        <p:txBody>
          <a:bodyPr/>
          <a:lstStyle/>
          <a:p>
            <a:r>
              <a:rPr lang="en-US" dirty="0"/>
              <a:t>Setting the Width of a Table</a:t>
            </a:r>
          </a:p>
        </p:txBody>
      </p:sp>
      <p:sp>
        <p:nvSpPr>
          <p:cNvPr id="8" name="Title 1"/>
          <p:cNvSpPr txBox="1">
            <a:spLocks/>
          </p:cNvSpPr>
          <p:nvPr/>
        </p:nvSpPr>
        <p:spPr>
          <a:xfrm>
            <a:off x="2216238" y="104897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TableWidth.html</a:t>
            </a:r>
          </a:p>
        </p:txBody>
      </p:sp>
      <p:sp>
        <p:nvSpPr>
          <p:cNvPr id="9" name="Title 1"/>
          <p:cNvSpPr txBox="1">
            <a:spLocks/>
          </p:cNvSpPr>
          <p:nvPr/>
        </p:nvSpPr>
        <p:spPr>
          <a:xfrm>
            <a:off x="7934324" y="101325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3" name="Picture 2"/>
          <p:cNvPicPr>
            <a:picLocks noChangeAspect="1"/>
          </p:cNvPicPr>
          <p:nvPr/>
        </p:nvPicPr>
        <p:blipFill>
          <a:blip r:embed="rId2"/>
          <a:stretch>
            <a:fillRect/>
          </a:stretch>
        </p:blipFill>
        <p:spPr>
          <a:xfrm>
            <a:off x="5074275" y="2336277"/>
            <a:ext cx="7117725" cy="2185446"/>
          </a:xfrm>
          <a:prstGeom prst="rect">
            <a:avLst/>
          </a:prstGeom>
        </p:spPr>
      </p:pic>
      <p:pic>
        <p:nvPicPr>
          <p:cNvPr id="5" name="Content Placeholder 4"/>
          <p:cNvPicPr>
            <a:picLocks noGrp="1" noChangeAspect="1"/>
          </p:cNvPicPr>
          <p:nvPr>
            <p:ph idx="1"/>
          </p:nvPr>
        </p:nvPicPr>
        <p:blipFill>
          <a:blip r:embed="rId3"/>
          <a:stretch>
            <a:fillRect/>
          </a:stretch>
        </p:blipFill>
        <p:spPr>
          <a:xfrm>
            <a:off x="411773" y="1591189"/>
            <a:ext cx="4495078" cy="5054310"/>
          </a:xfrm>
          <a:prstGeom prst="rect">
            <a:avLst/>
          </a:prstGeom>
        </p:spPr>
      </p:pic>
    </p:spTree>
    <p:extLst>
      <p:ext uri="{BB962C8B-B14F-4D97-AF65-F5344CB8AC3E}">
        <p14:creationId xmlns:p14="http://schemas.microsoft.com/office/powerpoint/2010/main" val="15420248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Width of Table Columns</a:t>
            </a:r>
          </a:p>
        </p:txBody>
      </p:sp>
      <p:sp>
        <p:nvSpPr>
          <p:cNvPr id="3" name="Content Placeholder 2"/>
          <p:cNvSpPr>
            <a:spLocks noGrp="1"/>
          </p:cNvSpPr>
          <p:nvPr>
            <p:ph idx="1"/>
          </p:nvPr>
        </p:nvSpPr>
        <p:spPr/>
        <p:txBody>
          <a:bodyPr/>
          <a:lstStyle/>
          <a:p>
            <a:r>
              <a:rPr lang="en-US" dirty="0"/>
              <a:t>A table column width can also be expressed as an absolute value in pixels , or as a percentage of screen width.</a:t>
            </a:r>
          </a:p>
          <a:p>
            <a:r>
              <a:rPr lang="en-US" dirty="0"/>
              <a:t>If the cell content contains graphics, such as a Navigation button, it is better to define the column width in pixels.</a:t>
            </a:r>
          </a:p>
          <a:p>
            <a:r>
              <a:rPr lang="en-US" dirty="0"/>
              <a:t>If the cell content contains text, such as student name, it is better to define the column width in percentage.</a:t>
            </a:r>
          </a:p>
        </p:txBody>
      </p:sp>
    </p:spTree>
    <p:extLst>
      <p:ext uri="{BB962C8B-B14F-4D97-AF65-F5344CB8AC3E}">
        <p14:creationId xmlns:p14="http://schemas.microsoft.com/office/powerpoint/2010/main" val="12906759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2"/>
            <a:ext cx="10515600" cy="690943"/>
          </a:xfrm>
        </p:spPr>
        <p:txBody>
          <a:bodyPr>
            <a:normAutofit fontScale="90000"/>
          </a:bodyPr>
          <a:lstStyle/>
          <a:p>
            <a:r>
              <a:rPr lang="en-US" dirty="0"/>
              <a:t>Setting the Width of Table Columns</a:t>
            </a:r>
          </a:p>
        </p:txBody>
      </p:sp>
      <p:sp>
        <p:nvSpPr>
          <p:cNvPr id="5" name="Title 1"/>
          <p:cNvSpPr txBox="1">
            <a:spLocks/>
          </p:cNvSpPr>
          <p:nvPr/>
        </p:nvSpPr>
        <p:spPr>
          <a:xfrm>
            <a:off x="2216238" y="104897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ColumnWidth.html</a:t>
            </a:r>
          </a:p>
        </p:txBody>
      </p:sp>
      <p:sp>
        <p:nvSpPr>
          <p:cNvPr id="7" name="Title 1"/>
          <p:cNvSpPr txBox="1">
            <a:spLocks/>
          </p:cNvSpPr>
          <p:nvPr/>
        </p:nvSpPr>
        <p:spPr>
          <a:xfrm>
            <a:off x="7934324" y="101325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3" name="Picture 2"/>
          <p:cNvPicPr>
            <a:picLocks noChangeAspect="1"/>
          </p:cNvPicPr>
          <p:nvPr/>
        </p:nvPicPr>
        <p:blipFill>
          <a:blip r:embed="rId2"/>
          <a:stretch>
            <a:fillRect/>
          </a:stretch>
        </p:blipFill>
        <p:spPr>
          <a:xfrm>
            <a:off x="5161246" y="2412212"/>
            <a:ext cx="7030754" cy="2033576"/>
          </a:xfrm>
          <a:prstGeom prst="rect">
            <a:avLst/>
          </a:prstGeom>
        </p:spPr>
      </p:pic>
      <p:pic>
        <p:nvPicPr>
          <p:cNvPr id="9" name="Content Placeholder 8"/>
          <p:cNvPicPr>
            <a:picLocks noGrp="1" noChangeAspect="1"/>
          </p:cNvPicPr>
          <p:nvPr>
            <p:ph idx="1"/>
          </p:nvPr>
        </p:nvPicPr>
        <p:blipFill>
          <a:blip r:embed="rId3"/>
          <a:stretch>
            <a:fillRect/>
          </a:stretch>
        </p:blipFill>
        <p:spPr>
          <a:xfrm>
            <a:off x="297791" y="1591189"/>
            <a:ext cx="4776484" cy="5266811"/>
          </a:xfrm>
          <a:prstGeom prst="rect">
            <a:avLst/>
          </a:prstGeom>
        </p:spPr>
      </p:pic>
    </p:spTree>
    <p:extLst>
      <p:ext uri="{BB962C8B-B14F-4D97-AF65-F5344CB8AC3E}">
        <p14:creationId xmlns:p14="http://schemas.microsoft.com/office/powerpoint/2010/main" val="12350100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the Background Color of a Table</a:t>
            </a:r>
          </a:p>
        </p:txBody>
      </p:sp>
      <p:sp>
        <p:nvSpPr>
          <p:cNvPr id="3" name="Content Placeholder 2"/>
          <p:cNvSpPr>
            <a:spLocks noGrp="1"/>
          </p:cNvSpPr>
          <p:nvPr>
            <p:ph idx="1"/>
          </p:nvPr>
        </p:nvSpPr>
        <p:spPr/>
        <p:txBody>
          <a:bodyPr/>
          <a:lstStyle/>
          <a:p>
            <a:r>
              <a:rPr lang="en-US" dirty="0"/>
              <a:t>If you want to change the Background Color for the entire Table, use the </a:t>
            </a:r>
            <a:r>
              <a:rPr lang="en-US" dirty="0" err="1">
                <a:solidFill>
                  <a:srgbClr val="00B050"/>
                </a:solidFill>
              </a:rPr>
              <a:t>bgcolor</a:t>
            </a:r>
            <a:r>
              <a:rPr lang="en-US" dirty="0"/>
              <a:t> attribute in the </a:t>
            </a:r>
            <a:r>
              <a:rPr lang="en-US" dirty="0">
                <a:solidFill>
                  <a:srgbClr val="00B050"/>
                </a:solidFill>
              </a:rPr>
              <a:t>&lt;table&gt; </a:t>
            </a:r>
            <a:r>
              <a:rPr lang="en-US" dirty="0"/>
              <a:t>tag.</a:t>
            </a:r>
          </a:p>
          <a:p>
            <a:r>
              <a:rPr lang="en-US" dirty="0"/>
              <a:t>You can also change the color for the entire row by inserting the </a:t>
            </a:r>
            <a:r>
              <a:rPr lang="en-US" dirty="0" err="1">
                <a:solidFill>
                  <a:srgbClr val="00B050"/>
                </a:solidFill>
              </a:rPr>
              <a:t>bgcolor</a:t>
            </a:r>
            <a:r>
              <a:rPr lang="en-US" dirty="0">
                <a:solidFill>
                  <a:srgbClr val="00B050"/>
                </a:solidFill>
              </a:rPr>
              <a:t> </a:t>
            </a:r>
            <a:r>
              <a:rPr lang="en-US" dirty="0"/>
              <a:t>attribute inside the </a:t>
            </a:r>
            <a:r>
              <a:rPr lang="en-US" dirty="0">
                <a:solidFill>
                  <a:srgbClr val="00B050"/>
                </a:solidFill>
              </a:rPr>
              <a:t>&lt;</a:t>
            </a:r>
            <a:r>
              <a:rPr lang="en-US" dirty="0" err="1">
                <a:solidFill>
                  <a:srgbClr val="00B050"/>
                </a:solidFill>
              </a:rPr>
              <a:t>tr</a:t>
            </a:r>
            <a:r>
              <a:rPr lang="en-US" dirty="0">
                <a:solidFill>
                  <a:srgbClr val="00B050"/>
                </a:solidFill>
              </a:rPr>
              <a:t>&gt; </a:t>
            </a:r>
            <a:r>
              <a:rPr lang="en-US" dirty="0"/>
              <a:t>tag.</a:t>
            </a:r>
          </a:p>
          <a:p>
            <a:r>
              <a:rPr lang="en-US" dirty="0"/>
              <a:t>You can change the color for the individual cell by inserting the </a:t>
            </a:r>
            <a:r>
              <a:rPr lang="en-US" dirty="0" err="1">
                <a:solidFill>
                  <a:srgbClr val="00B050"/>
                </a:solidFill>
              </a:rPr>
              <a:t>bgcolor</a:t>
            </a:r>
            <a:r>
              <a:rPr lang="en-US" dirty="0">
                <a:solidFill>
                  <a:srgbClr val="00B050"/>
                </a:solidFill>
              </a:rPr>
              <a:t> </a:t>
            </a:r>
            <a:r>
              <a:rPr lang="en-US" dirty="0"/>
              <a:t>attribute inside the </a:t>
            </a:r>
            <a:r>
              <a:rPr lang="en-US" dirty="0">
                <a:solidFill>
                  <a:srgbClr val="00B050"/>
                </a:solidFill>
              </a:rPr>
              <a:t>&lt;td&gt; </a:t>
            </a:r>
            <a:r>
              <a:rPr lang="en-US" dirty="0"/>
              <a:t>tag.</a:t>
            </a:r>
          </a:p>
          <a:p>
            <a:r>
              <a:rPr lang="en-US" dirty="0"/>
              <a:t>To specify a color for the </a:t>
            </a:r>
            <a:r>
              <a:rPr lang="en-US" dirty="0" err="1">
                <a:solidFill>
                  <a:srgbClr val="00B050"/>
                </a:solidFill>
              </a:rPr>
              <a:t>bgcolor</a:t>
            </a:r>
            <a:r>
              <a:rPr lang="en-US" dirty="0">
                <a:solidFill>
                  <a:srgbClr val="00B050"/>
                </a:solidFill>
              </a:rPr>
              <a:t> </a:t>
            </a:r>
            <a:r>
              <a:rPr lang="en-US" dirty="0"/>
              <a:t>attribute, you can use a RGB value, such as #22dd55 and #22ddaa,as well as color name, such as white and yellow.</a:t>
            </a:r>
          </a:p>
        </p:txBody>
      </p:sp>
    </p:spTree>
    <p:extLst>
      <p:ext uri="{BB962C8B-B14F-4D97-AF65-F5344CB8AC3E}">
        <p14:creationId xmlns:p14="http://schemas.microsoft.com/office/powerpoint/2010/main" val="27025562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6"/>
            <a:ext cx="10515600" cy="703821"/>
          </a:xfrm>
        </p:spPr>
        <p:txBody>
          <a:bodyPr/>
          <a:lstStyle/>
          <a:p>
            <a:r>
              <a:rPr lang="en-US" dirty="0"/>
              <a:t>Changing the Background Color of a Table</a:t>
            </a:r>
          </a:p>
        </p:txBody>
      </p:sp>
      <p:sp>
        <p:nvSpPr>
          <p:cNvPr id="6" name="Title 1"/>
          <p:cNvSpPr txBox="1">
            <a:spLocks/>
          </p:cNvSpPr>
          <p:nvPr/>
        </p:nvSpPr>
        <p:spPr>
          <a:xfrm>
            <a:off x="2216238" y="104897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BackgroundColor.html</a:t>
            </a:r>
          </a:p>
        </p:txBody>
      </p:sp>
      <p:sp>
        <p:nvSpPr>
          <p:cNvPr id="7" name="Title 1"/>
          <p:cNvSpPr txBox="1">
            <a:spLocks/>
          </p:cNvSpPr>
          <p:nvPr/>
        </p:nvSpPr>
        <p:spPr>
          <a:xfrm>
            <a:off x="7934324" y="101325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3" name="Picture 2"/>
          <p:cNvPicPr>
            <a:picLocks noChangeAspect="1"/>
          </p:cNvPicPr>
          <p:nvPr/>
        </p:nvPicPr>
        <p:blipFill>
          <a:blip r:embed="rId2"/>
          <a:stretch>
            <a:fillRect/>
          </a:stretch>
        </p:blipFill>
        <p:spPr>
          <a:xfrm>
            <a:off x="4868214" y="2485073"/>
            <a:ext cx="7323785" cy="1887854"/>
          </a:xfrm>
          <a:prstGeom prst="rect">
            <a:avLst/>
          </a:prstGeom>
        </p:spPr>
      </p:pic>
      <p:pic>
        <p:nvPicPr>
          <p:cNvPr id="9" name="Content Placeholder 8"/>
          <p:cNvPicPr>
            <a:picLocks noGrp="1" noChangeAspect="1"/>
          </p:cNvPicPr>
          <p:nvPr>
            <p:ph idx="1"/>
          </p:nvPr>
        </p:nvPicPr>
        <p:blipFill>
          <a:blip r:embed="rId3"/>
          <a:stretch>
            <a:fillRect/>
          </a:stretch>
        </p:blipFill>
        <p:spPr>
          <a:xfrm>
            <a:off x="196341" y="1591189"/>
            <a:ext cx="4671873" cy="5157341"/>
          </a:xfrm>
          <a:prstGeom prst="rect">
            <a:avLst/>
          </a:prstGeom>
        </p:spPr>
      </p:pic>
    </p:spTree>
    <p:extLst>
      <p:ext uri="{BB962C8B-B14F-4D97-AF65-F5344CB8AC3E}">
        <p14:creationId xmlns:p14="http://schemas.microsoft.com/office/powerpoint/2010/main" val="17190308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Cell Padding and Cell Spacing</a:t>
            </a:r>
          </a:p>
        </p:txBody>
      </p:sp>
      <p:sp>
        <p:nvSpPr>
          <p:cNvPr id="3" name="Content Placeholder 2"/>
          <p:cNvSpPr>
            <a:spLocks noGrp="1"/>
          </p:cNvSpPr>
          <p:nvPr>
            <p:ph idx="1"/>
          </p:nvPr>
        </p:nvSpPr>
        <p:spPr/>
        <p:txBody>
          <a:bodyPr/>
          <a:lstStyle/>
          <a:p>
            <a:r>
              <a:rPr lang="en-US" dirty="0"/>
              <a:t>If you want extra space between your cell content and cell border, you can specify it by using cell padding.</a:t>
            </a:r>
          </a:p>
          <a:p>
            <a:r>
              <a:rPr lang="en-US" dirty="0"/>
              <a:t>If you want extra space between cell borders in the table, you can specify it by using cell spacing.</a:t>
            </a:r>
          </a:p>
        </p:txBody>
      </p:sp>
    </p:spTree>
    <p:extLst>
      <p:ext uri="{BB962C8B-B14F-4D97-AF65-F5344CB8AC3E}">
        <p14:creationId xmlns:p14="http://schemas.microsoft.com/office/powerpoint/2010/main" val="7551903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079" y="146186"/>
            <a:ext cx="10515600" cy="702658"/>
          </a:xfrm>
        </p:spPr>
        <p:txBody>
          <a:bodyPr/>
          <a:lstStyle/>
          <a:p>
            <a:r>
              <a:rPr lang="en-US" dirty="0"/>
              <a:t>Setting Cell Padding</a:t>
            </a:r>
          </a:p>
        </p:txBody>
      </p:sp>
      <p:sp>
        <p:nvSpPr>
          <p:cNvPr id="6" name="Title 1"/>
          <p:cNvSpPr txBox="1">
            <a:spLocks/>
          </p:cNvSpPr>
          <p:nvPr/>
        </p:nvSpPr>
        <p:spPr>
          <a:xfrm>
            <a:off x="2216238" y="104897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cellpadding.html</a:t>
            </a:r>
          </a:p>
        </p:txBody>
      </p:sp>
      <p:sp>
        <p:nvSpPr>
          <p:cNvPr id="7" name="Title 1"/>
          <p:cNvSpPr txBox="1">
            <a:spLocks/>
          </p:cNvSpPr>
          <p:nvPr/>
        </p:nvSpPr>
        <p:spPr>
          <a:xfrm>
            <a:off x="7934324" y="1013250"/>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8" name="Content Placeholder 7"/>
          <p:cNvPicPr>
            <a:picLocks noGrp="1" noChangeAspect="1"/>
          </p:cNvPicPr>
          <p:nvPr>
            <p:ph idx="1"/>
          </p:nvPr>
        </p:nvPicPr>
        <p:blipFill>
          <a:blip r:embed="rId2"/>
          <a:stretch>
            <a:fillRect/>
          </a:stretch>
        </p:blipFill>
        <p:spPr>
          <a:xfrm>
            <a:off x="290930" y="1626918"/>
            <a:ext cx="7052208" cy="5049838"/>
          </a:xfrm>
          <a:prstGeom prst="rect">
            <a:avLst/>
          </a:prstGeom>
        </p:spPr>
      </p:pic>
      <p:pic>
        <p:nvPicPr>
          <p:cNvPr id="9" name="Picture 8"/>
          <p:cNvPicPr>
            <a:picLocks noChangeAspect="1"/>
          </p:cNvPicPr>
          <p:nvPr/>
        </p:nvPicPr>
        <p:blipFill>
          <a:blip r:embed="rId3"/>
          <a:stretch>
            <a:fillRect/>
          </a:stretch>
        </p:blipFill>
        <p:spPr>
          <a:xfrm>
            <a:off x="4955418" y="2692131"/>
            <a:ext cx="6988054" cy="3133725"/>
          </a:xfrm>
          <a:prstGeom prst="rect">
            <a:avLst/>
          </a:prstGeom>
        </p:spPr>
      </p:pic>
    </p:spTree>
    <p:extLst>
      <p:ext uri="{BB962C8B-B14F-4D97-AF65-F5344CB8AC3E}">
        <p14:creationId xmlns:p14="http://schemas.microsoft.com/office/powerpoint/2010/main" val="7224824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Cell Spacing</a:t>
            </a:r>
          </a:p>
        </p:txBody>
      </p:sp>
      <p:sp>
        <p:nvSpPr>
          <p:cNvPr id="3" name="Content Placeholder 2"/>
          <p:cNvSpPr>
            <a:spLocks noGrp="1"/>
          </p:cNvSpPr>
          <p:nvPr>
            <p:ph idx="1"/>
          </p:nvPr>
        </p:nvSpPr>
        <p:spPr/>
        <p:txBody>
          <a:bodyPr/>
          <a:lstStyle/>
          <a:p>
            <a:r>
              <a:rPr lang="en-US" dirty="0"/>
              <a:t>Cell spacing is used to specify the space between the borders of cells. You can set the cell spacing with the </a:t>
            </a:r>
            <a:r>
              <a:rPr lang="en-US" dirty="0" err="1">
                <a:solidFill>
                  <a:srgbClr val="00B050"/>
                </a:solidFill>
              </a:rPr>
              <a:t>cellspacing</a:t>
            </a:r>
            <a:r>
              <a:rPr lang="en-US" dirty="0">
                <a:solidFill>
                  <a:srgbClr val="00B050"/>
                </a:solidFill>
              </a:rPr>
              <a:t> </a:t>
            </a:r>
            <a:r>
              <a:rPr lang="en-US" dirty="0"/>
              <a:t>attribute of the </a:t>
            </a:r>
            <a:r>
              <a:rPr lang="en-US" dirty="0">
                <a:solidFill>
                  <a:srgbClr val="00B050"/>
                </a:solidFill>
              </a:rPr>
              <a:t>&lt;table&gt; </a:t>
            </a:r>
            <a:r>
              <a:rPr lang="en-US" dirty="0"/>
              <a:t>tag.</a:t>
            </a:r>
          </a:p>
        </p:txBody>
      </p:sp>
    </p:spTree>
    <p:extLst>
      <p:ext uri="{BB962C8B-B14F-4D97-AF65-F5344CB8AC3E}">
        <p14:creationId xmlns:p14="http://schemas.microsoft.com/office/powerpoint/2010/main" val="25118721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0579"/>
            <a:ext cx="10515600" cy="626548"/>
          </a:xfrm>
        </p:spPr>
        <p:txBody>
          <a:bodyPr>
            <a:normAutofit fontScale="90000"/>
          </a:bodyPr>
          <a:lstStyle/>
          <a:p>
            <a:r>
              <a:rPr lang="en-US" dirty="0"/>
              <a:t>Setting Cell Spacing</a:t>
            </a:r>
          </a:p>
        </p:txBody>
      </p:sp>
      <p:pic>
        <p:nvPicPr>
          <p:cNvPr id="4" name="Content Placeholder 3"/>
          <p:cNvPicPr>
            <a:picLocks noGrp="1" noChangeAspect="1"/>
          </p:cNvPicPr>
          <p:nvPr>
            <p:ph idx="1"/>
          </p:nvPr>
        </p:nvPicPr>
        <p:blipFill>
          <a:blip r:embed="rId2"/>
          <a:stretch>
            <a:fillRect/>
          </a:stretch>
        </p:blipFill>
        <p:spPr>
          <a:xfrm>
            <a:off x="382945" y="1008756"/>
            <a:ext cx="7820025" cy="5400675"/>
          </a:xfrm>
          <a:prstGeom prst="rect">
            <a:avLst/>
          </a:prstGeom>
        </p:spPr>
      </p:pic>
      <p:pic>
        <p:nvPicPr>
          <p:cNvPr id="5" name="Picture 4"/>
          <p:cNvPicPr>
            <a:picLocks noChangeAspect="1"/>
          </p:cNvPicPr>
          <p:nvPr/>
        </p:nvPicPr>
        <p:blipFill>
          <a:blip r:embed="rId3"/>
          <a:stretch>
            <a:fillRect/>
          </a:stretch>
        </p:blipFill>
        <p:spPr>
          <a:xfrm>
            <a:off x="5564544" y="2198061"/>
            <a:ext cx="6528718" cy="3286125"/>
          </a:xfrm>
          <a:prstGeom prst="rect">
            <a:avLst/>
          </a:prstGeom>
        </p:spPr>
      </p:pic>
      <p:sp>
        <p:nvSpPr>
          <p:cNvPr id="6" name="Title 1"/>
          <p:cNvSpPr txBox="1">
            <a:spLocks/>
          </p:cNvSpPr>
          <p:nvPr/>
        </p:nvSpPr>
        <p:spPr>
          <a:xfrm>
            <a:off x="5217015" y="65183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CellSpacing.html</a:t>
            </a:r>
          </a:p>
        </p:txBody>
      </p:sp>
      <p:sp>
        <p:nvSpPr>
          <p:cNvPr id="7" name="Title 1"/>
          <p:cNvSpPr txBox="1">
            <a:spLocks/>
          </p:cNvSpPr>
          <p:nvPr/>
        </p:nvSpPr>
        <p:spPr>
          <a:xfrm>
            <a:off x="8202970" y="621094"/>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214128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 and Columns</a:t>
            </a:r>
          </a:p>
        </p:txBody>
      </p:sp>
      <p:sp>
        <p:nvSpPr>
          <p:cNvPr id="3" name="Content Placeholder 2"/>
          <p:cNvSpPr>
            <a:spLocks noGrp="1"/>
          </p:cNvSpPr>
          <p:nvPr>
            <p:ph idx="1"/>
          </p:nvPr>
        </p:nvSpPr>
        <p:spPr/>
        <p:txBody>
          <a:bodyPr/>
          <a:lstStyle/>
          <a:p>
            <a:r>
              <a:rPr lang="en-US" dirty="0"/>
              <a:t>When you work with tables ,it is sometimes required to combine one or two adjacent cells into one. The process of combining one or more adjacent cells into one is known as spanning cells. The vertical spanning of cells is known as </a:t>
            </a:r>
            <a:r>
              <a:rPr lang="en-US" dirty="0" err="1"/>
              <a:t>rowspan</a:t>
            </a:r>
            <a:r>
              <a:rPr lang="en-US" dirty="0"/>
              <a:t> and the horizontal spanning of cells is known as </a:t>
            </a:r>
            <a:r>
              <a:rPr lang="en-US" dirty="0" err="1"/>
              <a:t>colspan</a:t>
            </a:r>
            <a:r>
              <a:rPr lang="en-US" dirty="0"/>
              <a:t>.</a:t>
            </a:r>
          </a:p>
        </p:txBody>
      </p:sp>
    </p:spTree>
    <p:extLst>
      <p:ext uri="{BB962C8B-B14F-4D97-AF65-F5344CB8AC3E}">
        <p14:creationId xmlns:p14="http://schemas.microsoft.com/office/powerpoint/2010/main" val="8557028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a:t>
            </a:r>
          </a:p>
        </p:txBody>
      </p:sp>
      <p:sp>
        <p:nvSpPr>
          <p:cNvPr id="3" name="Content Placeholder 2"/>
          <p:cNvSpPr>
            <a:spLocks noGrp="1"/>
          </p:cNvSpPr>
          <p:nvPr>
            <p:ph idx="1"/>
          </p:nvPr>
        </p:nvSpPr>
        <p:spPr/>
        <p:txBody>
          <a:bodyPr/>
          <a:lstStyle/>
          <a:p>
            <a:r>
              <a:rPr lang="en-US" dirty="0"/>
              <a:t>You can span cells vertically by using the </a:t>
            </a:r>
            <a:r>
              <a:rPr lang="en-US" dirty="0" err="1">
                <a:solidFill>
                  <a:srgbClr val="00B050"/>
                </a:solidFill>
              </a:rPr>
              <a:t>rowspan</a:t>
            </a:r>
            <a:r>
              <a:rPr lang="en-US" dirty="0"/>
              <a:t> attribute with the </a:t>
            </a:r>
            <a:r>
              <a:rPr lang="en-US" dirty="0">
                <a:solidFill>
                  <a:srgbClr val="00B050"/>
                </a:solidFill>
              </a:rPr>
              <a:t>&lt;td&gt; </a:t>
            </a:r>
            <a:r>
              <a:rPr lang="en-US" dirty="0"/>
              <a:t>or </a:t>
            </a:r>
            <a:r>
              <a:rPr lang="en-US" dirty="0">
                <a:solidFill>
                  <a:srgbClr val="00B050"/>
                </a:solidFill>
              </a:rPr>
              <a:t>&lt;</a:t>
            </a:r>
            <a:r>
              <a:rPr lang="en-US" dirty="0" err="1">
                <a:solidFill>
                  <a:srgbClr val="00B050"/>
                </a:solidFill>
              </a:rPr>
              <a:t>th</a:t>
            </a:r>
            <a:r>
              <a:rPr lang="en-US" dirty="0">
                <a:solidFill>
                  <a:srgbClr val="00B050"/>
                </a:solidFill>
              </a:rPr>
              <a:t>&gt; </a:t>
            </a:r>
            <a:r>
              <a:rPr lang="en-US" dirty="0"/>
              <a:t>tag. The </a:t>
            </a:r>
            <a:r>
              <a:rPr lang="en-US" dirty="0" err="1">
                <a:solidFill>
                  <a:srgbClr val="00B050"/>
                </a:solidFill>
              </a:rPr>
              <a:t>rowspan</a:t>
            </a:r>
            <a:r>
              <a:rPr lang="en-US" dirty="0"/>
              <a:t> attribute requires a number that is equal to the number of cells you want to combine vertically in one column.</a:t>
            </a:r>
          </a:p>
        </p:txBody>
      </p:sp>
    </p:spTree>
    <p:extLst>
      <p:ext uri="{BB962C8B-B14F-4D97-AF65-F5344CB8AC3E}">
        <p14:creationId xmlns:p14="http://schemas.microsoft.com/office/powerpoint/2010/main" val="24640440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076" y="210578"/>
            <a:ext cx="10515600" cy="523517"/>
          </a:xfrm>
        </p:spPr>
        <p:txBody>
          <a:bodyPr>
            <a:normAutofit fontScale="90000"/>
          </a:bodyPr>
          <a:lstStyle/>
          <a:p>
            <a:r>
              <a:rPr lang="en-US" dirty="0"/>
              <a:t>Spanning Rows</a:t>
            </a:r>
          </a:p>
        </p:txBody>
      </p:sp>
      <p:sp>
        <p:nvSpPr>
          <p:cNvPr id="5" name="Title 1"/>
          <p:cNvSpPr txBox="1">
            <a:spLocks/>
          </p:cNvSpPr>
          <p:nvPr/>
        </p:nvSpPr>
        <p:spPr>
          <a:xfrm>
            <a:off x="4083674" y="54478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RowSpan.html</a:t>
            </a:r>
          </a:p>
        </p:txBody>
      </p:sp>
      <p:sp>
        <p:nvSpPr>
          <p:cNvPr id="7" name="Title 1"/>
          <p:cNvSpPr txBox="1">
            <a:spLocks/>
          </p:cNvSpPr>
          <p:nvPr/>
        </p:nvSpPr>
        <p:spPr>
          <a:xfrm>
            <a:off x="8218299" y="472336"/>
            <a:ext cx="2858037" cy="61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8" name="Picture 7"/>
          <p:cNvPicPr>
            <a:picLocks noChangeAspect="1"/>
          </p:cNvPicPr>
          <p:nvPr/>
        </p:nvPicPr>
        <p:blipFill>
          <a:blip r:embed="rId2"/>
          <a:stretch>
            <a:fillRect/>
          </a:stretch>
        </p:blipFill>
        <p:spPr>
          <a:xfrm>
            <a:off x="6143222" y="2086377"/>
            <a:ext cx="5859887" cy="3141941"/>
          </a:xfrm>
          <a:prstGeom prst="rect">
            <a:avLst/>
          </a:prstGeom>
        </p:spPr>
      </p:pic>
      <p:pic>
        <p:nvPicPr>
          <p:cNvPr id="10" name="Content Placeholder 9"/>
          <p:cNvPicPr>
            <a:picLocks noGrp="1" noChangeAspect="1"/>
          </p:cNvPicPr>
          <p:nvPr>
            <p:ph idx="1"/>
          </p:nvPr>
        </p:nvPicPr>
        <p:blipFill>
          <a:blip r:embed="rId3"/>
          <a:stretch>
            <a:fillRect/>
          </a:stretch>
        </p:blipFill>
        <p:spPr>
          <a:xfrm>
            <a:off x="142740" y="1304757"/>
            <a:ext cx="6283817" cy="5151548"/>
          </a:xfrm>
          <a:prstGeom prst="rect">
            <a:avLst/>
          </a:prstGeom>
        </p:spPr>
      </p:pic>
    </p:spTree>
    <p:extLst>
      <p:ext uri="{BB962C8B-B14F-4D97-AF65-F5344CB8AC3E}">
        <p14:creationId xmlns:p14="http://schemas.microsoft.com/office/powerpoint/2010/main" val="3313342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Columns</a:t>
            </a:r>
          </a:p>
        </p:txBody>
      </p:sp>
      <p:sp>
        <p:nvSpPr>
          <p:cNvPr id="3" name="Content Placeholder 2"/>
          <p:cNvSpPr>
            <a:spLocks noGrp="1"/>
          </p:cNvSpPr>
          <p:nvPr>
            <p:ph idx="1"/>
          </p:nvPr>
        </p:nvSpPr>
        <p:spPr/>
        <p:txBody>
          <a:bodyPr/>
          <a:lstStyle/>
          <a:p>
            <a:r>
              <a:rPr lang="en-US" dirty="0"/>
              <a:t>You an span cells vertically by using the </a:t>
            </a:r>
            <a:r>
              <a:rPr lang="en-US" dirty="0" err="1">
                <a:solidFill>
                  <a:srgbClr val="00B050"/>
                </a:solidFill>
              </a:rPr>
              <a:t>colspan</a:t>
            </a:r>
            <a:r>
              <a:rPr lang="en-US" dirty="0"/>
              <a:t> attribute with the </a:t>
            </a:r>
            <a:r>
              <a:rPr lang="en-US" dirty="0">
                <a:solidFill>
                  <a:srgbClr val="00B050"/>
                </a:solidFill>
              </a:rPr>
              <a:t>&lt;td&gt; </a:t>
            </a:r>
            <a:r>
              <a:rPr lang="en-US" dirty="0"/>
              <a:t>or </a:t>
            </a:r>
            <a:r>
              <a:rPr lang="en-US" dirty="0">
                <a:solidFill>
                  <a:srgbClr val="00B050"/>
                </a:solidFill>
              </a:rPr>
              <a:t>&lt;</a:t>
            </a:r>
            <a:r>
              <a:rPr lang="en-US" dirty="0" err="1">
                <a:solidFill>
                  <a:srgbClr val="00B050"/>
                </a:solidFill>
              </a:rPr>
              <a:t>th</a:t>
            </a:r>
            <a:r>
              <a:rPr lang="en-US" dirty="0">
                <a:solidFill>
                  <a:srgbClr val="00B050"/>
                </a:solidFill>
              </a:rPr>
              <a:t>&gt; </a:t>
            </a:r>
            <a:r>
              <a:rPr lang="en-US" dirty="0"/>
              <a:t>tag.</a:t>
            </a:r>
          </a:p>
          <a:p>
            <a:r>
              <a:rPr lang="en-US" dirty="0"/>
              <a:t>The </a:t>
            </a:r>
            <a:r>
              <a:rPr lang="en-US" dirty="0" err="1">
                <a:solidFill>
                  <a:srgbClr val="00B050"/>
                </a:solidFill>
              </a:rPr>
              <a:t>colspan</a:t>
            </a:r>
            <a:r>
              <a:rPr lang="en-US" dirty="0"/>
              <a:t> attribute requires a number that is equal to the number of cells you want to combine horizontally into one column.</a:t>
            </a:r>
          </a:p>
        </p:txBody>
      </p:sp>
    </p:spTree>
    <p:extLst>
      <p:ext uri="{BB962C8B-B14F-4D97-AF65-F5344CB8AC3E}">
        <p14:creationId xmlns:p14="http://schemas.microsoft.com/office/powerpoint/2010/main" val="28116188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426"/>
            <a:ext cx="10515600" cy="412124"/>
          </a:xfrm>
        </p:spPr>
        <p:txBody>
          <a:bodyPr>
            <a:normAutofit fontScale="90000"/>
          </a:bodyPr>
          <a:lstStyle/>
          <a:p>
            <a:r>
              <a:rPr lang="en-US" dirty="0"/>
              <a:t>Spanning Columns</a:t>
            </a:r>
          </a:p>
        </p:txBody>
      </p:sp>
      <p:pic>
        <p:nvPicPr>
          <p:cNvPr id="4" name="Content Placeholder 3"/>
          <p:cNvPicPr>
            <a:picLocks noGrp="1" noChangeAspect="1"/>
          </p:cNvPicPr>
          <p:nvPr>
            <p:ph idx="1"/>
          </p:nvPr>
        </p:nvPicPr>
        <p:blipFill>
          <a:blip r:embed="rId2"/>
          <a:stretch>
            <a:fillRect/>
          </a:stretch>
        </p:blipFill>
        <p:spPr>
          <a:xfrm>
            <a:off x="232892" y="1055574"/>
            <a:ext cx="7401101" cy="5416550"/>
          </a:xfrm>
          <a:prstGeom prst="rect">
            <a:avLst/>
          </a:prstGeom>
        </p:spPr>
      </p:pic>
      <p:pic>
        <p:nvPicPr>
          <p:cNvPr id="5" name="Picture 4"/>
          <p:cNvPicPr>
            <a:picLocks noChangeAspect="1"/>
          </p:cNvPicPr>
          <p:nvPr/>
        </p:nvPicPr>
        <p:blipFill>
          <a:blip r:embed="rId3"/>
          <a:stretch>
            <a:fillRect/>
          </a:stretch>
        </p:blipFill>
        <p:spPr>
          <a:xfrm>
            <a:off x="5186899" y="1939812"/>
            <a:ext cx="6726059" cy="3648075"/>
          </a:xfrm>
          <a:prstGeom prst="rect">
            <a:avLst/>
          </a:prstGeom>
        </p:spPr>
      </p:pic>
      <p:sp>
        <p:nvSpPr>
          <p:cNvPr id="6" name="Title 1"/>
          <p:cNvSpPr txBox="1">
            <a:spLocks/>
          </p:cNvSpPr>
          <p:nvPr/>
        </p:nvSpPr>
        <p:spPr>
          <a:xfrm>
            <a:off x="4775956" y="60530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ColSpan.html</a:t>
            </a:r>
          </a:p>
        </p:txBody>
      </p:sp>
      <p:sp>
        <p:nvSpPr>
          <p:cNvPr id="7" name="Title 1"/>
          <p:cNvSpPr txBox="1">
            <a:spLocks/>
          </p:cNvSpPr>
          <p:nvPr/>
        </p:nvSpPr>
        <p:spPr>
          <a:xfrm>
            <a:off x="8223730" y="57955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2921441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Tables</a:t>
            </a:r>
          </a:p>
        </p:txBody>
      </p:sp>
      <p:sp>
        <p:nvSpPr>
          <p:cNvPr id="3" name="Content Placeholder 2"/>
          <p:cNvSpPr>
            <a:spLocks noGrp="1"/>
          </p:cNvSpPr>
          <p:nvPr>
            <p:ph idx="1"/>
          </p:nvPr>
        </p:nvSpPr>
        <p:spPr/>
        <p:txBody>
          <a:bodyPr/>
          <a:lstStyle/>
          <a:p>
            <a:r>
              <a:rPr lang="en-US" dirty="0"/>
              <a:t>Nesting refers to the placement of one thing inside another. For example, if you are creating a Web page with different types of tables placed one inside the other, you can nest all the tables.</a:t>
            </a:r>
          </a:p>
        </p:txBody>
      </p:sp>
    </p:spTree>
    <p:extLst>
      <p:ext uri="{BB962C8B-B14F-4D97-AF65-F5344CB8AC3E}">
        <p14:creationId xmlns:p14="http://schemas.microsoft.com/office/powerpoint/2010/main" val="41013027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352" y="184821"/>
            <a:ext cx="10515600" cy="587912"/>
          </a:xfrm>
        </p:spPr>
        <p:txBody>
          <a:bodyPr>
            <a:normAutofit fontScale="90000"/>
          </a:bodyPr>
          <a:lstStyle/>
          <a:p>
            <a:r>
              <a:rPr lang="en-US" dirty="0"/>
              <a:t>Nesting Tables</a:t>
            </a:r>
          </a:p>
        </p:txBody>
      </p:sp>
      <p:pic>
        <p:nvPicPr>
          <p:cNvPr id="4" name="Content Placeholder 3"/>
          <p:cNvPicPr>
            <a:picLocks noGrp="1" noChangeAspect="1"/>
          </p:cNvPicPr>
          <p:nvPr>
            <p:ph idx="1"/>
          </p:nvPr>
        </p:nvPicPr>
        <p:blipFill>
          <a:blip r:embed="rId2"/>
          <a:stretch>
            <a:fillRect/>
          </a:stretch>
        </p:blipFill>
        <p:spPr>
          <a:xfrm>
            <a:off x="632272" y="1349320"/>
            <a:ext cx="6419850" cy="5029200"/>
          </a:xfrm>
          <a:prstGeom prst="rect">
            <a:avLst/>
          </a:prstGeom>
        </p:spPr>
      </p:pic>
      <p:pic>
        <p:nvPicPr>
          <p:cNvPr id="5" name="Picture 4"/>
          <p:cNvPicPr>
            <a:picLocks noChangeAspect="1"/>
          </p:cNvPicPr>
          <p:nvPr/>
        </p:nvPicPr>
        <p:blipFill>
          <a:blip r:embed="rId3"/>
          <a:stretch>
            <a:fillRect/>
          </a:stretch>
        </p:blipFill>
        <p:spPr>
          <a:xfrm>
            <a:off x="4626869" y="4638675"/>
            <a:ext cx="6724650" cy="2219325"/>
          </a:xfrm>
          <a:prstGeom prst="rect">
            <a:avLst/>
          </a:prstGeom>
        </p:spPr>
      </p:pic>
      <p:sp>
        <p:nvSpPr>
          <p:cNvPr id="7" name="Title 1"/>
          <p:cNvSpPr txBox="1">
            <a:spLocks/>
          </p:cNvSpPr>
          <p:nvPr/>
        </p:nvSpPr>
        <p:spPr>
          <a:xfrm>
            <a:off x="4775956" y="60530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NestingTable.html</a:t>
            </a:r>
          </a:p>
        </p:txBody>
      </p:sp>
      <p:sp>
        <p:nvSpPr>
          <p:cNvPr id="8" name="Title 1"/>
          <p:cNvSpPr txBox="1">
            <a:spLocks/>
          </p:cNvSpPr>
          <p:nvPr/>
        </p:nvSpPr>
        <p:spPr>
          <a:xfrm>
            <a:off x="8328379" y="676143"/>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121376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EC3A-C6F1-4327-B4DF-2DDA2DB7A806}"/>
              </a:ext>
            </a:extLst>
          </p:cNvPr>
          <p:cNvSpPr>
            <a:spLocks noGrp="1"/>
          </p:cNvSpPr>
          <p:nvPr>
            <p:ph type="title"/>
          </p:nvPr>
        </p:nvSpPr>
        <p:spPr/>
        <p:txBody>
          <a:bodyPr/>
          <a:lstStyle/>
          <a:p>
            <a:r>
              <a:rPr lang="en-US" dirty="0"/>
              <a:t>To insert image in your webpage</a:t>
            </a:r>
            <a:endParaRPr lang="en-IN" dirty="0"/>
          </a:p>
        </p:txBody>
      </p:sp>
      <p:sp>
        <p:nvSpPr>
          <p:cNvPr id="3" name="Content Placeholder 2">
            <a:extLst>
              <a:ext uri="{FF2B5EF4-FFF2-40B4-BE49-F238E27FC236}">
                <a16:creationId xmlns:a16="http://schemas.microsoft.com/office/drawing/2014/main" xmlns="" id="{7E302CC1-87E3-81EF-A6EB-845150BA7B24}"/>
              </a:ext>
            </a:extLst>
          </p:cNvPr>
          <p:cNvSpPr>
            <a:spLocks noGrp="1"/>
          </p:cNvSpPr>
          <p:nvPr>
            <p:ph idx="1"/>
          </p:nvPr>
        </p:nvSpPr>
        <p:spPr/>
        <p:txBody>
          <a:bodyPr/>
          <a:lstStyle/>
          <a:p>
            <a:r>
              <a:rPr lang="en-US" dirty="0"/>
              <a:t>&lt;</a:t>
            </a:r>
            <a:r>
              <a:rPr lang="en-US" dirty="0" err="1"/>
              <a:t>img</a:t>
            </a:r>
            <a:r>
              <a:rPr lang="en-US" dirty="0"/>
              <a:t> </a:t>
            </a:r>
            <a:r>
              <a:rPr lang="en-US" dirty="0" err="1"/>
              <a:t>src</a:t>
            </a:r>
            <a:r>
              <a:rPr lang="en-US" dirty="0"/>
              <a:t>="your-image.jpg" alt="A description of the image"&gt;</a:t>
            </a:r>
            <a:endParaRPr lang="en-IN" dirty="0"/>
          </a:p>
        </p:txBody>
      </p:sp>
    </p:spTree>
    <p:extLst>
      <p:ext uri="{BB962C8B-B14F-4D97-AF65-F5344CB8AC3E}">
        <p14:creationId xmlns:p14="http://schemas.microsoft.com/office/powerpoint/2010/main" val="1840908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7190</TotalTime>
  <Words>5769</Words>
  <Application>Microsoft Office PowerPoint</Application>
  <PresentationFormat>Widescreen</PresentationFormat>
  <Paragraphs>564</Paragraphs>
  <Slides>91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91</vt:i4>
      </vt:variant>
    </vt:vector>
  </HeadingPairs>
  <TitlesOfParts>
    <vt:vector size="95" baseType="lpstr">
      <vt:lpstr>Arial</vt:lpstr>
      <vt:lpstr>Calibri</vt:lpstr>
      <vt:lpstr>Calibri Light</vt:lpstr>
      <vt:lpstr>Office Theme</vt:lpstr>
      <vt:lpstr>Bachelor Of Engineering  In  Information Technology  Semester Three, Second Year(Odd semester) 14th July  2025 to 22nd November 2025 </vt:lpstr>
      <vt:lpstr>App Development</vt:lpstr>
      <vt:lpstr>UNIT 1 :HTML  </vt:lpstr>
      <vt:lpstr>What is HTML?</vt:lpstr>
      <vt:lpstr>Example of an HTML (web) page</vt:lpstr>
      <vt:lpstr>&lt;html&gt;</vt:lpstr>
      <vt:lpstr>The head section</vt:lpstr>
      <vt:lpstr>The body section</vt:lpstr>
      <vt:lpstr>&lt;/html&gt;</vt:lpstr>
      <vt:lpstr>Elements</vt:lpstr>
      <vt:lpstr>The &lt;!DOCTYPE&gt; Element</vt:lpstr>
      <vt:lpstr>The &lt;html&gt; Element</vt:lpstr>
      <vt:lpstr>The &lt;head&gt; Element</vt:lpstr>
      <vt:lpstr>The &lt;title&gt; Element</vt:lpstr>
      <vt:lpstr>The &lt;body&gt; Element</vt:lpstr>
      <vt:lpstr>Attributes</vt:lpstr>
      <vt:lpstr>Attributes</vt:lpstr>
      <vt:lpstr>Attributes</vt:lpstr>
      <vt:lpstr>Attributes</vt:lpstr>
      <vt:lpstr>Attributes</vt:lpstr>
      <vt:lpstr>HTML Tags</vt:lpstr>
      <vt:lpstr>Headings</vt:lpstr>
      <vt:lpstr>Paragraphs</vt:lpstr>
      <vt:lpstr>Line breaks</vt:lpstr>
      <vt:lpstr>Creating Links to other pages</vt:lpstr>
      <vt:lpstr>Creating Links to other pages</vt:lpstr>
      <vt:lpstr>Forms</vt:lpstr>
      <vt:lpstr>Creating an HTML Form</vt:lpstr>
      <vt:lpstr>Attributes of the &lt;form&gt; Tag</vt:lpstr>
      <vt:lpstr>Creating a HTML login form</vt:lpstr>
      <vt:lpstr>Specifying the Action URL and Method to send the form</vt:lpstr>
      <vt:lpstr>Values of the Method Attribute</vt:lpstr>
      <vt:lpstr>Specifying the Action URL Method</vt:lpstr>
      <vt:lpstr>Using the HTML Controls</vt:lpstr>
      <vt:lpstr>Attributes of the &lt;input&gt; tag</vt:lpstr>
      <vt:lpstr>Attributes of the &lt;input&gt; tag</vt:lpstr>
      <vt:lpstr>Adding Text Field to a Form</vt:lpstr>
      <vt:lpstr>Adding a Button to a Form</vt:lpstr>
      <vt:lpstr>Adding Check Box to a Form</vt:lpstr>
      <vt:lpstr>Adding Radio Button to a Form</vt:lpstr>
      <vt:lpstr>Adding a Submit Button to a Form</vt:lpstr>
      <vt:lpstr>Adding a Reset Button to a Form</vt:lpstr>
      <vt:lpstr>Adding a Text Area to a Form</vt:lpstr>
      <vt:lpstr>Adding a Selection Control to a Form</vt:lpstr>
      <vt:lpstr>Adding a Selection Control to a Form</vt:lpstr>
      <vt:lpstr>Adding a Multiple Selection Control to a Form</vt:lpstr>
      <vt:lpstr>Adding a Multiple Selection Control to a Form</vt:lpstr>
      <vt:lpstr>Frames</vt:lpstr>
      <vt:lpstr>Creating a Frame</vt:lpstr>
      <vt:lpstr>PowerPoint Presentation</vt:lpstr>
      <vt:lpstr>Frame1.html</vt:lpstr>
      <vt:lpstr>Three Frames: Vertical and Horizontal</vt:lpstr>
      <vt:lpstr>Setting Frame Border Thickness</vt:lpstr>
      <vt:lpstr>PowerPoint Presentation</vt:lpstr>
      <vt:lpstr>Applying Hyperlink Targets to a frame</vt:lpstr>
      <vt:lpstr>Using a Named Frame as Hyperlink Targets</vt:lpstr>
      <vt:lpstr>PowerPoint Presentation</vt:lpstr>
      <vt:lpstr>Using a Predefined Target Name as Hyperlink Targets</vt:lpstr>
      <vt:lpstr>PowerPoint Presentation</vt:lpstr>
      <vt:lpstr>Tables</vt:lpstr>
      <vt:lpstr>Creating a Table</vt:lpstr>
      <vt:lpstr>PowerPoint Presentation</vt:lpstr>
      <vt:lpstr>Specifying a Caption to a Table</vt:lpstr>
      <vt:lpstr>Specifying a Caption to a Table</vt:lpstr>
      <vt:lpstr>Adding a Table Heading</vt:lpstr>
      <vt:lpstr>Adding a Table Heading</vt:lpstr>
      <vt:lpstr>Setting the Table Border</vt:lpstr>
      <vt:lpstr>Setting the Table Border</vt:lpstr>
      <vt:lpstr>Aligning a Table and Cell Content</vt:lpstr>
      <vt:lpstr>Aligning a Table in a Web page </vt:lpstr>
      <vt:lpstr>Aligning the Cell Content</vt:lpstr>
      <vt:lpstr>Aligning the Cell Content</vt:lpstr>
      <vt:lpstr>Setting the Width of a Table and Table Columns</vt:lpstr>
      <vt:lpstr>Setting the Width of a Table</vt:lpstr>
      <vt:lpstr>Setting the Width of a Table</vt:lpstr>
      <vt:lpstr>Setting the Width of Table Columns</vt:lpstr>
      <vt:lpstr>Setting the Width of Table Columns</vt:lpstr>
      <vt:lpstr>Changing the Background Color of a Table</vt:lpstr>
      <vt:lpstr>Changing the Background Color of a Table</vt:lpstr>
      <vt:lpstr>Setting Cell Padding and Cell Spacing</vt:lpstr>
      <vt:lpstr>Setting Cell Padding</vt:lpstr>
      <vt:lpstr>Setting Cell Spacing</vt:lpstr>
      <vt:lpstr>Setting Cell Spacing</vt:lpstr>
      <vt:lpstr>Spanning Rows and Columns</vt:lpstr>
      <vt:lpstr>Spanning Rows</vt:lpstr>
      <vt:lpstr>Spanning Rows</vt:lpstr>
      <vt:lpstr>Spanning Columns</vt:lpstr>
      <vt:lpstr>Spanning Columns</vt:lpstr>
      <vt:lpstr>Nesting Tables</vt:lpstr>
      <vt:lpstr>Nesting Tables</vt:lpstr>
      <vt:lpstr>To insert image in your webpage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the Work Breakdown Structure</dc:title>
  <dc:creator>student</dc:creator>
  <cp:lastModifiedBy>STUDENT</cp:lastModifiedBy>
  <cp:revision>2125</cp:revision>
  <dcterms:created xsi:type="dcterms:W3CDTF">2017-01-16T04:52:19Z</dcterms:created>
  <dcterms:modified xsi:type="dcterms:W3CDTF">2025-07-24T03:51:04Z</dcterms:modified>
</cp:coreProperties>
</file>