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688" r:id="rId2"/>
    <p:sldId id="689" r:id="rId3"/>
    <p:sldId id="481" r:id="rId4"/>
    <p:sldId id="523" r:id="rId5"/>
    <p:sldId id="524" r:id="rId6"/>
    <p:sldId id="525" r:id="rId7"/>
    <p:sldId id="536" r:id="rId8"/>
    <p:sldId id="594" r:id="rId9"/>
    <p:sldId id="537" r:id="rId10"/>
    <p:sldId id="541" r:id="rId11"/>
    <p:sldId id="690" r:id="rId12"/>
    <p:sldId id="538" r:id="rId13"/>
    <p:sldId id="542" r:id="rId14"/>
    <p:sldId id="691" r:id="rId15"/>
    <p:sldId id="592" r:id="rId16"/>
    <p:sldId id="692" r:id="rId17"/>
    <p:sldId id="539" r:id="rId18"/>
    <p:sldId id="693" r:id="rId19"/>
    <p:sldId id="545" r:id="rId20"/>
    <p:sldId id="540" r:id="rId21"/>
    <p:sldId id="546" r:id="rId22"/>
    <p:sldId id="694" r:id="rId23"/>
    <p:sldId id="695" r:id="rId24"/>
    <p:sldId id="548" r:id="rId25"/>
    <p:sldId id="547" r:id="rId26"/>
    <p:sldId id="549" r:id="rId27"/>
    <p:sldId id="528" r:id="rId28"/>
    <p:sldId id="560" r:id="rId29"/>
    <p:sldId id="561" r:id="rId30"/>
    <p:sldId id="553" r:id="rId31"/>
    <p:sldId id="554" r:id="rId32"/>
    <p:sldId id="564" r:id="rId33"/>
    <p:sldId id="555" r:id="rId34"/>
    <p:sldId id="556" r:id="rId35"/>
    <p:sldId id="565" r:id="rId36"/>
    <p:sldId id="566" r:id="rId37"/>
    <p:sldId id="567" r:id="rId38"/>
    <p:sldId id="568" r:id="rId39"/>
    <p:sldId id="569" r:id="rId40"/>
    <p:sldId id="570" r:id="rId41"/>
    <p:sldId id="571" r:id="rId42"/>
    <p:sldId id="580" r:id="rId43"/>
    <p:sldId id="577" r:id="rId44"/>
    <p:sldId id="579" r:id="rId45"/>
    <p:sldId id="581" r:id="rId46"/>
    <p:sldId id="529" r:id="rId47"/>
    <p:sldId id="582" r:id="rId48"/>
    <p:sldId id="583" r:id="rId49"/>
    <p:sldId id="584" r:id="rId50"/>
    <p:sldId id="585" r:id="rId51"/>
    <p:sldId id="586" r:id="rId52"/>
    <p:sldId id="587" r:id="rId53"/>
    <p:sldId id="588" r:id="rId54"/>
    <p:sldId id="600" r:id="rId55"/>
    <p:sldId id="599" r:id="rId56"/>
    <p:sldId id="601" r:id="rId57"/>
    <p:sldId id="602" r:id="rId58"/>
    <p:sldId id="603" r:id="rId59"/>
    <p:sldId id="604" r:id="rId60"/>
    <p:sldId id="589" r:id="rId61"/>
    <p:sldId id="590" r:id="rId62"/>
    <p:sldId id="530" r:id="rId63"/>
    <p:sldId id="605" r:id="rId64"/>
    <p:sldId id="606" r:id="rId65"/>
    <p:sldId id="608" r:id="rId66"/>
    <p:sldId id="609" r:id="rId67"/>
    <p:sldId id="610" r:id="rId68"/>
    <p:sldId id="611" r:id="rId69"/>
    <p:sldId id="613" r:id="rId70"/>
    <p:sldId id="615" r:id="rId71"/>
    <p:sldId id="614" r:id="rId72"/>
    <p:sldId id="616" r:id="rId73"/>
    <p:sldId id="612" r:id="rId74"/>
    <p:sldId id="617" r:id="rId75"/>
    <p:sldId id="618" r:id="rId76"/>
    <p:sldId id="619" r:id="rId77"/>
    <p:sldId id="620" r:id="rId78"/>
    <p:sldId id="621" r:id="rId79"/>
    <p:sldId id="622" r:id="rId80"/>
    <p:sldId id="623" r:id="rId81"/>
    <p:sldId id="624" r:id="rId82"/>
    <p:sldId id="625" r:id="rId83"/>
    <p:sldId id="626" r:id="rId84"/>
    <p:sldId id="627" r:id="rId85"/>
    <p:sldId id="531" r:id="rId86"/>
    <p:sldId id="631" r:id="rId87"/>
    <p:sldId id="632" r:id="rId88"/>
    <p:sldId id="633" r:id="rId89"/>
    <p:sldId id="634" r:id="rId90"/>
    <p:sldId id="635" r:id="rId91"/>
    <p:sldId id="636" r:id="rId92"/>
    <p:sldId id="637" r:id="rId93"/>
    <p:sldId id="638" r:id="rId94"/>
    <p:sldId id="639" r:id="rId95"/>
    <p:sldId id="640" r:id="rId96"/>
    <p:sldId id="641" r:id="rId97"/>
    <p:sldId id="642" r:id="rId98"/>
    <p:sldId id="532" r:id="rId99"/>
    <p:sldId id="643" r:id="rId100"/>
    <p:sldId id="644" r:id="rId101"/>
    <p:sldId id="645" r:id="rId102"/>
    <p:sldId id="646" r:id="rId103"/>
    <p:sldId id="647" r:id="rId104"/>
    <p:sldId id="648" r:id="rId105"/>
    <p:sldId id="649" r:id="rId106"/>
    <p:sldId id="650" r:id="rId107"/>
    <p:sldId id="651" r:id="rId108"/>
    <p:sldId id="652" r:id="rId109"/>
    <p:sldId id="653" r:id="rId110"/>
    <p:sldId id="533" r:id="rId111"/>
    <p:sldId id="654" r:id="rId112"/>
    <p:sldId id="655" r:id="rId113"/>
    <p:sldId id="656" r:id="rId114"/>
    <p:sldId id="657" r:id="rId115"/>
    <p:sldId id="658" r:id="rId116"/>
    <p:sldId id="659" r:id="rId117"/>
    <p:sldId id="660" r:id="rId118"/>
    <p:sldId id="661" r:id="rId119"/>
    <p:sldId id="662" r:id="rId120"/>
    <p:sldId id="663" r:id="rId121"/>
    <p:sldId id="664" r:id="rId122"/>
    <p:sldId id="534" r:id="rId123"/>
    <p:sldId id="665" r:id="rId124"/>
    <p:sldId id="669" r:id="rId125"/>
    <p:sldId id="670" r:id="rId126"/>
    <p:sldId id="666" r:id="rId127"/>
    <p:sldId id="671" r:id="rId128"/>
    <p:sldId id="674" r:id="rId129"/>
    <p:sldId id="667" r:id="rId130"/>
    <p:sldId id="672" r:id="rId131"/>
    <p:sldId id="675" r:id="rId132"/>
    <p:sldId id="668" r:id="rId133"/>
    <p:sldId id="673" r:id="rId134"/>
    <p:sldId id="676"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3B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73" d="100"/>
          <a:sy n="73"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4F831BA-3058-4AF6-8A31-34D71894BE9D}"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230462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975591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F831BA-3058-4AF6-8A31-34D71894BE9D}"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6836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F831BA-3058-4AF6-8A31-34D71894BE9D}"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2607080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F831BA-3058-4AF6-8A31-34D71894BE9D}" type="datetimeFigureOut">
              <a:rPr lang="en-US" smtClean="0"/>
              <a:t>7/31/2025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608042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F831BA-3058-4AF6-8A31-34D71894BE9D}" type="datetimeFigureOut">
              <a:rPr lang="en-US" smtClean="0"/>
              <a:t>7/31/2025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52105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F831BA-3058-4AF6-8A31-34D71894BE9D}" type="datetimeFigureOut">
              <a:rPr lang="en-US" smtClean="0"/>
              <a:t>7/31/2025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072478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F831BA-3058-4AF6-8A31-34D71894BE9D}"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080941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F831BA-3058-4AF6-8A31-34D71894BE9D}"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566314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3398920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517937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F831BA-3058-4AF6-8A31-34D71894BE9D}" type="datetimeFigureOut">
              <a:rPr lang="en-US" smtClean="0"/>
              <a:t>7/31/2025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9D014-865D-4D0D-9906-86C262C93F34}" type="slidenum">
              <a:rPr lang="en-US" smtClean="0"/>
              <a:t>‹#›</a:t>
            </a:fld>
            <a:endParaRPr lang="en-US"/>
          </a:p>
        </p:txBody>
      </p:sp>
    </p:spTree>
    <p:extLst>
      <p:ext uri="{BB962C8B-B14F-4D97-AF65-F5344CB8AC3E}">
        <p14:creationId xmlns:p14="http://schemas.microsoft.com/office/powerpoint/2010/main" val="1245554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2630" y="412122"/>
            <a:ext cx="10582141" cy="4159877"/>
          </a:xfrm>
        </p:spPr>
        <p:txBody>
          <a:bodyPr>
            <a:normAutofit/>
          </a:bodyPr>
          <a:lstStyle/>
          <a:p>
            <a:r>
              <a:rPr lang="en-US" sz="3600" dirty="0"/>
              <a:t>Bachelor Of Engineering </a:t>
            </a:r>
            <a:br>
              <a:rPr lang="en-US" sz="3600" dirty="0"/>
            </a:br>
            <a:r>
              <a:rPr lang="en-US" sz="3600" dirty="0"/>
              <a:t>In </a:t>
            </a:r>
            <a:br>
              <a:rPr lang="en-US" sz="3600" dirty="0"/>
            </a:br>
            <a:r>
              <a:rPr lang="en-US" sz="3600" dirty="0"/>
              <a:t>Information Technology</a:t>
            </a:r>
            <a:br>
              <a:rPr lang="en-US" sz="3600" dirty="0"/>
            </a:br>
            <a:r>
              <a:rPr lang="en-US" sz="3600" dirty="0"/>
              <a:t/>
            </a:r>
            <a:br>
              <a:rPr lang="en-US" sz="3600" dirty="0"/>
            </a:br>
            <a:r>
              <a:rPr lang="en-US" sz="3600" dirty="0"/>
              <a:t>Semester </a:t>
            </a:r>
            <a:r>
              <a:rPr lang="en-US" sz="3600" dirty="0" smtClean="0"/>
              <a:t>Three, Second Year(Odd </a:t>
            </a:r>
            <a:r>
              <a:rPr lang="en-US" sz="3600" dirty="0"/>
              <a:t>semester)</a:t>
            </a:r>
            <a:br>
              <a:rPr lang="en-US" sz="3600" dirty="0"/>
            </a:br>
            <a:r>
              <a:rPr lang="en-US" sz="3600" dirty="0" smtClean="0"/>
              <a:t>14</a:t>
            </a:r>
            <a:r>
              <a:rPr lang="en-US" sz="3600" baseline="30000" dirty="0" smtClean="0"/>
              <a:t>th</a:t>
            </a:r>
            <a:r>
              <a:rPr lang="en-US" sz="3600" dirty="0" smtClean="0"/>
              <a:t> July  </a:t>
            </a:r>
            <a:r>
              <a:rPr lang="en-US" sz="3600" dirty="0"/>
              <a:t>2025 to </a:t>
            </a:r>
            <a:r>
              <a:rPr lang="en-US" sz="3600" dirty="0" smtClean="0"/>
              <a:t>26</a:t>
            </a:r>
            <a:r>
              <a:rPr lang="en-US" sz="3600" baseline="30000" dirty="0" smtClean="0"/>
              <a:t>th</a:t>
            </a:r>
            <a:r>
              <a:rPr lang="en-US" sz="3600" dirty="0" smtClean="0"/>
              <a:t> November </a:t>
            </a:r>
            <a:r>
              <a:rPr lang="en-US" sz="3600" dirty="0"/>
              <a:t>2025</a:t>
            </a:r>
            <a:br>
              <a:rPr lang="en-US" sz="3600" dirty="0"/>
            </a:br>
            <a:endParaRPr lang="en-US" sz="3600" dirty="0"/>
          </a:p>
        </p:txBody>
      </p:sp>
      <p:sp>
        <p:nvSpPr>
          <p:cNvPr id="3" name="Subtitle 2"/>
          <p:cNvSpPr>
            <a:spLocks noGrp="1"/>
          </p:cNvSpPr>
          <p:nvPr>
            <p:ph type="subTitle" idx="1"/>
          </p:nvPr>
        </p:nvSpPr>
        <p:spPr>
          <a:xfrm>
            <a:off x="1431700" y="4735379"/>
            <a:ext cx="9144000" cy="1655762"/>
          </a:xfrm>
        </p:spPr>
        <p:txBody>
          <a:bodyPr/>
          <a:lstStyle/>
          <a:p>
            <a:r>
              <a:rPr lang="en-US" dirty="0"/>
              <a:t>Padre </a:t>
            </a:r>
            <a:r>
              <a:rPr lang="en-US" dirty="0" err="1"/>
              <a:t>Conceicao</a:t>
            </a:r>
            <a:r>
              <a:rPr lang="en-US" dirty="0"/>
              <a:t> College of Engineering</a:t>
            </a:r>
          </a:p>
          <a:p>
            <a:r>
              <a:rPr lang="en-US" dirty="0"/>
              <a:t>Verna Goa 403722 India</a:t>
            </a:r>
          </a:p>
        </p:txBody>
      </p:sp>
    </p:spTree>
    <p:extLst>
      <p:ext uri="{BB962C8B-B14F-4D97-AF65-F5344CB8AC3E}">
        <p14:creationId xmlns:p14="http://schemas.microsoft.com/office/powerpoint/2010/main" val="23218466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App Development</a:t>
            </a:r>
            <a:endParaRPr lang="en-IN" dirty="0"/>
          </a:p>
        </p:txBody>
      </p:sp>
      <p:sp>
        <p:nvSpPr>
          <p:cNvPr id="3" name="Subtitle 2"/>
          <p:cNvSpPr>
            <a:spLocks noGrp="1"/>
          </p:cNvSpPr>
          <p:nvPr>
            <p:ph type="subTitle" idx="1"/>
          </p:nvPr>
        </p:nvSpPr>
        <p:spPr/>
        <p:txBody>
          <a:bodyPr/>
          <a:lstStyle/>
          <a:p>
            <a:r>
              <a:rPr lang="en-IN" dirty="0" smtClean="0"/>
              <a:t>SEC-241</a:t>
            </a:r>
          </a:p>
          <a:p>
            <a:r>
              <a:rPr lang="en-US" smtClean="0"/>
              <a:t>29</a:t>
            </a:r>
            <a:r>
              <a:rPr lang="en-US" baseline="30000" smtClean="0"/>
              <a:t>th</a:t>
            </a:r>
            <a:r>
              <a:rPr lang="en-US" smtClean="0"/>
              <a:t> </a:t>
            </a:r>
            <a:r>
              <a:rPr lang="en-US" dirty="0"/>
              <a:t>July  2025</a:t>
            </a:r>
            <a:endParaRPr lang="en-IN" dirty="0"/>
          </a:p>
        </p:txBody>
      </p:sp>
    </p:spTree>
    <p:extLst>
      <p:ext uri="{BB962C8B-B14F-4D97-AF65-F5344CB8AC3E}">
        <p14:creationId xmlns:p14="http://schemas.microsoft.com/office/powerpoint/2010/main" val="152006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184"/>
            <a:ext cx="10515600" cy="1618221"/>
          </a:xfrm>
        </p:spPr>
        <p:txBody>
          <a:bodyPr>
            <a:normAutofit fontScale="90000"/>
          </a:bodyPr>
          <a:lstStyle/>
          <a:p>
            <a:r>
              <a:rPr lang="en-IN" sz="2800" dirty="0"/>
              <a:t>UNIT 1 :</a:t>
            </a:r>
            <a:r>
              <a:rPr lang="en-US" sz="2400" dirty="0"/>
              <a:t>Cascading Style Sheets</a:t>
            </a:r>
            <a:r>
              <a:rPr lang="en-US" sz="2000" dirty="0"/>
              <a:t/>
            </a:r>
            <a:br>
              <a:rPr lang="en-US" sz="2000" dirty="0"/>
            </a:br>
            <a:r>
              <a:rPr lang="en-IN" sz="2800" dirty="0"/>
              <a:t>Refer</a:t>
            </a:r>
            <a:r>
              <a:rPr lang="en-US" sz="2800" dirty="0"/>
              <a:t/>
            </a:r>
            <a:br>
              <a:rPr lang="en-US" sz="2800" dirty="0"/>
            </a:br>
            <a:r>
              <a:rPr lang="en-US" sz="2400" dirty="0"/>
              <a:t>Web Technologies: HTML, </a:t>
            </a:r>
            <a:r>
              <a:rPr lang="en-US" sz="2400" dirty="0" err="1"/>
              <a:t>Javascript</a:t>
            </a:r>
            <a:r>
              <a:rPr lang="en-US" sz="2400" dirty="0"/>
              <a:t>, PHP, Java, JSP, ASP.NET, XML and AJAX, Black Book; Publisher: </a:t>
            </a:r>
            <a:r>
              <a:rPr lang="en-US" sz="2400" dirty="0" err="1"/>
              <a:t>Dreamtech</a:t>
            </a:r>
            <a:r>
              <a:rPr lang="en-US" sz="2400" dirty="0"/>
              <a:t> Press(2015) ; ISBN: 978-81-7722-997-4 </a:t>
            </a:r>
            <a:r>
              <a:rPr lang="en-US" sz="2800" dirty="0"/>
              <a:t/>
            </a:r>
            <a:br>
              <a:rPr lang="en-US" sz="2800" dirty="0"/>
            </a:b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61270749"/>
              </p:ext>
            </p:extLst>
          </p:nvPr>
        </p:nvGraphicFramePr>
        <p:xfrm>
          <a:off x="838199" y="1571222"/>
          <a:ext cx="10675513" cy="5081029"/>
        </p:xfrm>
        <a:graphic>
          <a:graphicData uri="http://schemas.openxmlformats.org/drawingml/2006/table">
            <a:tbl>
              <a:tblPr firstRow="1" bandRow="1">
                <a:tableStyleId>{93296810-A885-4BE3-A3E7-6D5BEEA58F35}</a:tableStyleId>
              </a:tblPr>
              <a:tblGrid>
                <a:gridCol w="950313">
                  <a:extLst>
                    <a:ext uri="{9D8B030D-6E8A-4147-A177-3AD203B41FA5}">
                      <a16:colId xmlns:a16="http://schemas.microsoft.com/office/drawing/2014/main" xmlns="" val="20000"/>
                    </a:ext>
                  </a:extLst>
                </a:gridCol>
                <a:gridCol w="9725200">
                  <a:extLst>
                    <a:ext uri="{9D8B030D-6E8A-4147-A177-3AD203B41FA5}">
                      <a16:colId xmlns:a16="http://schemas.microsoft.com/office/drawing/2014/main" xmlns="" val="20001"/>
                    </a:ext>
                  </a:extLst>
                </a:gridCol>
              </a:tblGrid>
              <a:tr h="353128">
                <a:tc>
                  <a:txBody>
                    <a:bodyPr/>
                    <a:lstStyle/>
                    <a:p>
                      <a:r>
                        <a:rPr lang="en-IN" dirty="0" err="1"/>
                        <a:t>Sr.No</a:t>
                      </a:r>
                      <a:endParaRPr lang="en-IN" dirty="0"/>
                    </a:p>
                  </a:txBody>
                  <a:tcPr/>
                </a:tc>
                <a:tc>
                  <a:txBody>
                    <a:bodyPr/>
                    <a:lstStyle/>
                    <a:p>
                      <a:r>
                        <a:rPr lang="en-IN" dirty="0"/>
                        <a:t>Title</a:t>
                      </a:r>
                    </a:p>
                  </a:txBody>
                  <a:tcPr/>
                </a:tc>
                <a:extLst>
                  <a:ext uri="{0D108BD9-81ED-4DB2-BD59-A6C34878D82A}">
                    <a16:rowId xmlns:a16="http://schemas.microsoft.com/office/drawing/2014/main" xmlns="" val="10000"/>
                  </a:ext>
                </a:extLst>
              </a:tr>
              <a:tr h="353128">
                <a:tc>
                  <a:txBody>
                    <a:bodyPr/>
                    <a:lstStyle/>
                    <a:p>
                      <a:r>
                        <a:rPr lang="en-IN" dirty="0"/>
                        <a:t>1</a:t>
                      </a:r>
                      <a:endParaRPr lang="en-IN" b="0" dirty="0"/>
                    </a:p>
                  </a:txBody>
                  <a:tcPr/>
                </a:tc>
                <a:tc>
                  <a:txBody>
                    <a:bodyPr/>
                    <a:lstStyle/>
                    <a:p>
                      <a:r>
                        <a:rPr lang="en-US" dirty="0"/>
                        <a:t>Need for CSS</a:t>
                      </a:r>
                    </a:p>
                  </a:txBody>
                  <a:tcPr/>
                </a:tc>
                <a:extLst>
                  <a:ext uri="{0D108BD9-81ED-4DB2-BD59-A6C34878D82A}">
                    <a16:rowId xmlns:a16="http://schemas.microsoft.com/office/drawing/2014/main" xmlns="" val="10001"/>
                  </a:ext>
                </a:extLst>
              </a:tr>
              <a:tr h="353128">
                <a:tc>
                  <a:txBody>
                    <a:bodyPr/>
                    <a:lstStyle/>
                    <a:p>
                      <a:r>
                        <a:rPr lang="en-IN" dirty="0"/>
                        <a:t>2</a:t>
                      </a:r>
                      <a:endParaRPr lang="en-IN" b="0" dirty="0"/>
                    </a:p>
                  </a:txBody>
                  <a:tcPr/>
                </a:tc>
                <a:tc>
                  <a:txBody>
                    <a:bodyPr/>
                    <a:lstStyle/>
                    <a:p>
                      <a:r>
                        <a:rPr lang="en-US" dirty="0"/>
                        <a:t>basic syntax and structure of CSS</a:t>
                      </a:r>
                    </a:p>
                  </a:txBody>
                  <a:tcPr/>
                </a:tc>
                <a:extLst>
                  <a:ext uri="{0D108BD9-81ED-4DB2-BD59-A6C34878D82A}">
                    <a16:rowId xmlns:a16="http://schemas.microsoft.com/office/drawing/2014/main" xmlns="" val="10002"/>
                  </a:ext>
                </a:extLst>
              </a:tr>
              <a:tr h="353128">
                <a:tc>
                  <a:txBody>
                    <a:bodyPr/>
                    <a:lstStyle/>
                    <a:p>
                      <a:r>
                        <a:rPr lang="en-IN" dirty="0"/>
                        <a:t>3</a:t>
                      </a:r>
                      <a:endParaRPr lang="en-IN" b="0" dirty="0"/>
                    </a:p>
                  </a:txBody>
                  <a:tcPr/>
                </a:tc>
                <a:tc>
                  <a:txBody>
                    <a:bodyPr/>
                    <a:lstStyle/>
                    <a:p>
                      <a:r>
                        <a:rPr lang="en-US" dirty="0"/>
                        <a:t>using CSS</a:t>
                      </a:r>
                    </a:p>
                  </a:txBody>
                  <a:tcPr/>
                </a:tc>
                <a:extLst>
                  <a:ext uri="{0D108BD9-81ED-4DB2-BD59-A6C34878D82A}">
                    <a16:rowId xmlns:a16="http://schemas.microsoft.com/office/drawing/2014/main" xmlns="" val="10003"/>
                  </a:ext>
                </a:extLst>
              </a:tr>
              <a:tr h="353128">
                <a:tc>
                  <a:txBody>
                    <a:bodyPr/>
                    <a:lstStyle/>
                    <a:p>
                      <a:r>
                        <a:rPr lang="en-IN" b="0" dirty="0"/>
                        <a:t>4</a:t>
                      </a:r>
                    </a:p>
                  </a:txBody>
                  <a:tcPr/>
                </a:tc>
                <a:tc>
                  <a:txBody>
                    <a:bodyPr/>
                    <a:lstStyle/>
                    <a:p>
                      <a:r>
                        <a:rPr lang="en-US" dirty="0"/>
                        <a:t>background images</a:t>
                      </a:r>
                    </a:p>
                  </a:txBody>
                  <a:tcPr/>
                </a:tc>
                <a:extLst>
                  <a:ext uri="{0D108BD9-81ED-4DB2-BD59-A6C34878D82A}">
                    <a16:rowId xmlns:a16="http://schemas.microsoft.com/office/drawing/2014/main" xmlns="" val="10004"/>
                  </a:ext>
                </a:extLst>
              </a:tr>
              <a:tr h="377318">
                <a:tc>
                  <a:txBody>
                    <a:bodyPr/>
                    <a:lstStyle/>
                    <a:p>
                      <a:r>
                        <a:rPr lang="en-IN" b="0" dirty="0"/>
                        <a:t>5</a:t>
                      </a:r>
                    </a:p>
                  </a:txBody>
                  <a:tcPr/>
                </a:tc>
                <a:tc>
                  <a:txBody>
                    <a:bodyPr/>
                    <a:lstStyle/>
                    <a:p>
                      <a:r>
                        <a:rPr lang="en-US" dirty="0"/>
                        <a:t>colors and properties</a:t>
                      </a:r>
                    </a:p>
                  </a:txBody>
                  <a:tcPr/>
                </a:tc>
                <a:extLst>
                  <a:ext uri="{0D108BD9-81ED-4DB2-BD59-A6C34878D82A}">
                    <a16:rowId xmlns:a16="http://schemas.microsoft.com/office/drawing/2014/main" xmlns="" val="10005"/>
                  </a:ext>
                </a:extLst>
              </a:tr>
              <a:tr h="353128">
                <a:tc>
                  <a:txBody>
                    <a:bodyPr/>
                    <a:lstStyle/>
                    <a:p>
                      <a:r>
                        <a:rPr lang="en-IN" b="0" dirty="0"/>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manipulating texts</a:t>
                      </a:r>
                    </a:p>
                  </a:txBody>
                  <a:tcPr/>
                </a:tc>
                <a:extLst>
                  <a:ext uri="{0D108BD9-81ED-4DB2-BD59-A6C34878D82A}">
                    <a16:rowId xmlns:a16="http://schemas.microsoft.com/office/drawing/2014/main" xmlns="" val="10006"/>
                  </a:ext>
                </a:extLst>
              </a:tr>
              <a:tr h="353128">
                <a:tc>
                  <a:txBody>
                    <a:bodyPr/>
                    <a:lstStyle/>
                    <a:p>
                      <a:r>
                        <a:rPr lang="en-IN" b="0" dirty="0"/>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using fonts</a:t>
                      </a:r>
                    </a:p>
                  </a:txBody>
                  <a:tcPr/>
                </a:tc>
                <a:extLst>
                  <a:ext uri="{0D108BD9-81ED-4DB2-BD59-A6C34878D82A}">
                    <a16:rowId xmlns:a16="http://schemas.microsoft.com/office/drawing/2014/main" xmlns="" val="10007"/>
                  </a:ext>
                </a:extLst>
              </a:tr>
              <a:tr h="353128">
                <a:tc>
                  <a:txBody>
                    <a:bodyPr/>
                    <a:lstStyle/>
                    <a:p>
                      <a:r>
                        <a:rPr lang="en-IN" b="0" dirty="0"/>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borders and boxes</a:t>
                      </a:r>
                    </a:p>
                  </a:txBody>
                  <a:tcPr/>
                </a:tc>
                <a:extLst>
                  <a:ext uri="{0D108BD9-81ED-4DB2-BD59-A6C34878D82A}">
                    <a16:rowId xmlns:a16="http://schemas.microsoft.com/office/drawing/2014/main" xmlns="" val="10008"/>
                  </a:ext>
                </a:extLst>
              </a:tr>
              <a:tr h="353128">
                <a:tc>
                  <a:txBody>
                    <a:bodyPr/>
                    <a:lstStyle/>
                    <a:p>
                      <a:r>
                        <a:rPr lang="en-IN" b="0" dirty="0"/>
                        <a:t>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margins</a:t>
                      </a:r>
                    </a:p>
                  </a:txBody>
                  <a:tcPr/>
                </a:tc>
                <a:extLst>
                  <a:ext uri="{0D108BD9-81ED-4DB2-BD59-A6C34878D82A}">
                    <a16:rowId xmlns:a16="http://schemas.microsoft.com/office/drawing/2014/main" xmlns="" val="10009"/>
                  </a:ext>
                </a:extLst>
              </a:tr>
              <a:tr h="353128">
                <a:tc>
                  <a:txBody>
                    <a:bodyPr/>
                    <a:lstStyle/>
                    <a:p>
                      <a:r>
                        <a:rPr lang="en-IN" b="0" dirty="0"/>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padding lists</a:t>
                      </a:r>
                    </a:p>
                  </a:txBody>
                  <a:tcPr/>
                </a:tc>
                <a:extLst>
                  <a:ext uri="{0D108BD9-81ED-4DB2-BD59-A6C34878D82A}">
                    <a16:rowId xmlns:a16="http://schemas.microsoft.com/office/drawing/2014/main" xmlns="" val="10010"/>
                  </a:ext>
                </a:extLst>
              </a:tr>
              <a:tr h="406031">
                <a:tc>
                  <a:txBody>
                    <a:bodyPr/>
                    <a:lstStyle/>
                    <a:p>
                      <a:r>
                        <a:rPr lang="en-IN" b="0" dirty="0"/>
                        <a: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positioning using CSS</a:t>
                      </a:r>
                    </a:p>
                  </a:txBody>
                  <a:tcPr/>
                </a:tc>
                <a:extLst>
                  <a:ext uri="{0D108BD9-81ED-4DB2-BD59-A6C34878D82A}">
                    <a16:rowId xmlns:a16="http://schemas.microsoft.com/office/drawing/2014/main" xmlns="" val="10011"/>
                  </a:ext>
                </a:extLst>
              </a:tr>
              <a:tr h="617975">
                <a:tc>
                  <a:txBody>
                    <a:bodyPr/>
                    <a:lstStyle/>
                    <a:p>
                      <a:r>
                        <a:rPr lang="en-IN" b="0" dirty="0"/>
                        <a:t>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Overview and features of CSS3.</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1497531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07"/>
            <a:ext cx="10515600" cy="755336"/>
          </a:xfrm>
        </p:spPr>
        <p:txBody>
          <a:bodyPr/>
          <a:lstStyle/>
          <a:p>
            <a:r>
              <a:rPr lang="en-US" dirty="0"/>
              <a:t>Need for CSS(Cascading Style Sheets)</a:t>
            </a:r>
          </a:p>
        </p:txBody>
      </p:sp>
      <p:sp>
        <p:nvSpPr>
          <p:cNvPr id="3" name="Content Placeholder 2"/>
          <p:cNvSpPr>
            <a:spLocks noGrp="1"/>
          </p:cNvSpPr>
          <p:nvPr>
            <p:ph idx="1"/>
          </p:nvPr>
        </p:nvSpPr>
        <p:spPr>
          <a:xfrm>
            <a:off x="838200" y="888643"/>
            <a:ext cx="10515600" cy="5756856"/>
          </a:xfrm>
        </p:spPr>
        <p:txBody>
          <a:bodyPr>
            <a:normAutofit/>
          </a:bodyPr>
          <a:lstStyle/>
          <a:p>
            <a:pPr algn="just"/>
            <a:r>
              <a:rPr lang="en-US" dirty="0"/>
              <a:t>CSS are text files that contain one or more rules in the form of property/value pairs to determine how elements in a Web page should be displayed. They were developed with the aim to create the structure ,look and feel of a Web page but the elements present on the Web page are handled separately.CSS deals with all the style-related aspects important to create a Web page.W3C(</a:t>
            </a:r>
            <a:r>
              <a:rPr lang="en-IN" dirty="0"/>
              <a:t>World Wide Web Consortium </a:t>
            </a:r>
            <a:r>
              <a:rPr lang="en-US" dirty="0"/>
              <a:t>) has developed some specifications(or rules) to create and use style sheets. These specifications are called as the CSS specifications. The two versions of CSS specifications,CSS1 and CSS2.After the introduction of CSS,HTML elements that purely deal with style-related aspects, such as  &lt;u&gt;,&lt;</a:t>
            </a:r>
            <a:r>
              <a:rPr lang="en-US" dirty="0" err="1"/>
              <a:t>centre</a:t>
            </a:r>
            <a:r>
              <a:rPr lang="en-US" dirty="0"/>
              <a:t>&gt;, and &lt;strike&gt; have been deprecated.W3C has recommended that in place of these HTML elements, their replacements should be used in CSS.</a:t>
            </a:r>
          </a:p>
        </p:txBody>
      </p:sp>
    </p:spTree>
    <p:extLst>
      <p:ext uri="{BB962C8B-B14F-4D97-AF65-F5344CB8AC3E}">
        <p14:creationId xmlns:p14="http://schemas.microsoft.com/office/powerpoint/2010/main" val="33047936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942"/>
            <a:ext cx="10515600" cy="781095"/>
          </a:xfrm>
        </p:spPr>
        <p:txBody>
          <a:bodyPr/>
          <a:lstStyle/>
          <a:p>
            <a:r>
              <a:rPr lang="en-US" dirty="0"/>
              <a:t>Basic syntax and structure of CSS</a:t>
            </a:r>
          </a:p>
        </p:txBody>
      </p:sp>
      <p:sp>
        <p:nvSpPr>
          <p:cNvPr id="3" name="Content Placeholder 2"/>
          <p:cNvSpPr>
            <a:spLocks noGrp="1"/>
          </p:cNvSpPr>
          <p:nvPr>
            <p:ph idx="1"/>
          </p:nvPr>
        </p:nvSpPr>
        <p:spPr>
          <a:xfrm>
            <a:off x="838200" y="1171978"/>
            <a:ext cx="10515600" cy="5473521"/>
          </a:xfrm>
        </p:spPr>
        <p:txBody>
          <a:bodyPr>
            <a:normAutofit fontScale="92500" lnSpcReduction="10000"/>
          </a:bodyPr>
          <a:lstStyle/>
          <a:p>
            <a:r>
              <a:rPr lang="en-US" dirty="0"/>
              <a:t>The syntax of CSS is slightly different from that of HTML. In contrast to the angle brackets (&lt; and &gt;),equal signs, and quotation marks found in the HTML syntax, the CSS contains curly braces, colons, and semicolons. The syntax of a CSS rule is as follows:</a:t>
            </a:r>
          </a:p>
          <a:p>
            <a:pPr marL="0" indent="0">
              <a:buNone/>
            </a:pPr>
            <a:r>
              <a:rPr lang="en-US" dirty="0">
                <a:solidFill>
                  <a:srgbClr val="00B050"/>
                </a:solidFill>
              </a:rPr>
              <a:t>Selector{property1:property1-value;property2:property2-value;property3:property3-value…..}</a:t>
            </a:r>
          </a:p>
          <a:p>
            <a:pPr marL="0" indent="0">
              <a:buNone/>
            </a:pPr>
            <a:r>
              <a:rPr lang="en-US" dirty="0">
                <a:solidFill>
                  <a:srgbClr val="00B050"/>
                </a:solidFill>
              </a:rPr>
              <a:t>Selector </a:t>
            </a:r>
            <a:r>
              <a:rPr lang="en-US" dirty="0"/>
              <a:t>is the element that the rule defines</a:t>
            </a:r>
          </a:p>
          <a:p>
            <a:pPr marL="0" indent="0">
              <a:buNone/>
            </a:pPr>
            <a:r>
              <a:rPr lang="en-US" dirty="0">
                <a:solidFill>
                  <a:srgbClr val="00B050"/>
                </a:solidFill>
              </a:rPr>
              <a:t>Property1, property2, property3 </a:t>
            </a:r>
            <a:r>
              <a:rPr lang="en-US" dirty="0"/>
              <a:t>are the properties(attributes)defined </a:t>
            </a:r>
          </a:p>
          <a:p>
            <a:pPr marL="0" indent="0">
              <a:buNone/>
            </a:pPr>
            <a:r>
              <a:rPr lang="en-US" dirty="0"/>
              <a:t>for that element</a:t>
            </a:r>
          </a:p>
          <a:p>
            <a:pPr marL="0" indent="0">
              <a:buNone/>
            </a:pPr>
            <a:r>
              <a:rPr lang="en-US" dirty="0">
                <a:solidFill>
                  <a:srgbClr val="00B050"/>
                </a:solidFill>
              </a:rPr>
              <a:t>property1-value, property2-value, property3-value </a:t>
            </a:r>
            <a:r>
              <a:rPr lang="en-US" dirty="0"/>
              <a:t>are values assigned to these properties</a:t>
            </a:r>
          </a:p>
          <a:p>
            <a:pPr marL="0" indent="0">
              <a:buNone/>
            </a:pPr>
            <a:r>
              <a:rPr lang="en-US" dirty="0"/>
              <a:t>The portion of the syntax enclosed within curly braces is termed as declaration.</a:t>
            </a:r>
          </a:p>
        </p:txBody>
      </p:sp>
    </p:spTree>
    <p:extLst>
      <p:ext uri="{BB962C8B-B14F-4D97-AF65-F5344CB8AC3E}">
        <p14:creationId xmlns:p14="http://schemas.microsoft.com/office/powerpoint/2010/main" val="30662045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Using CSS</a:t>
            </a:r>
          </a:p>
        </p:txBody>
      </p:sp>
      <p:sp>
        <p:nvSpPr>
          <p:cNvPr id="3" name="Content Placeholder 2"/>
          <p:cNvSpPr>
            <a:spLocks noGrp="1"/>
          </p:cNvSpPr>
          <p:nvPr>
            <p:ph idx="1"/>
          </p:nvPr>
        </p:nvSpPr>
        <p:spPr>
          <a:xfrm>
            <a:off x="838200" y="1825624"/>
            <a:ext cx="10515600" cy="4381993"/>
          </a:xfrm>
        </p:spPr>
        <p:txBody>
          <a:bodyPr/>
          <a:lstStyle/>
          <a:p>
            <a:r>
              <a:rPr lang="en-US" dirty="0"/>
              <a:t>Using the preceding CSS rule syntax, we can create a CSS rule to set three background properties ( </a:t>
            </a:r>
            <a:r>
              <a:rPr lang="en-US" dirty="0">
                <a:solidFill>
                  <a:srgbClr val="00B050"/>
                </a:solidFill>
              </a:rPr>
              <a:t>background-color</a:t>
            </a:r>
            <a:r>
              <a:rPr lang="en-US" dirty="0"/>
              <a:t>, </a:t>
            </a:r>
            <a:r>
              <a:rPr lang="en-US" dirty="0">
                <a:solidFill>
                  <a:srgbClr val="00B050"/>
                </a:solidFill>
              </a:rPr>
              <a:t>background-image</a:t>
            </a:r>
            <a:r>
              <a:rPr lang="en-US" dirty="0"/>
              <a:t>, </a:t>
            </a:r>
            <a:r>
              <a:rPr lang="en-US" dirty="0">
                <a:solidFill>
                  <a:srgbClr val="00B050"/>
                </a:solidFill>
              </a:rPr>
              <a:t>background-repeat</a:t>
            </a:r>
            <a:r>
              <a:rPr lang="en-US" dirty="0"/>
              <a:t> ) for the </a:t>
            </a:r>
            <a:r>
              <a:rPr lang="en-US" dirty="0">
                <a:solidFill>
                  <a:srgbClr val="00B050"/>
                </a:solidFill>
              </a:rPr>
              <a:t>&lt;body&gt; </a:t>
            </a:r>
            <a:r>
              <a:rPr lang="en-US" dirty="0"/>
              <a:t>element in 3 declarations, as follows:</a:t>
            </a:r>
          </a:p>
          <a:p>
            <a:pPr marL="0" indent="0">
              <a:buNone/>
            </a:pPr>
            <a:r>
              <a:rPr lang="en-US" dirty="0">
                <a:solidFill>
                  <a:srgbClr val="00B050"/>
                </a:solidFill>
              </a:rPr>
              <a:t>body{background-color:#0000ff; background-image:url(C:\Image.jpg); background-repeat: repeat-x}</a:t>
            </a:r>
          </a:p>
          <a:p>
            <a:pPr marL="0" indent="0">
              <a:buNone/>
            </a:pPr>
            <a:r>
              <a:rPr lang="en-US" dirty="0"/>
              <a:t>You can set these 3 properties in one declaration by separating them with spaces, using the shorthand CSS property named </a:t>
            </a:r>
            <a:r>
              <a:rPr lang="en-US" dirty="0">
                <a:solidFill>
                  <a:srgbClr val="00B050"/>
                </a:solidFill>
              </a:rPr>
              <a:t>background </a:t>
            </a:r>
            <a:r>
              <a:rPr lang="en-US" dirty="0"/>
              <a:t>,as follows:</a:t>
            </a:r>
          </a:p>
          <a:p>
            <a:pPr marL="0" indent="0">
              <a:buNone/>
            </a:pPr>
            <a:r>
              <a:rPr lang="en-US" dirty="0">
                <a:solidFill>
                  <a:srgbClr val="00B050"/>
                </a:solidFill>
              </a:rPr>
              <a:t>body{ background:#0000ff url(C:\Image.jpg) repeat-x } </a:t>
            </a:r>
          </a:p>
        </p:txBody>
      </p:sp>
    </p:spTree>
    <p:extLst>
      <p:ext uri="{BB962C8B-B14F-4D97-AF65-F5344CB8AC3E}">
        <p14:creationId xmlns:p14="http://schemas.microsoft.com/office/powerpoint/2010/main" val="3713047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You can create cascading styles in a Web page in four ways:</a:t>
            </a:r>
          </a:p>
          <a:p>
            <a:pPr marL="514350" indent="-514350">
              <a:buFont typeface="+mj-lt"/>
              <a:buAutoNum type="arabicPeriod"/>
            </a:pPr>
            <a:r>
              <a:rPr lang="en-US" dirty="0"/>
              <a:t>Using inline styles</a:t>
            </a:r>
          </a:p>
          <a:p>
            <a:pPr marL="514350" indent="-514350">
              <a:buFont typeface="+mj-lt"/>
              <a:buAutoNum type="arabicPeriod"/>
            </a:pPr>
            <a:r>
              <a:rPr lang="en-US" dirty="0"/>
              <a:t>Using external style sheets</a:t>
            </a:r>
          </a:p>
          <a:p>
            <a:pPr marL="514350" indent="-514350">
              <a:buFont typeface="+mj-lt"/>
              <a:buAutoNum type="arabicPeriod"/>
            </a:pPr>
            <a:r>
              <a:rPr lang="en-US" dirty="0"/>
              <a:t>Using internal style sheets</a:t>
            </a:r>
          </a:p>
          <a:p>
            <a:pPr marL="514350" indent="-514350">
              <a:buFont typeface="+mj-lt"/>
              <a:buAutoNum type="arabicPeriod"/>
            </a:pPr>
            <a:r>
              <a:rPr lang="en-US" dirty="0"/>
              <a:t>Using style classes</a:t>
            </a:r>
          </a:p>
          <a:p>
            <a:endParaRPr lang="en-US" dirty="0"/>
          </a:p>
          <a:p>
            <a:endParaRPr lang="en-US" dirty="0"/>
          </a:p>
        </p:txBody>
      </p:sp>
    </p:spTree>
    <p:extLst>
      <p:ext uri="{BB962C8B-B14F-4D97-AF65-F5344CB8AC3E}">
        <p14:creationId xmlns:p14="http://schemas.microsoft.com/office/powerpoint/2010/main" val="21760799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of the &lt;style&gt; Element</a:t>
            </a:r>
          </a:p>
        </p:txBody>
      </p:sp>
      <p:graphicFrame>
        <p:nvGraphicFramePr>
          <p:cNvPr id="4" name="Content Placeholder 3"/>
          <p:cNvGraphicFramePr>
            <a:graphicFrameLocks noGrp="1"/>
          </p:cNvGraphicFramePr>
          <p:nvPr>
            <p:ph idx="1"/>
          </p:nvPr>
        </p:nvGraphicFramePr>
        <p:xfrm>
          <a:off x="624113" y="1854653"/>
          <a:ext cx="11063515" cy="4216400"/>
        </p:xfrm>
        <a:graphic>
          <a:graphicData uri="http://schemas.openxmlformats.org/drawingml/2006/table">
            <a:tbl>
              <a:tblPr firstRow="1" bandRow="1">
                <a:tableStyleId>{93296810-A885-4BE3-A3E7-6D5BEEA58F35}</a:tableStyleId>
              </a:tblPr>
              <a:tblGrid>
                <a:gridCol w="754744">
                  <a:extLst>
                    <a:ext uri="{9D8B030D-6E8A-4147-A177-3AD203B41FA5}">
                      <a16:colId xmlns:a16="http://schemas.microsoft.com/office/drawing/2014/main" xmlns="" val="20000"/>
                    </a:ext>
                  </a:extLst>
                </a:gridCol>
                <a:gridCol w="1088571">
                  <a:extLst>
                    <a:ext uri="{9D8B030D-6E8A-4147-A177-3AD203B41FA5}">
                      <a16:colId xmlns:a16="http://schemas.microsoft.com/office/drawing/2014/main" xmlns="" val="20001"/>
                    </a:ext>
                  </a:extLst>
                </a:gridCol>
                <a:gridCol w="9220200">
                  <a:extLst>
                    <a:ext uri="{9D8B030D-6E8A-4147-A177-3AD203B41FA5}">
                      <a16:colId xmlns:a16="http://schemas.microsoft.com/office/drawing/2014/main" xmlns="" val="20002"/>
                    </a:ext>
                  </a:extLst>
                </a:gridCol>
              </a:tblGrid>
              <a:tr h="370840">
                <a:tc>
                  <a:txBody>
                    <a:bodyPr/>
                    <a:lstStyle/>
                    <a:p>
                      <a:r>
                        <a:rPr lang="en-US" dirty="0" err="1"/>
                        <a:t>Sr.No</a:t>
                      </a:r>
                      <a:endParaRPr lang="en-US" dirty="0"/>
                    </a:p>
                  </a:txBody>
                  <a:tcPr/>
                </a:tc>
                <a:tc>
                  <a:txBody>
                    <a:bodyPr/>
                    <a:lstStyle/>
                    <a:p>
                      <a:r>
                        <a:rPr lang="en-US" dirty="0"/>
                        <a:t>Attribute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r>
                        <a:rPr lang="en-US" dirty="0" err="1"/>
                        <a:t>dir</a:t>
                      </a:r>
                      <a:endParaRPr lang="en-US" dirty="0"/>
                    </a:p>
                  </a:txBody>
                  <a:tcPr/>
                </a:tc>
                <a:tc>
                  <a:txBody>
                    <a:bodyPr/>
                    <a:lstStyle/>
                    <a:p>
                      <a:r>
                        <a:rPr lang="en-US" dirty="0"/>
                        <a:t>Gives the direction to directionally neutral text. You can</a:t>
                      </a:r>
                      <a:r>
                        <a:rPr lang="en-US" baseline="0" dirty="0"/>
                        <a:t> set this attribute to </a:t>
                      </a:r>
                      <a:r>
                        <a:rPr lang="en-US" baseline="0" dirty="0" err="1"/>
                        <a:t>ltr</a:t>
                      </a:r>
                      <a:r>
                        <a:rPr lang="en-US" baseline="0" dirty="0"/>
                        <a:t> for left to right text direction or </a:t>
                      </a:r>
                      <a:r>
                        <a:rPr lang="en-US" baseline="0" dirty="0" err="1"/>
                        <a:t>rtl</a:t>
                      </a:r>
                      <a:r>
                        <a:rPr lang="en-US" baseline="0" dirty="0"/>
                        <a:t> for right to left text direction.</a:t>
                      </a:r>
                      <a:endParaRPr lang="en-US" dirty="0"/>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r>
                        <a:rPr lang="en-US" dirty="0"/>
                        <a:t>disabled</a:t>
                      </a:r>
                    </a:p>
                  </a:txBody>
                  <a:tcPr/>
                </a:tc>
                <a:tc>
                  <a:txBody>
                    <a:bodyPr/>
                    <a:lstStyle/>
                    <a:p>
                      <a:r>
                        <a:rPr lang="en-US" dirty="0"/>
                        <a:t>Specifies that the styles should not be applied initially. This attribute is a standalone attribute meaning that it is specified</a:t>
                      </a:r>
                      <a:r>
                        <a:rPr lang="en-US" baseline="0" dirty="0"/>
                        <a:t> without assigning it a value.</a:t>
                      </a:r>
                      <a:endParaRPr lang="en-US" dirty="0"/>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r>
                        <a:rPr lang="en-US" dirty="0" err="1"/>
                        <a:t>lang</a:t>
                      </a:r>
                      <a:endParaRPr lang="en-US" dirty="0"/>
                    </a:p>
                  </a:txBody>
                  <a:tcPr/>
                </a:tc>
                <a:tc>
                  <a:txBody>
                    <a:bodyPr/>
                    <a:lstStyle/>
                    <a:p>
                      <a:r>
                        <a:rPr lang="en-US" dirty="0"/>
                        <a:t>Indicates base language used for the element</a:t>
                      </a:r>
                    </a:p>
                  </a:txBody>
                  <a:tcPr/>
                </a:tc>
                <a:extLst>
                  <a:ext uri="{0D108BD9-81ED-4DB2-BD59-A6C34878D82A}">
                    <a16:rowId xmlns:a16="http://schemas.microsoft.com/office/drawing/2014/main" xmlns="" val="10003"/>
                  </a:ext>
                </a:extLst>
              </a:tr>
              <a:tr h="370840">
                <a:tc>
                  <a:txBody>
                    <a:bodyPr/>
                    <a:lstStyle/>
                    <a:p>
                      <a:r>
                        <a:rPr lang="en-US" dirty="0"/>
                        <a:t>4</a:t>
                      </a:r>
                    </a:p>
                  </a:txBody>
                  <a:tcPr/>
                </a:tc>
                <a:tc>
                  <a:txBody>
                    <a:bodyPr/>
                    <a:lstStyle/>
                    <a:p>
                      <a:r>
                        <a:rPr lang="en-US" dirty="0"/>
                        <a:t>media</a:t>
                      </a:r>
                    </a:p>
                  </a:txBody>
                  <a:tcPr/>
                </a:tc>
                <a:tc>
                  <a:txBody>
                    <a:bodyPr/>
                    <a:lstStyle/>
                    <a:p>
                      <a:r>
                        <a:rPr lang="en-US" dirty="0"/>
                        <a:t>Sets the media for style</a:t>
                      </a:r>
                      <a:r>
                        <a:rPr lang="en-US" baseline="0" dirty="0"/>
                        <a:t> sheet definitions (multiple destinations are specified by separating each pair of destinations by a comma).You can set this attribute to screen (default value for the attribute),print , projection , braille , speech, or all</a:t>
                      </a:r>
                      <a:endParaRPr lang="en-US" dirty="0"/>
                    </a:p>
                  </a:txBody>
                  <a:tcPr/>
                </a:tc>
                <a:extLst>
                  <a:ext uri="{0D108BD9-81ED-4DB2-BD59-A6C34878D82A}">
                    <a16:rowId xmlns:a16="http://schemas.microsoft.com/office/drawing/2014/main" xmlns="" val="10004"/>
                  </a:ext>
                </a:extLst>
              </a:tr>
              <a:tr h="370840">
                <a:tc>
                  <a:txBody>
                    <a:bodyPr/>
                    <a:lstStyle/>
                    <a:p>
                      <a:r>
                        <a:rPr lang="en-US" dirty="0"/>
                        <a:t>5</a:t>
                      </a:r>
                    </a:p>
                  </a:txBody>
                  <a:tcPr/>
                </a:tc>
                <a:tc>
                  <a:txBody>
                    <a:bodyPr/>
                    <a:lstStyle/>
                    <a:p>
                      <a:r>
                        <a:rPr lang="en-US" dirty="0"/>
                        <a:t>title</a:t>
                      </a:r>
                    </a:p>
                  </a:txBody>
                  <a:tcPr/>
                </a:tc>
                <a:tc>
                  <a:txBody>
                    <a:bodyPr/>
                    <a:lstStyle/>
                    <a:p>
                      <a:r>
                        <a:rPr lang="en-US" dirty="0"/>
                        <a:t>Allows the browser to build a menu of alternative style sheets. You can set this attribute to an alphanumeric value.</a:t>
                      </a:r>
                    </a:p>
                  </a:txBody>
                  <a:tcPr/>
                </a:tc>
                <a:extLst>
                  <a:ext uri="{0D108BD9-81ED-4DB2-BD59-A6C34878D82A}">
                    <a16:rowId xmlns:a16="http://schemas.microsoft.com/office/drawing/2014/main" xmlns="" val="10005"/>
                  </a:ext>
                </a:extLst>
              </a:tr>
              <a:tr h="370840">
                <a:tc>
                  <a:txBody>
                    <a:bodyPr/>
                    <a:lstStyle/>
                    <a:p>
                      <a:r>
                        <a:rPr lang="en-US" dirty="0"/>
                        <a:t>6</a:t>
                      </a:r>
                    </a:p>
                  </a:txBody>
                  <a:tcPr/>
                </a:tc>
                <a:tc>
                  <a:txBody>
                    <a:bodyPr/>
                    <a:lstStyle/>
                    <a:p>
                      <a:r>
                        <a:rPr lang="en-US" dirty="0"/>
                        <a:t>type</a:t>
                      </a:r>
                    </a:p>
                  </a:txBody>
                  <a:tcPr/>
                </a:tc>
                <a:tc>
                  <a:txBody>
                    <a:bodyPr/>
                    <a:lstStyle/>
                    <a:p>
                      <a:r>
                        <a:rPr lang="en-US" dirty="0"/>
                        <a:t>Specifies an essential attribute,</a:t>
                      </a:r>
                      <a:r>
                        <a:rPr lang="en-US" baseline="0" dirty="0"/>
                        <a:t> which indicates the MIME type of the &lt;style&gt; element content. You can set this attribute to either text / css or text / </a:t>
                      </a:r>
                      <a:r>
                        <a:rPr lang="en-US" baseline="0" dirty="0" err="1"/>
                        <a:t>javascript</a:t>
                      </a:r>
                      <a:endParaRPr lang="en-US" dirty="0"/>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41350875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styles</a:t>
            </a:r>
          </a:p>
        </p:txBody>
      </p:sp>
      <p:sp>
        <p:nvSpPr>
          <p:cNvPr id="3" name="Content Placeholder 2"/>
          <p:cNvSpPr>
            <a:spLocks noGrp="1"/>
          </p:cNvSpPr>
          <p:nvPr>
            <p:ph idx="1"/>
          </p:nvPr>
        </p:nvSpPr>
        <p:spPr/>
        <p:txBody>
          <a:bodyPr/>
          <a:lstStyle/>
          <a:p>
            <a:r>
              <a:rPr lang="en-US" dirty="0"/>
              <a:t>In the Inline Styles method, style for an HTML element is specified using its </a:t>
            </a:r>
            <a:r>
              <a:rPr lang="en-US" dirty="0">
                <a:solidFill>
                  <a:srgbClr val="00B050"/>
                </a:solidFill>
              </a:rPr>
              <a:t>style</a:t>
            </a:r>
            <a:r>
              <a:rPr lang="en-US" dirty="0"/>
              <a:t> attribute.</a:t>
            </a:r>
          </a:p>
          <a:p>
            <a:r>
              <a:rPr lang="en-US" dirty="0"/>
              <a:t>Inline styles are useful when you want to define specific styles for individual elements present on a Web page.</a:t>
            </a:r>
          </a:p>
        </p:txBody>
      </p:sp>
    </p:spTree>
    <p:extLst>
      <p:ext uri="{BB962C8B-B14F-4D97-AF65-F5344CB8AC3E}">
        <p14:creationId xmlns:p14="http://schemas.microsoft.com/office/powerpoint/2010/main" val="21923748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06"/>
            <a:ext cx="10515600" cy="575033"/>
          </a:xfrm>
        </p:spPr>
        <p:txBody>
          <a:bodyPr>
            <a:normAutofit fontScale="90000"/>
          </a:bodyPr>
          <a:lstStyle/>
          <a:p>
            <a:r>
              <a:rPr lang="en-US" dirty="0"/>
              <a:t>Inline styles</a:t>
            </a:r>
          </a:p>
        </p:txBody>
      </p:sp>
      <p:pic>
        <p:nvPicPr>
          <p:cNvPr id="4" name="Content Placeholder 3"/>
          <p:cNvPicPr>
            <a:picLocks noGrp="1" noChangeAspect="1"/>
          </p:cNvPicPr>
          <p:nvPr>
            <p:ph idx="1"/>
          </p:nvPr>
        </p:nvPicPr>
        <p:blipFill>
          <a:blip r:embed="rId2"/>
          <a:stretch>
            <a:fillRect/>
          </a:stretch>
        </p:blipFill>
        <p:spPr>
          <a:xfrm>
            <a:off x="1000455" y="1532586"/>
            <a:ext cx="5095545" cy="4919730"/>
          </a:xfrm>
          <a:prstGeom prst="rect">
            <a:avLst/>
          </a:prstGeom>
        </p:spPr>
      </p:pic>
      <p:pic>
        <p:nvPicPr>
          <p:cNvPr id="5" name="Picture 4"/>
          <p:cNvPicPr>
            <a:picLocks noChangeAspect="1"/>
          </p:cNvPicPr>
          <p:nvPr/>
        </p:nvPicPr>
        <p:blipFill>
          <a:blip r:embed="rId3"/>
          <a:stretch>
            <a:fillRect/>
          </a:stretch>
        </p:blipFill>
        <p:spPr>
          <a:xfrm>
            <a:off x="6474316" y="2292439"/>
            <a:ext cx="4879483" cy="2430083"/>
          </a:xfrm>
          <a:prstGeom prst="rect">
            <a:avLst/>
          </a:prstGeom>
        </p:spPr>
      </p:pic>
      <p:sp>
        <p:nvSpPr>
          <p:cNvPr id="6" name="Title 1"/>
          <p:cNvSpPr txBox="1">
            <a:spLocks/>
          </p:cNvSpPr>
          <p:nvPr/>
        </p:nvSpPr>
        <p:spPr>
          <a:xfrm>
            <a:off x="3237963" y="84935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InlineStyles.html</a:t>
            </a:r>
          </a:p>
        </p:txBody>
      </p:sp>
      <p:sp>
        <p:nvSpPr>
          <p:cNvPr id="7" name="Title 1"/>
          <p:cNvSpPr txBox="1">
            <a:spLocks/>
          </p:cNvSpPr>
          <p:nvPr/>
        </p:nvSpPr>
        <p:spPr>
          <a:xfrm>
            <a:off x="7316272" y="84935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2666369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0" y="-348343"/>
            <a:ext cx="11353799" cy="7474857"/>
          </a:xfrm>
          <a:prstGeom prst="rect">
            <a:avLst/>
          </a:prstGeom>
        </p:spPr>
      </p:pic>
    </p:spTree>
    <p:extLst>
      <p:ext uri="{BB962C8B-B14F-4D97-AF65-F5344CB8AC3E}">
        <p14:creationId xmlns:p14="http://schemas.microsoft.com/office/powerpoint/2010/main" val="5365094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6366"/>
            <a:ext cx="10515600" cy="703821"/>
          </a:xfrm>
        </p:spPr>
        <p:txBody>
          <a:bodyPr/>
          <a:lstStyle/>
          <a:p>
            <a:r>
              <a:rPr lang="en-US" dirty="0"/>
              <a:t>External style sheets</a:t>
            </a:r>
          </a:p>
        </p:txBody>
      </p:sp>
      <p:sp>
        <p:nvSpPr>
          <p:cNvPr id="3" name="Content Placeholder 2"/>
          <p:cNvSpPr>
            <a:spLocks noGrp="1"/>
          </p:cNvSpPr>
          <p:nvPr>
            <p:ph idx="1"/>
          </p:nvPr>
        </p:nvSpPr>
        <p:spPr>
          <a:xfrm>
            <a:off x="838200" y="1365161"/>
            <a:ext cx="10515600" cy="5215943"/>
          </a:xfrm>
        </p:spPr>
        <p:txBody>
          <a:bodyPr>
            <a:normAutofit/>
          </a:bodyPr>
          <a:lstStyle/>
          <a:p>
            <a:pPr marL="0" indent="0">
              <a:buNone/>
            </a:pPr>
            <a:r>
              <a:rPr lang="en-US" dirty="0"/>
              <a:t>An external style sheet is a separate document that contains only CSS rules.</a:t>
            </a:r>
          </a:p>
          <a:p>
            <a:pPr marL="0" indent="0">
              <a:buNone/>
            </a:pPr>
            <a:r>
              <a:rPr lang="en-US" dirty="0"/>
              <a:t>An external style sheet has a </a:t>
            </a:r>
            <a:r>
              <a:rPr lang="en-US" dirty="0">
                <a:solidFill>
                  <a:srgbClr val="00B050"/>
                </a:solidFill>
              </a:rPr>
              <a:t>.css </a:t>
            </a:r>
            <a:r>
              <a:rPr lang="en-US" dirty="0"/>
              <a:t>extension.</a:t>
            </a:r>
          </a:p>
          <a:p>
            <a:pPr marL="0" indent="0">
              <a:buNone/>
            </a:pPr>
            <a:r>
              <a:rPr lang="en-US" dirty="0"/>
              <a:t>External style sheets are used to apply uniform styles to all the Web pages. </a:t>
            </a:r>
          </a:p>
          <a:p>
            <a:pPr marL="0" indent="0">
              <a:buNone/>
            </a:pPr>
            <a:r>
              <a:rPr lang="en-US" dirty="0"/>
              <a:t>For example, let's assume that you are creating a website that contains more than one Web page and you want the same look and feel for same type of HTML elements in all the Web pages. In such a situation, you can first create all the required CSS rules in an external style sheet and then link it to all the Web pages of the website.</a:t>
            </a:r>
          </a:p>
        </p:txBody>
      </p:sp>
    </p:spTree>
    <p:extLst>
      <p:ext uri="{BB962C8B-B14F-4D97-AF65-F5344CB8AC3E}">
        <p14:creationId xmlns:p14="http://schemas.microsoft.com/office/powerpoint/2010/main" val="3069220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External style sheet</a:t>
            </a:r>
          </a:p>
        </p:txBody>
      </p:sp>
      <p:sp>
        <p:nvSpPr>
          <p:cNvPr id="3" name="Content Placeholder 2"/>
          <p:cNvSpPr>
            <a:spLocks noGrp="1"/>
          </p:cNvSpPr>
          <p:nvPr>
            <p:ph idx="1"/>
          </p:nvPr>
        </p:nvSpPr>
        <p:spPr/>
        <p:txBody>
          <a:bodyPr/>
          <a:lstStyle/>
          <a:p>
            <a:r>
              <a:rPr lang="en-US" dirty="0"/>
              <a:t>You can create an external style sheet by creating a new ,blank document in a text editor, such as Notepad, and create your styles in the document. After creating your styles, you need to save the document with </a:t>
            </a:r>
            <a:r>
              <a:rPr lang="en-US" dirty="0">
                <a:solidFill>
                  <a:srgbClr val="00B050"/>
                </a:solidFill>
              </a:rPr>
              <a:t>.</a:t>
            </a:r>
            <a:r>
              <a:rPr lang="en-US" dirty="0" err="1">
                <a:solidFill>
                  <a:srgbClr val="00B050"/>
                </a:solidFill>
              </a:rPr>
              <a:t>css</a:t>
            </a:r>
            <a:r>
              <a:rPr lang="en-US" dirty="0">
                <a:solidFill>
                  <a:srgbClr val="00B050"/>
                </a:solidFill>
              </a:rPr>
              <a:t> </a:t>
            </a:r>
            <a:r>
              <a:rPr lang="en-US" dirty="0"/>
              <a:t>extension.</a:t>
            </a:r>
          </a:p>
          <a:p>
            <a:r>
              <a:rPr lang="en-US" dirty="0"/>
              <a:t>After creating an external style sheet, you can use the styles added to the style sheet, in an HTML document. To do so, you need to link the style sheet to the HTML document (web page) by using the  </a:t>
            </a:r>
            <a:r>
              <a:rPr lang="en-US" dirty="0">
                <a:solidFill>
                  <a:srgbClr val="00B050"/>
                </a:solidFill>
              </a:rPr>
              <a:t>&lt;link&gt; </a:t>
            </a:r>
            <a:r>
              <a:rPr lang="en-US" dirty="0"/>
              <a:t>element.</a:t>
            </a:r>
          </a:p>
        </p:txBody>
      </p:sp>
      <p:sp>
        <p:nvSpPr>
          <p:cNvPr id="5" name="Title 1"/>
          <p:cNvSpPr txBox="1">
            <a:spLocks/>
          </p:cNvSpPr>
          <p:nvPr/>
        </p:nvSpPr>
        <p:spPr>
          <a:xfrm>
            <a:off x="4268274" y="4461524"/>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Style.css</a:t>
            </a:r>
          </a:p>
        </p:txBody>
      </p:sp>
      <p:pic>
        <p:nvPicPr>
          <p:cNvPr id="6" name="Picture 5"/>
          <p:cNvPicPr>
            <a:picLocks noChangeAspect="1"/>
          </p:cNvPicPr>
          <p:nvPr/>
        </p:nvPicPr>
        <p:blipFill>
          <a:blip r:embed="rId2"/>
          <a:stretch>
            <a:fillRect/>
          </a:stretch>
        </p:blipFill>
        <p:spPr>
          <a:xfrm>
            <a:off x="1720403" y="5071236"/>
            <a:ext cx="7772400" cy="1038225"/>
          </a:xfrm>
          <a:prstGeom prst="rect">
            <a:avLst/>
          </a:prstGeom>
        </p:spPr>
      </p:pic>
    </p:spTree>
    <p:extLst>
      <p:ext uri="{BB962C8B-B14F-4D97-AF65-F5344CB8AC3E}">
        <p14:creationId xmlns:p14="http://schemas.microsoft.com/office/powerpoint/2010/main" val="33706007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Style.css</a:t>
            </a:r>
            <a:endParaRPr lang="en-IN" dirty="0"/>
          </a:p>
        </p:txBody>
      </p:sp>
      <p:pic>
        <p:nvPicPr>
          <p:cNvPr id="4" name="Content Placeholder 3"/>
          <p:cNvPicPr>
            <a:picLocks noGrp="1" noChangeAspect="1"/>
          </p:cNvPicPr>
          <p:nvPr>
            <p:ph idx="1"/>
          </p:nvPr>
        </p:nvPicPr>
        <p:blipFill>
          <a:blip r:embed="rId2"/>
          <a:stretch>
            <a:fillRect/>
          </a:stretch>
        </p:blipFill>
        <p:spPr>
          <a:xfrm>
            <a:off x="508001" y="2481942"/>
            <a:ext cx="11683999" cy="3120572"/>
          </a:xfrm>
          <a:prstGeom prst="rect">
            <a:avLst/>
          </a:prstGeom>
        </p:spPr>
      </p:pic>
    </p:spTree>
    <p:extLst>
      <p:ext uri="{BB962C8B-B14F-4D97-AF65-F5344CB8AC3E}">
        <p14:creationId xmlns:p14="http://schemas.microsoft.com/office/powerpoint/2010/main" val="27680489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Linking an HTML Document to an External Style sheet </a:t>
            </a:r>
            <a:endParaRPr lang="en-IN" dirty="0"/>
          </a:p>
        </p:txBody>
      </p:sp>
      <p:sp>
        <p:nvSpPr>
          <p:cNvPr id="3" name="Content Placeholder 2"/>
          <p:cNvSpPr>
            <a:spLocks noGrp="1"/>
          </p:cNvSpPr>
          <p:nvPr>
            <p:ph idx="1"/>
          </p:nvPr>
        </p:nvSpPr>
        <p:spPr/>
        <p:txBody>
          <a:bodyPr/>
          <a:lstStyle/>
          <a:p>
            <a:r>
              <a:rPr lang="en-US" dirty="0"/>
              <a:t>You can link your Web page to an external style sheet by setting the </a:t>
            </a:r>
            <a:r>
              <a:rPr lang="en-US" dirty="0" err="1">
                <a:solidFill>
                  <a:srgbClr val="00B050"/>
                </a:solidFill>
              </a:rPr>
              <a:t>href</a:t>
            </a:r>
            <a:r>
              <a:rPr lang="en-US" dirty="0"/>
              <a:t> attribute of the </a:t>
            </a:r>
            <a:r>
              <a:rPr lang="en-US" dirty="0">
                <a:solidFill>
                  <a:srgbClr val="00B050"/>
                </a:solidFill>
              </a:rPr>
              <a:t>&lt;link&gt; </a:t>
            </a:r>
            <a:r>
              <a:rPr lang="en-US" dirty="0"/>
              <a:t>element to the name of the style sheet. The </a:t>
            </a:r>
            <a:r>
              <a:rPr lang="en-US" dirty="0">
                <a:solidFill>
                  <a:srgbClr val="00B050"/>
                </a:solidFill>
              </a:rPr>
              <a:t>&lt;link&gt; </a:t>
            </a:r>
            <a:r>
              <a:rPr lang="en-US" dirty="0"/>
              <a:t>element is added inside the </a:t>
            </a:r>
            <a:r>
              <a:rPr lang="en-US" dirty="0">
                <a:solidFill>
                  <a:srgbClr val="00B050"/>
                </a:solidFill>
              </a:rPr>
              <a:t>&lt;head&gt; </a:t>
            </a:r>
            <a:r>
              <a:rPr lang="en-US" dirty="0"/>
              <a:t>element of the HTML document. </a:t>
            </a:r>
          </a:p>
          <a:p>
            <a:endParaRPr lang="en-IN" dirty="0"/>
          </a:p>
        </p:txBody>
      </p:sp>
      <p:pic>
        <p:nvPicPr>
          <p:cNvPr id="4" name="Content Placeholder 3"/>
          <p:cNvPicPr>
            <a:picLocks noChangeAspect="1"/>
          </p:cNvPicPr>
          <p:nvPr/>
        </p:nvPicPr>
        <p:blipFill>
          <a:blip r:embed="rId2"/>
          <a:stretch>
            <a:fillRect/>
          </a:stretch>
        </p:blipFill>
        <p:spPr>
          <a:xfrm>
            <a:off x="1535805" y="4292612"/>
            <a:ext cx="3505200" cy="2276475"/>
          </a:xfrm>
          <a:prstGeom prst="rect">
            <a:avLst/>
          </a:prstGeom>
        </p:spPr>
      </p:pic>
      <p:pic>
        <p:nvPicPr>
          <p:cNvPr id="5" name="Picture 4"/>
          <p:cNvPicPr>
            <a:picLocks noChangeAspect="1"/>
          </p:cNvPicPr>
          <p:nvPr/>
        </p:nvPicPr>
        <p:blipFill>
          <a:blip r:embed="rId3"/>
          <a:stretch>
            <a:fillRect/>
          </a:stretch>
        </p:blipFill>
        <p:spPr>
          <a:xfrm>
            <a:off x="6394763" y="4292612"/>
            <a:ext cx="4476750" cy="1571625"/>
          </a:xfrm>
          <a:prstGeom prst="rect">
            <a:avLst/>
          </a:prstGeom>
        </p:spPr>
      </p:pic>
      <p:sp>
        <p:nvSpPr>
          <p:cNvPr id="6" name="Title 1"/>
          <p:cNvSpPr txBox="1">
            <a:spLocks/>
          </p:cNvSpPr>
          <p:nvPr/>
        </p:nvSpPr>
        <p:spPr>
          <a:xfrm>
            <a:off x="2452351" y="335827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ExternalStyleSheets.html</a:t>
            </a:r>
          </a:p>
        </p:txBody>
      </p:sp>
      <p:sp>
        <p:nvSpPr>
          <p:cNvPr id="7" name="Title 1"/>
          <p:cNvSpPr txBox="1">
            <a:spLocks/>
          </p:cNvSpPr>
          <p:nvPr/>
        </p:nvSpPr>
        <p:spPr>
          <a:xfrm>
            <a:off x="7204119" y="335827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6117869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ExternalStyleSheets.html</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838200" y="1799772"/>
            <a:ext cx="10515600" cy="4862286"/>
          </a:xfrm>
          <a:prstGeom prst="rect">
            <a:avLst/>
          </a:prstGeom>
        </p:spPr>
      </p:pic>
    </p:spTree>
    <p:extLst>
      <p:ext uri="{BB962C8B-B14F-4D97-AF65-F5344CB8AC3E}">
        <p14:creationId xmlns:p14="http://schemas.microsoft.com/office/powerpoint/2010/main" val="7728812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style sheets</a:t>
            </a:r>
          </a:p>
        </p:txBody>
      </p:sp>
      <p:sp>
        <p:nvSpPr>
          <p:cNvPr id="3" name="Content Placeholder 2"/>
          <p:cNvSpPr>
            <a:spLocks noGrp="1"/>
          </p:cNvSpPr>
          <p:nvPr>
            <p:ph idx="1"/>
          </p:nvPr>
        </p:nvSpPr>
        <p:spPr/>
        <p:txBody>
          <a:bodyPr/>
          <a:lstStyle/>
          <a:p>
            <a:r>
              <a:rPr lang="en-US" dirty="0"/>
              <a:t>Internal style sheets are not separate documents, rather they are styles, created inside an HTML document.</a:t>
            </a:r>
          </a:p>
          <a:p>
            <a:r>
              <a:rPr lang="en-US" dirty="0"/>
              <a:t>An internal style sheet is a set of styles that is created as a part of an HTML document.</a:t>
            </a:r>
          </a:p>
          <a:p>
            <a:r>
              <a:rPr lang="en-US" dirty="0"/>
              <a:t>These style sheets are useful when you want to apply similar styles to all the elements present on a Web page.</a:t>
            </a:r>
          </a:p>
          <a:p>
            <a:r>
              <a:rPr lang="en-US" dirty="0"/>
              <a:t>Internal style sheets are created using the </a:t>
            </a:r>
            <a:r>
              <a:rPr lang="en-US" dirty="0">
                <a:solidFill>
                  <a:srgbClr val="00B050"/>
                </a:solidFill>
              </a:rPr>
              <a:t>&lt;style&gt; </a:t>
            </a:r>
            <a:r>
              <a:rPr lang="en-US" dirty="0"/>
              <a:t>element that is added inside the </a:t>
            </a:r>
            <a:r>
              <a:rPr lang="en-US" dirty="0">
                <a:solidFill>
                  <a:srgbClr val="00B050"/>
                </a:solidFill>
              </a:rPr>
              <a:t>&lt;head&gt; </a:t>
            </a:r>
            <a:r>
              <a:rPr lang="en-US" dirty="0"/>
              <a:t>element of the HTML document.</a:t>
            </a:r>
          </a:p>
        </p:txBody>
      </p:sp>
    </p:spTree>
    <p:extLst>
      <p:ext uri="{BB962C8B-B14F-4D97-AF65-F5344CB8AC3E}">
        <p14:creationId xmlns:p14="http://schemas.microsoft.com/office/powerpoint/2010/main" val="1307729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389"/>
          </a:xfrm>
        </p:spPr>
        <p:txBody>
          <a:bodyPr>
            <a:normAutofit fontScale="90000"/>
          </a:bodyPr>
          <a:lstStyle/>
          <a:p>
            <a:r>
              <a:rPr lang="en-US" dirty="0"/>
              <a:t>InternalStyleSheets.html</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725714" y="638629"/>
            <a:ext cx="10958285" cy="6023429"/>
          </a:xfrm>
          <a:prstGeom prst="rect">
            <a:avLst/>
          </a:prstGeom>
        </p:spPr>
      </p:pic>
    </p:spTree>
    <p:extLst>
      <p:ext uri="{BB962C8B-B14F-4D97-AF65-F5344CB8AC3E}">
        <p14:creationId xmlns:p14="http://schemas.microsoft.com/office/powerpoint/2010/main" val="4659488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style sheets</a:t>
            </a:r>
          </a:p>
        </p:txBody>
      </p:sp>
      <p:pic>
        <p:nvPicPr>
          <p:cNvPr id="4" name="Content Placeholder 3"/>
          <p:cNvPicPr>
            <a:picLocks noGrp="1" noChangeAspect="1"/>
          </p:cNvPicPr>
          <p:nvPr>
            <p:ph idx="1"/>
          </p:nvPr>
        </p:nvPicPr>
        <p:blipFill>
          <a:blip r:embed="rId2"/>
          <a:stretch>
            <a:fillRect/>
          </a:stretch>
        </p:blipFill>
        <p:spPr>
          <a:xfrm>
            <a:off x="1175658" y="2467429"/>
            <a:ext cx="4236136" cy="3443173"/>
          </a:xfrm>
          <a:prstGeom prst="rect">
            <a:avLst/>
          </a:prstGeom>
        </p:spPr>
      </p:pic>
      <p:pic>
        <p:nvPicPr>
          <p:cNvPr id="5" name="Picture 4"/>
          <p:cNvPicPr>
            <a:picLocks noChangeAspect="1"/>
          </p:cNvPicPr>
          <p:nvPr/>
        </p:nvPicPr>
        <p:blipFill>
          <a:blip r:embed="rId3"/>
          <a:stretch>
            <a:fillRect/>
          </a:stretch>
        </p:blipFill>
        <p:spPr>
          <a:xfrm>
            <a:off x="6429829" y="3147558"/>
            <a:ext cx="4772025" cy="1724025"/>
          </a:xfrm>
          <a:prstGeom prst="rect">
            <a:avLst/>
          </a:prstGeom>
        </p:spPr>
      </p:pic>
      <p:sp>
        <p:nvSpPr>
          <p:cNvPr id="6" name="Title 1"/>
          <p:cNvSpPr txBox="1">
            <a:spLocks/>
          </p:cNvSpPr>
          <p:nvPr/>
        </p:nvSpPr>
        <p:spPr>
          <a:xfrm>
            <a:off x="2034913" y="161764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InternalStyleSheets.html</a:t>
            </a:r>
          </a:p>
        </p:txBody>
      </p:sp>
      <p:sp>
        <p:nvSpPr>
          <p:cNvPr id="7" name="Title 1"/>
          <p:cNvSpPr txBox="1">
            <a:spLocks/>
          </p:cNvSpPr>
          <p:nvPr/>
        </p:nvSpPr>
        <p:spPr>
          <a:xfrm>
            <a:off x="7245541" y="163483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3666805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8383"/>
            <a:ext cx="10515600" cy="825046"/>
          </a:xfrm>
        </p:spPr>
        <p:txBody>
          <a:bodyPr>
            <a:normAutofit/>
          </a:bodyPr>
          <a:lstStyle/>
          <a:p>
            <a:r>
              <a:rPr lang="en-US" dirty="0"/>
              <a:t>Using style classes</a:t>
            </a:r>
          </a:p>
        </p:txBody>
      </p:sp>
      <p:sp>
        <p:nvSpPr>
          <p:cNvPr id="3" name="Content Placeholder 2"/>
          <p:cNvSpPr>
            <a:spLocks noGrp="1"/>
          </p:cNvSpPr>
          <p:nvPr>
            <p:ph idx="1"/>
          </p:nvPr>
        </p:nvSpPr>
        <p:spPr>
          <a:xfrm>
            <a:off x="791029" y="1117600"/>
            <a:ext cx="10515600" cy="5413829"/>
          </a:xfrm>
        </p:spPr>
        <p:txBody>
          <a:bodyPr/>
          <a:lstStyle/>
          <a:p>
            <a:r>
              <a:rPr lang="en-US" dirty="0"/>
              <a:t>In style classes method, you can create styles in the form of style classes in external or embedded style  sheets. To apply a style defined in a style class to an HTML element, you can assign the class attribute of the HTML element to the name of the style class. You can create two types of style classes : universal and element specific. A universal style class starts with a dot operator (.) followed by the class name. The syntax to define a universal style class is as follows:</a:t>
            </a:r>
          </a:p>
          <a:p>
            <a:pPr marL="0" indent="0">
              <a:lnSpc>
                <a:spcPct val="100000"/>
              </a:lnSpc>
              <a:buNone/>
            </a:pPr>
            <a:r>
              <a:rPr lang="en-US" dirty="0">
                <a:solidFill>
                  <a:srgbClr val="00B050"/>
                </a:solidFill>
              </a:rPr>
              <a:t>&lt;style&gt; 	.class name {class definition}	&lt;/style&gt;</a:t>
            </a:r>
          </a:p>
          <a:p>
            <a:pPr marL="0" indent="0">
              <a:buNone/>
            </a:pPr>
            <a:r>
              <a:rPr lang="en-US" dirty="0"/>
              <a:t>An element specific style class starts with the element name, followed by a dot operator, which is followed by the class name. The syntax to define an element specific style class is as follows.</a:t>
            </a:r>
          </a:p>
          <a:p>
            <a:pPr marL="0" indent="0">
              <a:buNone/>
            </a:pPr>
            <a:r>
              <a:rPr lang="en-US" dirty="0">
                <a:solidFill>
                  <a:srgbClr val="00B050"/>
                </a:solidFill>
              </a:rPr>
              <a:t>&lt;style&gt;	Element name. Class name {class definition}   &lt;/style&gt;</a:t>
            </a:r>
          </a:p>
          <a:p>
            <a:endParaRPr lang="en-US" dirty="0"/>
          </a:p>
        </p:txBody>
      </p:sp>
    </p:spTree>
    <p:extLst>
      <p:ext uri="{BB962C8B-B14F-4D97-AF65-F5344CB8AC3E}">
        <p14:creationId xmlns:p14="http://schemas.microsoft.com/office/powerpoint/2010/main" val="1367061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410"/>
            <a:ext cx="10515600" cy="970189"/>
          </a:xfrm>
        </p:spPr>
        <p:txBody>
          <a:bodyPr>
            <a:normAutofit/>
          </a:bodyPr>
          <a:lstStyle/>
          <a:p>
            <a:r>
              <a:rPr lang="en-US" dirty="0"/>
              <a:t>Using style classes</a:t>
            </a:r>
          </a:p>
        </p:txBody>
      </p:sp>
      <p:pic>
        <p:nvPicPr>
          <p:cNvPr id="4" name="Content Placeholder 3"/>
          <p:cNvPicPr>
            <a:picLocks noGrp="1" noChangeAspect="1"/>
          </p:cNvPicPr>
          <p:nvPr>
            <p:ph idx="1"/>
          </p:nvPr>
        </p:nvPicPr>
        <p:blipFill>
          <a:blip r:embed="rId2"/>
          <a:stretch>
            <a:fillRect/>
          </a:stretch>
        </p:blipFill>
        <p:spPr>
          <a:xfrm>
            <a:off x="838199" y="1510488"/>
            <a:ext cx="4894944" cy="5078997"/>
          </a:xfrm>
          <a:prstGeom prst="rect">
            <a:avLst/>
          </a:prstGeom>
        </p:spPr>
      </p:pic>
      <p:pic>
        <p:nvPicPr>
          <p:cNvPr id="5" name="Picture 4"/>
          <p:cNvPicPr>
            <a:picLocks noChangeAspect="1"/>
          </p:cNvPicPr>
          <p:nvPr/>
        </p:nvPicPr>
        <p:blipFill>
          <a:blip r:embed="rId3"/>
          <a:stretch>
            <a:fillRect/>
          </a:stretch>
        </p:blipFill>
        <p:spPr>
          <a:xfrm>
            <a:off x="6096000" y="2891744"/>
            <a:ext cx="4905375" cy="2409825"/>
          </a:xfrm>
          <a:prstGeom prst="rect">
            <a:avLst/>
          </a:prstGeom>
        </p:spPr>
      </p:pic>
      <p:sp>
        <p:nvSpPr>
          <p:cNvPr id="6" name="Title 1"/>
          <p:cNvSpPr txBox="1">
            <a:spLocks/>
          </p:cNvSpPr>
          <p:nvPr/>
        </p:nvSpPr>
        <p:spPr>
          <a:xfrm>
            <a:off x="1846228" y="96827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StyleClasses.html</a:t>
            </a:r>
          </a:p>
        </p:txBody>
      </p:sp>
      <p:sp>
        <p:nvSpPr>
          <p:cNvPr id="7" name="Title 1"/>
          <p:cNvSpPr txBox="1">
            <a:spLocks/>
          </p:cNvSpPr>
          <p:nvPr/>
        </p:nvSpPr>
        <p:spPr>
          <a:xfrm>
            <a:off x="7274570" y="968278"/>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3639591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115" y="118382"/>
            <a:ext cx="10515600" cy="854075"/>
          </a:xfrm>
        </p:spPr>
        <p:txBody>
          <a:bodyPr>
            <a:normAutofit fontScale="90000"/>
          </a:bodyPr>
          <a:lstStyle/>
          <a:p>
            <a:r>
              <a:rPr lang="en-US" sz="2000" b="1" dirty="0"/>
              <a:t>StyleClasses.html</a:t>
            </a:r>
            <a:r>
              <a:rPr lang="en-US" dirty="0"/>
              <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1785257" y="0"/>
            <a:ext cx="10406743" cy="6857999"/>
          </a:xfrm>
          <a:prstGeom prst="rect">
            <a:avLst/>
          </a:prstGeom>
        </p:spPr>
      </p:pic>
    </p:spTree>
    <p:extLst>
      <p:ext uri="{BB962C8B-B14F-4D97-AF65-F5344CB8AC3E}">
        <p14:creationId xmlns:p14="http://schemas.microsoft.com/office/powerpoint/2010/main" val="33651633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6361"/>
          </a:xfrm>
        </p:spPr>
        <p:txBody>
          <a:bodyPr>
            <a:normAutofit fontScale="90000"/>
          </a:bodyPr>
          <a:lstStyle/>
          <a:p>
            <a:r>
              <a:rPr lang="en-US" b="1" dirty="0"/>
              <a:t>StyleClasses.html</a:t>
            </a:r>
            <a:endParaRPr lang="en-IN" dirty="0"/>
          </a:p>
        </p:txBody>
      </p:sp>
      <p:pic>
        <p:nvPicPr>
          <p:cNvPr id="4" name="Content Placeholder 3"/>
          <p:cNvPicPr>
            <a:picLocks noGrp="1" noChangeAspect="1"/>
          </p:cNvPicPr>
          <p:nvPr>
            <p:ph idx="1"/>
          </p:nvPr>
        </p:nvPicPr>
        <p:blipFill>
          <a:blip r:embed="rId2"/>
          <a:stretch>
            <a:fillRect/>
          </a:stretch>
        </p:blipFill>
        <p:spPr>
          <a:xfrm>
            <a:off x="838200" y="1001486"/>
            <a:ext cx="10515600" cy="5196114"/>
          </a:xfrm>
          <a:prstGeom prst="rect">
            <a:avLst/>
          </a:prstGeom>
        </p:spPr>
      </p:pic>
    </p:spTree>
    <p:extLst>
      <p:ext uri="{BB962C8B-B14F-4D97-AF65-F5344CB8AC3E}">
        <p14:creationId xmlns:p14="http://schemas.microsoft.com/office/powerpoint/2010/main" val="40982134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styles</a:t>
            </a:r>
          </a:p>
        </p:txBody>
      </p:sp>
      <p:sp>
        <p:nvSpPr>
          <p:cNvPr id="3" name="Content Placeholder 2"/>
          <p:cNvSpPr>
            <a:spLocks noGrp="1"/>
          </p:cNvSpPr>
          <p:nvPr>
            <p:ph idx="1"/>
          </p:nvPr>
        </p:nvSpPr>
        <p:spPr/>
        <p:txBody>
          <a:bodyPr/>
          <a:lstStyle/>
          <a:p>
            <a:pPr marL="0" indent="0">
              <a:buNone/>
            </a:pPr>
            <a:r>
              <a:rPr lang="en-US" dirty="0"/>
              <a:t>Multiple styles can be defined by using the different methods to implement CSS. For this reason ,the use of several external style sheets results in cascading the styles, which is a combination of styles for various HTML elements. If multiple styles affect the same element, only the last one is used. You can link the external style sheets to the document as follows:</a:t>
            </a:r>
          </a:p>
          <a:p>
            <a:pPr marL="0" indent="0" algn="ctr">
              <a:buNone/>
            </a:pPr>
            <a:r>
              <a:rPr lang="en-US" dirty="0">
                <a:solidFill>
                  <a:srgbClr val="00B050"/>
                </a:solidFill>
              </a:rPr>
              <a:t>&lt;LINK </a:t>
            </a:r>
            <a:r>
              <a:rPr lang="en-US" dirty="0" err="1">
                <a:solidFill>
                  <a:srgbClr val="00B050"/>
                </a:solidFill>
              </a:rPr>
              <a:t>rel</a:t>
            </a:r>
            <a:r>
              <a:rPr lang="en-US" dirty="0">
                <a:solidFill>
                  <a:srgbClr val="00B050"/>
                </a:solidFill>
              </a:rPr>
              <a:t>=</a:t>
            </a:r>
            <a:r>
              <a:rPr lang="en-US" dirty="0" err="1">
                <a:solidFill>
                  <a:srgbClr val="00B050"/>
                </a:solidFill>
              </a:rPr>
              <a:t>stylesheet</a:t>
            </a:r>
            <a:r>
              <a:rPr lang="en-US" dirty="0">
                <a:solidFill>
                  <a:srgbClr val="00B050"/>
                </a:solidFill>
              </a:rPr>
              <a:t> type=“text/css” href=“style1.css”&gt;</a:t>
            </a:r>
          </a:p>
          <a:p>
            <a:pPr marL="0" indent="0" algn="ctr">
              <a:buNone/>
            </a:pPr>
            <a:r>
              <a:rPr lang="en-US" dirty="0">
                <a:solidFill>
                  <a:srgbClr val="00B050"/>
                </a:solidFill>
              </a:rPr>
              <a:t>&lt;LINK </a:t>
            </a:r>
            <a:r>
              <a:rPr lang="en-US" dirty="0" err="1">
                <a:solidFill>
                  <a:srgbClr val="00B050"/>
                </a:solidFill>
              </a:rPr>
              <a:t>rel</a:t>
            </a:r>
            <a:r>
              <a:rPr lang="en-US" dirty="0">
                <a:solidFill>
                  <a:srgbClr val="00B050"/>
                </a:solidFill>
              </a:rPr>
              <a:t>=</a:t>
            </a:r>
            <a:r>
              <a:rPr lang="en-US" dirty="0" err="1">
                <a:solidFill>
                  <a:srgbClr val="00B050"/>
                </a:solidFill>
              </a:rPr>
              <a:t>stylesheet</a:t>
            </a:r>
            <a:r>
              <a:rPr lang="en-US" dirty="0">
                <a:solidFill>
                  <a:srgbClr val="00B050"/>
                </a:solidFill>
              </a:rPr>
              <a:t> type=“text/css” href=“style2.css”&gt;</a:t>
            </a:r>
          </a:p>
          <a:p>
            <a:pPr marL="0" indent="0" algn="ctr">
              <a:buNone/>
            </a:pPr>
            <a:r>
              <a:rPr lang="en-US" dirty="0">
                <a:solidFill>
                  <a:srgbClr val="00B050"/>
                </a:solidFill>
              </a:rPr>
              <a:t>&lt;LINK </a:t>
            </a:r>
            <a:r>
              <a:rPr lang="en-US" dirty="0" err="1">
                <a:solidFill>
                  <a:srgbClr val="00B050"/>
                </a:solidFill>
              </a:rPr>
              <a:t>rel</a:t>
            </a:r>
            <a:r>
              <a:rPr lang="en-US" dirty="0">
                <a:solidFill>
                  <a:srgbClr val="00B050"/>
                </a:solidFill>
              </a:rPr>
              <a:t>=</a:t>
            </a:r>
            <a:r>
              <a:rPr lang="en-US" dirty="0" err="1">
                <a:solidFill>
                  <a:srgbClr val="00B050"/>
                </a:solidFill>
              </a:rPr>
              <a:t>stylesheet</a:t>
            </a:r>
            <a:r>
              <a:rPr lang="en-US" dirty="0">
                <a:solidFill>
                  <a:srgbClr val="00B050"/>
                </a:solidFill>
              </a:rPr>
              <a:t> type=“text/css” href=“style3.css”&gt;</a:t>
            </a:r>
          </a:p>
          <a:p>
            <a:endParaRPr lang="en-US" dirty="0"/>
          </a:p>
        </p:txBody>
      </p:sp>
    </p:spTree>
    <p:extLst>
      <p:ext uri="{BB962C8B-B14F-4D97-AF65-F5344CB8AC3E}">
        <p14:creationId xmlns:p14="http://schemas.microsoft.com/office/powerpoint/2010/main" val="33212319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46" y="656824"/>
            <a:ext cx="11938716" cy="5623170"/>
          </a:xfrm>
        </p:spPr>
        <p:txBody>
          <a:bodyPr/>
          <a:lstStyle/>
          <a:p>
            <a:r>
              <a:rPr lang="en-US" dirty="0"/>
              <a:t>If multiple conflicting styles are found in the external style sheets, the CSS recommendations allow users to select among several alternative style sheets using the </a:t>
            </a:r>
            <a:r>
              <a:rPr lang="en-US" dirty="0" err="1">
                <a:solidFill>
                  <a:srgbClr val="00B050"/>
                </a:solidFill>
              </a:rPr>
              <a:t>rel</a:t>
            </a:r>
            <a:r>
              <a:rPr lang="en-US" dirty="0"/>
              <a:t> attribute of the </a:t>
            </a:r>
            <a:r>
              <a:rPr lang="en-US" dirty="0">
                <a:solidFill>
                  <a:srgbClr val="00B050"/>
                </a:solidFill>
              </a:rPr>
              <a:t>&lt;STYLE&gt; </a:t>
            </a:r>
            <a:r>
              <a:rPr lang="en-US" dirty="0"/>
              <a:t>tag, which is combined with the </a:t>
            </a:r>
            <a:r>
              <a:rPr lang="en-US" dirty="0">
                <a:solidFill>
                  <a:srgbClr val="00B050"/>
                </a:solidFill>
              </a:rPr>
              <a:t>TITLE</a:t>
            </a:r>
            <a:r>
              <a:rPr lang="en-US" dirty="0"/>
              <a:t> attribute to select them by name.</a:t>
            </a:r>
          </a:p>
          <a:p>
            <a:pPr marL="0" indent="0">
              <a:buNone/>
            </a:pPr>
            <a:endParaRPr lang="en-US" dirty="0"/>
          </a:p>
          <a:p>
            <a:pPr marL="0" indent="0" algn="ctr">
              <a:buNone/>
            </a:pPr>
            <a:r>
              <a:rPr lang="en-US" dirty="0">
                <a:solidFill>
                  <a:srgbClr val="00B050"/>
                </a:solidFill>
              </a:rPr>
              <a:t>&lt;LINK </a:t>
            </a:r>
            <a:r>
              <a:rPr lang="en-US" dirty="0" err="1">
                <a:solidFill>
                  <a:srgbClr val="00B050"/>
                </a:solidFill>
              </a:rPr>
              <a:t>rel</a:t>
            </a:r>
            <a:r>
              <a:rPr lang="en-US" dirty="0">
                <a:solidFill>
                  <a:srgbClr val="00B050"/>
                </a:solidFill>
              </a:rPr>
              <a:t>=“alternate </a:t>
            </a:r>
            <a:r>
              <a:rPr lang="en-US" dirty="0" err="1">
                <a:solidFill>
                  <a:srgbClr val="00B050"/>
                </a:solidFill>
              </a:rPr>
              <a:t>stylesheet</a:t>
            </a:r>
            <a:r>
              <a:rPr lang="en-US" dirty="0">
                <a:solidFill>
                  <a:srgbClr val="00B050"/>
                </a:solidFill>
              </a:rPr>
              <a:t>” type=“text/</a:t>
            </a:r>
            <a:r>
              <a:rPr lang="en-US" dirty="0" err="1">
                <a:solidFill>
                  <a:srgbClr val="00B050"/>
                </a:solidFill>
              </a:rPr>
              <a:t>css</a:t>
            </a:r>
            <a:r>
              <a:rPr lang="en-US" dirty="0">
                <a:solidFill>
                  <a:srgbClr val="00B050"/>
                </a:solidFill>
              </a:rPr>
              <a:t>” </a:t>
            </a:r>
            <a:r>
              <a:rPr lang="en-US" dirty="0" err="1">
                <a:solidFill>
                  <a:srgbClr val="00B050"/>
                </a:solidFill>
              </a:rPr>
              <a:t>href</a:t>
            </a:r>
            <a:r>
              <a:rPr lang="en-US" dirty="0">
                <a:solidFill>
                  <a:srgbClr val="00B050"/>
                </a:solidFill>
              </a:rPr>
              <a:t>=“style1.css” title=“style1”&gt;</a:t>
            </a:r>
          </a:p>
          <a:p>
            <a:pPr marL="0" indent="0" algn="ctr">
              <a:buNone/>
            </a:pPr>
            <a:r>
              <a:rPr lang="en-US" dirty="0">
                <a:solidFill>
                  <a:srgbClr val="00B050"/>
                </a:solidFill>
              </a:rPr>
              <a:t>&lt;LINK </a:t>
            </a:r>
            <a:r>
              <a:rPr lang="en-US" dirty="0" err="1">
                <a:solidFill>
                  <a:srgbClr val="00B050"/>
                </a:solidFill>
              </a:rPr>
              <a:t>rel</a:t>
            </a:r>
            <a:r>
              <a:rPr lang="en-US" dirty="0">
                <a:solidFill>
                  <a:srgbClr val="00B050"/>
                </a:solidFill>
              </a:rPr>
              <a:t>=“alternate </a:t>
            </a:r>
            <a:r>
              <a:rPr lang="en-US" dirty="0" err="1">
                <a:solidFill>
                  <a:srgbClr val="00B050"/>
                </a:solidFill>
              </a:rPr>
              <a:t>stylesheet</a:t>
            </a:r>
            <a:r>
              <a:rPr lang="en-US" dirty="0">
                <a:solidFill>
                  <a:srgbClr val="00B050"/>
                </a:solidFill>
              </a:rPr>
              <a:t>” type=“text/</a:t>
            </a:r>
            <a:r>
              <a:rPr lang="en-US" dirty="0" err="1">
                <a:solidFill>
                  <a:srgbClr val="00B050"/>
                </a:solidFill>
              </a:rPr>
              <a:t>css</a:t>
            </a:r>
            <a:r>
              <a:rPr lang="en-US" dirty="0">
                <a:solidFill>
                  <a:srgbClr val="00B050"/>
                </a:solidFill>
              </a:rPr>
              <a:t>” </a:t>
            </a:r>
            <a:r>
              <a:rPr lang="en-US" dirty="0" err="1">
                <a:solidFill>
                  <a:srgbClr val="00B050"/>
                </a:solidFill>
              </a:rPr>
              <a:t>href</a:t>
            </a:r>
            <a:r>
              <a:rPr lang="en-US" dirty="0">
                <a:solidFill>
                  <a:srgbClr val="00B050"/>
                </a:solidFill>
              </a:rPr>
              <a:t>=“style2.css” title=“style2”&gt;</a:t>
            </a:r>
          </a:p>
          <a:p>
            <a:pPr marL="0" indent="0" algn="ctr">
              <a:buNone/>
            </a:pPr>
            <a:r>
              <a:rPr lang="en-US" dirty="0">
                <a:solidFill>
                  <a:srgbClr val="00B050"/>
                </a:solidFill>
              </a:rPr>
              <a:t>&lt;LINK </a:t>
            </a:r>
            <a:r>
              <a:rPr lang="en-US" dirty="0" err="1">
                <a:solidFill>
                  <a:srgbClr val="00B050"/>
                </a:solidFill>
              </a:rPr>
              <a:t>rel</a:t>
            </a:r>
            <a:r>
              <a:rPr lang="en-US" dirty="0">
                <a:solidFill>
                  <a:srgbClr val="00B050"/>
                </a:solidFill>
              </a:rPr>
              <a:t>=</a:t>
            </a:r>
            <a:r>
              <a:rPr lang="en-US" dirty="0" err="1">
                <a:solidFill>
                  <a:srgbClr val="00B050"/>
                </a:solidFill>
              </a:rPr>
              <a:t>stylesheet</a:t>
            </a:r>
            <a:r>
              <a:rPr lang="en-US" dirty="0">
                <a:solidFill>
                  <a:srgbClr val="00B050"/>
                </a:solidFill>
              </a:rPr>
              <a:t> type=“text/</a:t>
            </a:r>
            <a:r>
              <a:rPr lang="en-US" dirty="0" err="1">
                <a:solidFill>
                  <a:srgbClr val="00B050"/>
                </a:solidFill>
              </a:rPr>
              <a:t>css</a:t>
            </a:r>
            <a:r>
              <a:rPr lang="en-US" dirty="0">
                <a:solidFill>
                  <a:srgbClr val="00B050"/>
                </a:solidFill>
              </a:rPr>
              <a:t>” </a:t>
            </a:r>
            <a:r>
              <a:rPr lang="en-US" dirty="0" err="1">
                <a:solidFill>
                  <a:srgbClr val="00B050"/>
                </a:solidFill>
              </a:rPr>
              <a:t>href</a:t>
            </a:r>
            <a:r>
              <a:rPr lang="en-US" dirty="0">
                <a:solidFill>
                  <a:srgbClr val="00B050"/>
                </a:solidFill>
              </a:rPr>
              <a:t>=“style2.css”&gt;</a:t>
            </a:r>
          </a:p>
          <a:p>
            <a:pPr marL="0" indent="0">
              <a:buNone/>
            </a:pPr>
            <a:r>
              <a:rPr lang="en-US" dirty="0"/>
              <a:t>Multiple styles are included in a page by using the various possible inclusion methods. </a:t>
            </a:r>
            <a:endParaRPr lang="en-US" dirty="0" smtClean="0"/>
          </a:p>
          <a:p>
            <a:pPr marL="0" indent="0">
              <a:buNone/>
            </a:pPr>
            <a:r>
              <a:rPr lang="en-US" dirty="0" smtClean="0"/>
              <a:t>The </a:t>
            </a:r>
            <a:r>
              <a:rPr lang="en-US" dirty="0"/>
              <a:t>style closest to the content is applied when some conflict appears among styles.</a:t>
            </a:r>
          </a:p>
          <a:p>
            <a:pPr marL="0" indent="0" algn="ctr">
              <a:buNone/>
            </a:pPr>
            <a:endParaRPr lang="en-US" dirty="0">
              <a:solidFill>
                <a:srgbClr val="00B050"/>
              </a:solidFill>
            </a:endParaRPr>
          </a:p>
        </p:txBody>
      </p:sp>
    </p:spTree>
    <p:extLst>
      <p:ext uri="{BB962C8B-B14F-4D97-AF65-F5344CB8AC3E}">
        <p14:creationId xmlns:p14="http://schemas.microsoft.com/office/powerpoint/2010/main" val="42691155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property</a:t>
            </a:r>
          </a:p>
        </p:txBody>
      </p:sp>
      <p:sp>
        <p:nvSpPr>
          <p:cNvPr id="3" name="Content Placeholder 2"/>
          <p:cNvSpPr>
            <a:spLocks noGrp="1"/>
          </p:cNvSpPr>
          <p:nvPr>
            <p:ph idx="1"/>
          </p:nvPr>
        </p:nvSpPr>
        <p:spPr/>
        <p:txBody>
          <a:bodyPr>
            <a:normAutofit lnSpcReduction="10000"/>
          </a:bodyPr>
          <a:lstStyle/>
          <a:p>
            <a:pPr marL="0" indent="0">
              <a:buNone/>
            </a:pPr>
            <a:r>
              <a:rPr lang="en-US" dirty="0"/>
              <a:t>The </a:t>
            </a:r>
            <a:r>
              <a:rPr lang="en-US" dirty="0">
                <a:solidFill>
                  <a:srgbClr val="00B050"/>
                </a:solidFill>
              </a:rPr>
              <a:t>background</a:t>
            </a:r>
            <a:r>
              <a:rPr lang="en-US" dirty="0"/>
              <a:t> property is a shorthand property for</a:t>
            </a:r>
          </a:p>
          <a:p>
            <a:pPr marL="514350" indent="-514350">
              <a:buFont typeface="+mj-lt"/>
              <a:buAutoNum type="arabicPeriod"/>
            </a:pPr>
            <a:r>
              <a:rPr lang="en-US" dirty="0"/>
              <a:t>background-color</a:t>
            </a:r>
          </a:p>
          <a:p>
            <a:pPr marL="514350" indent="-514350">
              <a:buFont typeface="+mj-lt"/>
              <a:buAutoNum type="arabicPeriod"/>
            </a:pPr>
            <a:r>
              <a:rPr lang="en-US" dirty="0"/>
              <a:t>background-image</a:t>
            </a:r>
          </a:p>
          <a:p>
            <a:pPr marL="514350" indent="-514350">
              <a:buFont typeface="+mj-lt"/>
              <a:buAutoNum type="arabicPeriod"/>
            </a:pPr>
            <a:r>
              <a:rPr lang="en-US" dirty="0"/>
              <a:t>background-position</a:t>
            </a:r>
          </a:p>
          <a:p>
            <a:pPr marL="514350" indent="-514350">
              <a:buFont typeface="+mj-lt"/>
              <a:buAutoNum type="arabicPeriod"/>
            </a:pPr>
            <a:r>
              <a:rPr lang="en-US" dirty="0"/>
              <a:t>background-size</a:t>
            </a:r>
          </a:p>
          <a:p>
            <a:pPr marL="514350" indent="-514350">
              <a:buFont typeface="+mj-lt"/>
              <a:buAutoNum type="arabicPeriod"/>
            </a:pPr>
            <a:r>
              <a:rPr lang="en-US" dirty="0"/>
              <a:t>background-repeat</a:t>
            </a:r>
          </a:p>
          <a:p>
            <a:pPr marL="514350" indent="-514350">
              <a:buFont typeface="+mj-lt"/>
              <a:buAutoNum type="arabicPeriod"/>
            </a:pPr>
            <a:r>
              <a:rPr lang="en-US" dirty="0"/>
              <a:t>background-origin</a:t>
            </a:r>
          </a:p>
          <a:p>
            <a:pPr marL="514350" indent="-514350">
              <a:buFont typeface="+mj-lt"/>
              <a:buAutoNum type="arabicPeriod"/>
            </a:pPr>
            <a:r>
              <a:rPr lang="en-US" dirty="0"/>
              <a:t>background-clip</a:t>
            </a:r>
          </a:p>
          <a:p>
            <a:pPr marL="514350" indent="-514350">
              <a:buFont typeface="+mj-lt"/>
              <a:buAutoNum type="arabicPeriod"/>
            </a:pPr>
            <a:r>
              <a:rPr lang="en-US" dirty="0"/>
              <a:t>background-attachment</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706477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Background-color property</a:t>
            </a:r>
          </a:p>
        </p:txBody>
      </p:sp>
      <p:pic>
        <p:nvPicPr>
          <p:cNvPr id="4" name="Content Placeholder 3"/>
          <p:cNvPicPr>
            <a:picLocks noGrp="1" noChangeAspect="1"/>
          </p:cNvPicPr>
          <p:nvPr>
            <p:ph idx="1"/>
          </p:nvPr>
        </p:nvPicPr>
        <p:blipFill>
          <a:blip r:embed="rId2"/>
          <a:stretch>
            <a:fillRect/>
          </a:stretch>
        </p:blipFill>
        <p:spPr>
          <a:xfrm>
            <a:off x="188686" y="2173528"/>
            <a:ext cx="7324525" cy="4546586"/>
          </a:xfrm>
          <a:prstGeom prst="rect">
            <a:avLst/>
          </a:prstGeom>
        </p:spPr>
      </p:pic>
      <p:pic>
        <p:nvPicPr>
          <p:cNvPr id="5" name="Picture 4"/>
          <p:cNvPicPr>
            <a:picLocks noChangeAspect="1"/>
          </p:cNvPicPr>
          <p:nvPr/>
        </p:nvPicPr>
        <p:blipFill>
          <a:blip r:embed="rId3"/>
          <a:stretch>
            <a:fillRect/>
          </a:stretch>
        </p:blipFill>
        <p:spPr>
          <a:xfrm>
            <a:off x="7721216" y="3198576"/>
            <a:ext cx="4038600" cy="1914525"/>
          </a:xfrm>
          <a:prstGeom prst="rect">
            <a:avLst/>
          </a:prstGeom>
        </p:spPr>
      </p:pic>
      <p:sp>
        <p:nvSpPr>
          <p:cNvPr id="6" name="Title 1"/>
          <p:cNvSpPr txBox="1">
            <a:spLocks/>
          </p:cNvSpPr>
          <p:nvPr/>
        </p:nvSpPr>
        <p:spPr>
          <a:xfrm>
            <a:off x="2195243" y="1419583"/>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BackgroundColor.html</a:t>
            </a:r>
          </a:p>
        </p:txBody>
      </p:sp>
      <p:sp>
        <p:nvSpPr>
          <p:cNvPr id="7" name="Title 1"/>
          <p:cNvSpPr txBox="1">
            <a:spLocks/>
          </p:cNvSpPr>
          <p:nvPr/>
        </p:nvSpPr>
        <p:spPr>
          <a:xfrm>
            <a:off x="7513212" y="2173527"/>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9434614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274"/>
            <a:ext cx="10515600" cy="953634"/>
          </a:xfrm>
        </p:spPr>
        <p:txBody>
          <a:bodyPr/>
          <a:lstStyle/>
          <a:p>
            <a:r>
              <a:rPr lang="en-US" dirty="0"/>
              <a:t>Background image property</a:t>
            </a:r>
          </a:p>
        </p:txBody>
      </p:sp>
      <p:sp>
        <p:nvSpPr>
          <p:cNvPr id="3" name="Content Placeholder 2"/>
          <p:cNvSpPr>
            <a:spLocks noGrp="1"/>
          </p:cNvSpPr>
          <p:nvPr>
            <p:ph idx="1"/>
          </p:nvPr>
        </p:nvSpPr>
        <p:spPr>
          <a:xfrm>
            <a:off x="838200" y="1106908"/>
            <a:ext cx="10515600" cy="5070055"/>
          </a:xfrm>
        </p:spPr>
        <p:txBody>
          <a:bodyPr/>
          <a:lstStyle/>
          <a:p>
            <a:r>
              <a:rPr lang="en-US" dirty="0"/>
              <a:t>The background-image property specifies the image URL for the image logo.png in the format url(</a:t>
            </a:r>
            <a:r>
              <a:rPr lang="en-US" dirty="0" err="1"/>
              <a:t>fileLocation</a:t>
            </a:r>
            <a:r>
              <a:rPr lang="en-US" dirty="0"/>
              <a:t>)</a:t>
            </a:r>
          </a:p>
          <a:p>
            <a:endParaRPr lang="en-US" dirty="0"/>
          </a:p>
        </p:txBody>
      </p:sp>
      <p:pic>
        <p:nvPicPr>
          <p:cNvPr id="4" name="Picture 3"/>
          <p:cNvPicPr>
            <a:picLocks noChangeAspect="1"/>
          </p:cNvPicPr>
          <p:nvPr/>
        </p:nvPicPr>
        <p:blipFill>
          <a:blip r:embed="rId2"/>
          <a:stretch>
            <a:fillRect/>
          </a:stretch>
        </p:blipFill>
        <p:spPr>
          <a:xfrm>
            <a:off x="188686" y="2478722"/>
            <a:ext cx="6726464" cy="4205107"/>
          </a:xfrm>
          <a:prstGeom prst="rect">
            <a:avLst/>
          </a:prstGeom>
        </p:spPr>
      </p:pic>
      <p:pic>
        <p:nvPicPr>
          <p:cNvPr id="5" name="Picture 4"/>
          <p:cNvPicPr>
            <a:picLocks noChangeAspect="1"/>
          </p:cNvPicPr>
          <p:nvPr/>
        </p:nvPicPr>
        <p:blipFill>
          <a:blip r:embed="rId3"/>
          <a:stretch>
            <a:fillRect/>
          </a:stretch>
        </p:blipFill>
        <p:spPr>
          <a:xfrm>
            <a:off x="7133932" y="2786744"/>
            <a:ext cx="4438650" cy="3032000"/>
          </a:xfrm>
          <a:prstGeom prst="rect">
            <a:avLst/>
          </a:prstGeom>
        </p:spPr>
      </p:pic>
      <p:sp>
        <p:nvSpPr>
          <p:cNvPr id="6" name="Title 1"/>
          <p:cNvSpPr txBox="1">
            <a:spLocks/>
          </p:cNvSpPr>
          <p:nvPr/>
        </p:nvSpPr>
        <p:spPr>
          <a:xfrm>
            <a:off x="2240322" y="1936512"/>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BackgroundImage.html</a:t>
            </a:r>
          </a:p>
        </p:txBody>
      </p:sp>
      <p:sp>
        <p:nvSpPr>
          <p:cNvPr id="7" name="Title 1"/>
          <p:cNvSpPr txBox="1">
            <a:spLocks/>
          </p:cNvSpPr>
          <p:nvPr/>
        </p:nvSpPr>
        <p:spPr>
          <a:xfrm>
            <a:off x="7924239" y="2108365"/>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224748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9983"/>
            <a:ext cx="10515600" cy="708932"/>
          </a:xfrm>
        </p:spPr>
        <p:txBody>
          <a:bodyPr/>
          <a:lstStyle/>
          <a:p>
            <a:r>
              <a:rPr lang="en-US" dirty="0"/>
              <a:t>Background image property</a:t>
            </a:r>
          </a:p>
        </p:txBody>
      </p:sp>
      <p:pic>
        <p:nvPicPr>
          <p:cNvPr id="4" name="Content Placeholder 3"/>
          <p:cNvPicPr>
            <a:picLocks noGrp="1" noChangeAspect="1"/>
          </p:cNvPicPr>
          <p:nvPr>
            <p:ph idx="1"/>
          </p:nvPr>
        </p:nvPicPr>
        <p:blipFill>
          <a:blip r:embed="rId2"/>
          <a:stretch>
            <a:fillRect/>
          </a:stretch>
        </p:blipFill>
        <p:spPr>
          <a:xfrm>
            <a:off x="287488" y="1580274"/>
            <a:ext cx="6839026" cy="4682348"/>
          </a:xfrm>
          <a:prstGeom prst="rect">
            <a:avLst/>
          </a:prstGeom>
        </p:spPr>
      </p:pic>
      <p:pic>
        <p:nvPicPr>
          <p:cNvPr id="5" name="Picture 4"/>
          <p:cNvPicPr>
            <a:picLocks noChangeAspect="1"/>
          </p:cNvPicPr>
          <p:nvPr/>
        </p:nvPicPr>
        <p:blipFill>
          <a:blip r:embed="rId3"/>
          <a:stretch>
            <a:fillRect/>
          </a:stretch>
        </p:blipFill>
        <p:spPr>
          <a:xfrm>
            <a:off x="7286171" y="1580274"/>
            <a:ext cx="4566104" cy="3822858"/>
          </a:xfrm>
          <a:prstGeom prst="rect">
            <a:avLst/>
          </a:prstGeom>
        </p:spPr>
      </p:pic>
      <p:sp>
        <p:nvSpPr>
          <p:cNvPr id="6" name="Title 1"/>
          <p:cNvSpPr txBox="1">
            <a:spLocks/>
          </p:cNvSpPr>
          <p:nvPr/>
        </p:nvSpPr>
        <p:spPr>
          <a:xfrm>
            <a:off x="1782113" y="1038064"/>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Backgroundgif.html</a:t>
            </a:r>
          </a:p>
        </p:txBody>
      </p:sp>
      <p:sp>
        <p:nvSpPr>
          <p:cNvPr id="7" name="Title 1"/>
          <p:cNvSpPr txBox="1">
            <a:spLocks/>
          </p:cNvSpPr>
          <p:nvPr/>
        </p:nvSpPr>
        <p:spPr>
          <a:xfrm>
            <a:off x="7894597" y="1038064"/>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1205521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529"/>
          </a:xfrm>
        </p:spPr>
        <p:txBody>
          <a:bodyPr>
            <a:normAutofit fontScale="90000"/>
          </a:bodyPr>
          <a:lstStyle/>
          <a:p>
            <a:r>
              <a:rPr lang="en-US" dirty="0"/>
              <a:t>background-position property</a:t>
            </a:r>
          </a:p>
        </p:txBody>
      </p:sp>
      <p:pic>
        <p:nvPicPr>
          <p:cNvPr id="4" name="Content Placeholder 3"/>
          <p:cNvPicPr>
            <a:picLocks noGrp="1" noChangeAspect="1"/>
          </p:cNvPicPr>
          <p:nvPr>
            <p:ph idx="1"/>
          </p:nvPr>
        </p:nvPicPr>
        <p:blipFill>
          <a:blip r:embed="rId2"/>
          <a:stretch>
            <a:fillRect/>
          </a:stretch>
        </p:blipFill>
        <p:spPr>
          <a:xfrm>
            <a:off x="248388" y="1603099"/>
            <a:ext cx="10826012" cy="5117015"/>
          </a:xfrm>
          <a:prstGeom prst="rect">
            <a:avLst/>
          </a:prstGeom>
        </p:spPr>
      </p:pic>
      <p:pic>
        <p:nvPicPr>
          <p:cNvPr id="5" name="Picture 4"/>
          <p:cNvPicPr>
            <a:picLocks noChangeAspect="1"/>
          </p:cNvPicPr>
          <p:nvPr/>
        </p:nvPicPr>
        <p:blipFill>
          <a:blip r:embed="rId3"/>
          <a:stretch>
            <a:fillRect/>
          </a:stretch>
        </p:blipFill>
        <p:spPr>
          <a:xfrm>
            <a:off x="5291817" y="1494419"/>
            <a:ext cx="6203497" cy="3890381"/>
          </a:xfrm>
          <a:prstGeom prst="rect">
            <a:avLst/>
          </a:prstGeom>
        </p:spPr>
      </p:pic>
      <p:sp>
        <p:nvSpPr>
          <p:cNvPr id="6" name="Title 1"/>
          <p:cNvSpPr txBox="1">
            <a:spLocks/>
          </p:cNvSpPr>
          <p:nvPr/>
        </p:nvSpPr>
        <p:spPr>
          <a:xfrm>
            <a:off x="1767599" y="106088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BackgroundPosition.html</a:t>
            </a:r>
          </a:p>
        </p:txBody>
      </p:sp>
      <p:sp>
        <p:nvSpPr>
          <p:cNvPr id="7" name="Title 1"/>
          <p:cNvSpPr txBox="1">
            <a:spLocks/>
          </p:cNvSpPr>
          <p:nvPr/>
        </p:nvSpPr>
        <p:spPr>
          <a:xfrm>
            <a:off x="7741020" y="95220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5150118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412"/>
            <a:ext cx="10515600" cy="491218"/>
          </a:xfrm>
        </p:spPr>
        <p:txBody>
          <a:bodyPr>
            <a:normAutofit fontScale="90000"/>
          </a:bodyPr>
          <a:lstStyle/>
          <a:p>
            <a:r>
              <a:rPr lang="en-US" dirty="0"/>
              <a:t>background-size property</a:t>
            </a:r>
          </a:p>
        </p:txBody>
      </p:sp>
      <p:pic>
        <p:nvPicPr>
          <p:cNvPr id="4" name="Content Placeholder 3"/>
          <p:cNvPicPr>
            <a:picLocks noGrp="1" noChangeAspect="1"/>
          </p:cNvPicPr>
          <p:nvPr>
            <p:ph idx="1"/>
          </p:nvPr>
        </p:nvPicPr>
        <p:blipFill>
          <a:blip r:embed="rId2"/>
          <a:stretch>
            <a:fillRect/>
          </a:stretch>
        </p:blipFill>
        <p:spPr>
          <a:xfrm>
            <a:off x="232229" y="1299895"/>
            <a:ext cx="7329714" cy="5318619"/>
          </a:xfrm>
          <a:prstGeom prst="rect">
            <a:avLst/>
          </a:prstGeom>
        </p:spPr>
      </p:pic>
      <p:pic>
        <p:nvPicPr>
          <p:cNvPr id="5" name="Picture 4"/>
          <p:cNvPicPr>
            <a:picLocks noChangeAspect="1"/>
          </p:cNvPicPr>
          <p:nvPr/>
        </p:nvPicPr>
        <p:blipFill>
          <a:blip r:embed="rId3"/>
          <a:stretch>
            <a:fillRect/>
          </a:stretch>
        </p:blipFill>
        <p:spPr>
          <a:xfrm>
            <a:off x="7696621" y="2498112"/>
            <a:ext cx="4305300" cy="2428875"/>
          </a:xfrm>
          <a:prstGeom prst="rect">
            <a:avLst/>
          </a:prstGeom>
        </p:spPr>
      </p:pic>
      <p:sp>
        <p:nvSpPr>
          <p:cNvPr id="6" name="Title 1"/>
          <p:cNvSpPr txBox="1">
            <a:spLocks/>
          </p:cNvSpPr>
          <p:nvPr/>
        </p:nvSpPr>
        <p:spPr>
          <a:xfrm>
            <a:off x="1767599" y="757685"/>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BackgroundSizeAuto.html</a:t>
            </a:r>
          </a:p>
        </p:txBody>
      </p:sp>
      <p:sp>
        <p:nvSpPr>
          <p:cNvPr id="8" name="Title 1"/>
          <p:cNvSpPr txBox="1">
            <a:spLocks/>
          </p:cNvSpPr>
          <p:nvPr/>
        </p:nvSpPr>
        <p:spPr>
          <a:xfrm>
            <a:off x="7837599" y="102879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8486987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715"/>
            <a:ext cx="10515600" cy="694418"/>
          </a:xfrm>
        </p:spPr>
        <p:txBody>
          <a:bodyPr>
            <a:normAutofit fontScale="90000"/>
          </a:bodyPr>
          <a:lstStyle/>
          <a:p>
            <a:r>
              <a:rPr lang="en-US" dirty="0"/>
              <a:t>background-size pixel property</a:t>
            </a:r>
          </a:p>
        </p:txBody>
      </p:sp>
      <p:pic>
        <p:nvPicPr>
          <p:cNvPr id="4" name="Content Placeholder 3"/>
          <p:cNvPicPr>
            <a:picLocks noGrp="1" noChangeAspect="1"/>
          </p:cNvPicPr>
          <p:nvPr>
            <p:ph idx="1"/>
          </p:nvPr>
        </p:nvPicPr>
        <p:blipFill>
          <a:blip r:embed="rId2"/>
          <a:stretch>
            <a:fillRect/>
          </a:stretch>
        </p:blipFill>
        <p:spPr>
          <a:xfrm>
            <a:off x="275771" y="1371344"/>
            <a:ext cx="7733456" cy="5043970"/>
          </a:xfrm>
          <a:prstGeom prst="rect">
            <a:avLst/>
          </a:prstGeom>
        </p:spPr>
      </p:pic>
      <p:pic>
        <p:nvPicPr>
          <p:cNvPr id="5" name="Picture 4"/>
          <p:cNvPicPr>
            <a:picLocks noChangeAspect="1"/>
          </p:cNvPicPr>
          <p:nvPr/>
        </p:nvPicPr>
        <p:blipFill>
          <a:blip r:embed="rId3"/>
          <a:stretch>
            <a:fillRect/>
          </a:stretch>
        </p:blipFill>
        <p:spPr>
          <a:xfrm>
            <a:off x="9048206" y="3258025"/>
            <a:ext cx="3057525" cy="1647825"/>
          </a:xfrm>
          <a:prstGeom prst="rect">
            <a:avLst/>
          </a:prstGeom>
        </p:spPr>
      </p:pic>
      <p:sp>
        <p:nvSpPr>
          <p:cNvPr id="6" name="Title 1"/>
          <p:cNvSpPr txBox="1">
            <a:spLocks/>
          </p:cNvSpPr>
          <p:nvPr/>
        </p:nvSpPr>
        <p:spPr>
          <a:xfrm>
            <a:off x="1854684" y="845379"/>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BackgroundSizePixel.html</a:t>
            </a:r>
          </a:p>
        </p:txBody>
      </p:sp>
      <p:sp>
        <p:nvSpPr>
          <p:cNvPr id="7" name="Title 1"/>
          <p:cNvSpPr txBox="1">
            <a:spLocks/>
          </p:cNvSpPr>
          <p:nvPr/>
        </p:nvSpPr>
        <p:spPr>
          <a:xfrm>
            <a:off x="8252495" y="829133"/>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5094987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0772" y="103868"/>
            <a:ext cx="10515600" cy="447675"/>
          </a:xfrm>
        </p:spPr>
        <p:txBody>
          <a:bodyPr>
            <a:normAutofit fontScale="90000"/>
          </a:bodyPr>
          <a:lstStyle/>
          <a:p>
            <a:r>
              <a:rPr lang="en-US" dirty="0"/>
              <a:t>background-repeat property</a:t>
            </a:r>
          </a:p>
        </p:txBody>
      </p:sp>
      <p:pic>
        <p:nvPicPr>
          <p:cNvPr id="4" name="Content Placeholder 3"/>
          <p:cNvPicPr>
            <a:picLocks noGrp="1" noChangeAspect="1"/>
          </p:cNvPicPr>
          <p:nvPr>
            <p:ph idx="1"/>
          </p:nvPr>
        </p:nvPicPr>
        <p:blipFill>
          <a:blip r:embed="rId2"/>
          <a:stretch>
            <a:fillRect/>
          </a:stretch>
        </p:blipFill>
        <p:spPr>
          <a:xfrm>
            <a:off x="232229" y="1418949"/>
            <a:ext cx="7750628" cy="5112480"/>
          </a:xfrm>
          <a:prstGeom prst="rect">
            <a:avLst/>
          </a:prstGeom>
        </p:spPr>
      </p:pic>
      <p:pic>
        <p:nvPicPr>
          <p:cNvPr id="5" name="Picture 4"/>
          <p:cNvPicPr>
            <a:picLocks noChangeAspect="1"/>
          </p:cNvPicPr>
          <p:nvPr/>
        </p:nvPicPr>
        <p:blipFill>
          <a:blip r:embed="rId3"/>
          <a:stretch>
            <a:fillRect/>
          </a:stretch>
        </p:blipFill>
        <p:spPr>
          <a:xfrm>
            <a:off x="8150503" y="2888581"/>
            <a:ext cx="3590925" cy="2600325"/>
          </a:xfrm>
          <a:prstGeom prst="rect">
            <a:avLst/>
          </a:prstGeom>
        </p:spPr>
      </p:pic>
      <p:sp>
        <p:nvSpPr>
          <p:cNvPr id="6" name="Title 1"/>
          <p:cNvSpPr txBox="1">
            <a:spLocks/>
          </p:cNvSpPr>
          <p:nvPr/>
        </p:nvSpPr>
        <p:spPr>
          <a:xfrm>
            <a:off x="1956285" y="71414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BackgroundRepeat.html</a:t>
            </a:r>
          </a:p>
        </p:txBody>
      </p:sp>
      <p:sp>
        <p:nvSpPr>
          <p:cNvPr id="8" name="Title 1"/>
          <p:cNvSpPr txBox="1">
            <a:spLocks/>
          </p:cNvSpPr>
          <p:nvPr/>
        </p:nvSpPr>
        <p:spPr>
          <a:xfrm>
            <a:off x="7519048" y="71414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5412766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6"/>
            <a:ext cx="10515600" cy="607332"/>
          </a:xfrm>
        </p:spPr>
        <p:txBody>
          <a:bodyPr>
            <a:normAutofit fontScale="90000"/>
          </a:bodyPr>
          <a:lstStyle/>
          <a:p>
            <a:r>
              <a:rPr lang="en-US" dirty="0"/>
              <a:t>background-origin property</a:t>
            </a:r>
          </a:p>
        </p:txBody>
      </p:sp>
      <p:pic>
        <p:nvPicPr>
          <p:cNvPr id="4" name="Content Placeholder 3"/>
          <p:cNvPicPr>
            <a:picLocks noGrp="1" noChangeAspect="1"/>
          </p:cNvPicPr>
          <p:nvPr>
            <p:ph idx="1"/>
          </p:nvPr>
        </p:nvPicPr>
        <p:blipFill>
          <a:blip r:embed="rId2"/>
          <a:stretch>
            <a:fillRect/>
          </a:stretch>
        </p:blipFill>
        <p:spPr>
          <a:xfrm>
            <a:off x="130629" y="1349293"/>
            <a:ext cx="6720114" cy="4794521"/>
          </a:xfrm>
          <a:prstGeom prst="rect">
            <a:avLst/>
          </a:prstGeom>
        </p:spPr>
      </p:pic>
      <p:pic>
        <p:nvPicPr>
          <p:cNvPr id="5" name="Picture 4"/>
          <p:cNvPicPr>
            <a:picLocks noChangeAspect="1"/>
          </p:cNvPicPr>
          <p:nvPr/>
        </p:nvPicPr>
        <p:blipFill>
          <a:blip r:embed="rId3"/>
          <a:stretch>
            <a:fillRect/>
          </a:stretch>
        </p:blipFill>
        <p:spPr>
          <a:xfrm>
            <a:off x="7271657" y="2384478"/>
            <a:ext cx="4705350" cy="2724150"/>
          </a:xfrm>
          <a:prstGeom prst="rect">
            <a:avLst/>
          </a:prstGeom>
        </p:spPr>
      </p:pic>
      <p:sp>
        <p:nvSpPr>
          <p:cNvPr id="6" name="Title 1"/>
          <p:cNvSpPr txBox="1">
            <a:spLocks/>
          </p:cNvSpPr>
          <p:nvPr/>
        </p:nvSpPr>
        <p:spPr>
          <a:xfrm>
            <a:off x="1825656" y="74196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BackgroundOrigin.html</a:t>
            </a:r>
          </a:p>
        </p:txBody>
      </p:sp>
      <p:sp>
        <p:nvSpPr>
          <p:cNvPr id="7" name="Title 1"/>
          <p:cNvSpPr txBox="1">
            <a:spLocks/>
          </p:cNvSpPr>
          <p:nvPr/>
        </p:nvSpPr>
        <p:spPr>
          <a:xfrm>
            <a:off x="8448675" y="465592"/>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4524747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background-clip property</a:t>
            </a:r>
          </a:p>
        </p:txBody>
      </p:sp>
      <p:sp>
        <p:nvSpPr>
          <p:cNvPr id="3" name="Content Placeholder 2"/>
          <p:cNvSpPr>
            <a:spLocks noGrp="1"/>
          </p:cNvSpPr>
          <p:nvPr>
            <p:ph idx="1"/>
          </p:nvPr>
        </p:nvSpPr>
        <p:spPr/>
        <p:txBody>
          <a:bodyPr/>
          <a:lstStyle/>
          <a:p>
            <a:r>
              <a:rPr lang="en-US" dirty="0"/>
              <a:t>The background-clip property defines how far the background should extend within an element.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494551349"/>
              </p:ext>
            </p:extLst>
          </p:nvPr>
        </p:nvGraphicFramePr>
        <p:xfrm>
          <a:off x="1684270" y="2741649"/>
          <a:ext cx="8128000" cy="1854200"/>
        </p:xfrm>
        <a:graphic>
          <a:graphicData uri="http://schemas.openxmlformats.org/drawingml/2006/table">
            <a:tbl>
              <a:tblPr firstRow="1" bandRow="1">
                <a:tableStyleId>{93296810-A885-4BE3-A3E7-6D5BEEA58F35}</a:tableStyleId>
              </a:tblPr>
              <a:tblGrid>
                <a:gridCol w="1432417">
                  <a:extLst>
                    <a:ext uri="{9D8B030D-6E8A-4147-A177-3AD203B41FA5}">
                      <a16:colId xmlns:a16="http://schemas.microsoft.com/office/drawing/2014/main" xmlns="" val="20000"/>
                    </a:ext>
                  </a:extLst>
                </a:gridCol>
                <a:gridCol w="6695583">
                  <a:extLst>
                    <a:ext uri="{9D8B030D-6E8A-4147-A177-3AD203B41FA5}">
                      <a16:colId xmlns:a16="http://schemas.microsoft.com/office/drawing/2014/main" xmlns="" val="20001"/>
                    </a:ext>
                  </a:extLst>
                </a:gridCol>
              </a:tblGrid>
              <a:tr h="370840">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r>
                        <a:rPr lang="en-US" sz="1800" b="0" i="0" kern="1200" dirty="0">
                          <a:solidFill>
                            <a:schemeClr val="dk1"/>
                          </a:solidFill>
                          <a:effectLst/>
                          <a:latin typeface="+mn-lt"/>
                          <a:ea typeface="+mn-ea"/>
                          <a:cs typeface="+mn-cs"/>
                        </a:rPr>
                        <a:t>border-box</a:t>
                      </a:r>
                      <a:endParaRPr lang="en-US" dirty="0"/>
                    </a:p>
                  </a:txBody>
                  <a:tcPr/>
                </a:tc>
                <a:tc>
                  <a:txBody>
                    <a:bodyPr/>
                    <a:lstStyle/>
                    <a:p>
                      <a:r>
                        <a:rPr lang="en-US" sz="1800" b="0" i="0" kern="1200" dirty="0">
                          <a:solidFill>
                            <a:schemeClr val="dk1"/>
                          </a:solidFill>
                          <a:effectLst/>
                          <a:latin typeface="+mn-lt"/>
                          <a:ea typeface="+mn-ea"/>
                          <a:cs typeface="+mn-cs"/>
                        </a:rPr>
                        <a:t>Default value. The background extends behind the border</a:t>
                      </a:r>
                      <a:endParaRPr lang="en-US" dirty="0"/>
                    </a:p>
                  </a:txBody>
                  <a:tcPr/>
                </a:tc>
                <a:extLst>
                  <a:ext uri="{0D108BD9-81ED-4DB2-BD59-A6C34878D82A}">
                    <a16:rowId xmlns:a16="http://schemas.microsoft.com/office/drawing/2014/main" xmlns="" val="10001"/>
                  </a:ext>
                </a:extLst>
              </a:tr>
              <a:tr h="370840">
                <a:tc>
                  <a:txBody>
                    <a:bodyPr/>
                    <a:lstStyle/>
                    <a:p>
                      <a:r>
                        <a:rPr lang="en-US" sz="1800" b="0" i="0" kern="1200" dirty="0">
                          <a:solidFill>
                            <a:schemeClr val="dk1"/>
                          </a:solidFill>
                          <a:effectLst/>
                          <a:latin typeface="+mn-lt"/>
                          <a:ea typeface="+mn-ea"/>
                          <a:cs typeface="+mn-cs"/>
                        </a:rPr>
                        <a:t>padding-box</a:t>
                      </a:r>
                      <a:endParaRPr lang="en-US" dirty="0"/>
                    </a:p>
                  </a:txBody>
                  <a:tcPr/>
                </a:tc>
                <a:tc>
                  <a:txBody>
                    <a:bodyPr/>
                    <a:lstStyle/>
                    <a:p>
                      <a:r>
                        <a:rPr lang="en-US" sz="1800" b="0" i="0" kern="1200" dirty="0">
                          <a:solidFill>
                            <a:schemeClr val="dk1"/>
                          </a:solidFill>
                          <a:effectLst/>
                          <a:latin typeface="+mn-lt"/>
                          <a:ea typeface="+mn-ea"/>
                          <a:cs typeface="+mn-cs"/>
                        </a:rPr>
                        <a:t>The background extends to the inside edge of the border</a:t>
                      </a:r>
                      <a:endParaRPr lang="en-US" dirty="0"/>
                    </a:p>
                  </a:txBody>
                  <a:tcPr/>
                </a:tc>
                <a:extLst>
                  <a:ext uri="{0D108BD9-81ED-4DB2-BD59-A6C34878D82A}">
                    <a16:rowId xmlns:a16="http://schemas.microsoft.com/office/drawing/2014/main" xmlns="" val="10002"/>
                  </a:ext>
                </a:extLst>
              </a:tr>
              <a:tr h="370840">
                <a:tc>
                  <a:txBody>
                    <a:bodyPr/>
                    <a:lstStyle/>
                    <a:p>
                      <a:r>
                        <a:rPr lang="en-US" sz="1800" b="0" i="0" kern="1200" dirty="0">
                          <a:solidFill>
                            <a:schemeClr val="dk1"/>
                          </a:solidFill>
                          <a:effectLst/>
                          <a:latin typeface="+mn-lt"/>
                          <a:ea typeface="+mn-ea"/>
                          <a:cs typeface="+mn-cs"/>
                        </a:rPr>
                        <a:t>content-box</a:t>
                      </a:r>
                      <a:endParaRPr lang="en-US" dirty="0"/>
                    </a:p>
                  </a:txBody>
                  <a:tcPr/>
                </a:tc>
                <a:tc>
                  <a:txBody>
                    <a:bodyPr/>
                    <a:lstStyle/>
                    <a:p>
                      <a:r>
                        <a:rPr lang="en-US" sz="1800" b="0" i="0" kern="1200">
                          <a:solidFill>
                            <a:schemeClr val="dk1"/>
                          </a:solidFill>
                          <a:effectLst/>
                          <a:latin typeface="+mn-lt"/>
                          <a:ea typeface="+mn-ea"/>
                          <a:cs typeface="+mn-cs"/>
                        </a:rPr>
                        <a:t>The background extends to the edge of the content box</a:t>
                      </a:r>
                      <a:endParaRPr lang="en-US"/>
                    </a:p>
                  </a:txBody>
                  <a:tcPr/>
                </a:tc>
                <a:extLst>
                  <a:ext uri="{0D108BD9-81ED-4DB2-BD59-A6C34878D82A}">
                    <a16:rowId xmlns:a16="http://schemas.microsoft.com/office/drawing/2014/main" xmlns="" val="10003"/>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1962625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89"/>
            <a:ext cx="10515600" cy="723446"/>
          </a:xfrm>
        </p:spPr>
        <p:txBody>
          <a:bodyPr/>
          <a:lstStyle/>
          <a:p>
            <a:r>
              <a:rPr lang="en-US" dirty="0"/>
              <a:t>background-clip Border-Box property</a:t>
            </a:r>
          </a:p>
        </p:txBody>
      </p:sp>
      <p:pic>
        <p:nvPicPr>
          <p:cNvPr id="4" name="Content Placeholder 3"/>
          <p:cNvPicPr>
            <a:picLocks noGrp="1" noChangeAspect="1"/>
          </p:cNvPicPr>
          <p:nvPr>
            <p:ph idx="1"/>
          </p:nvPr>
        </p:nvPicPr>
        <p:blipFill>
          <a:blip r:embed="rId2"/>
          <a:stretch>
            <a:fillRect/>
          </a:stretch>
        </p:blipFill>
        <p:spPr>
          <a:xfrm>
            <a:off x="261256" y="1323351"/>
            <a:ext cx="8370203" cy="5411277"/>
          </a:xfrm>
          <a:prstGeom prst="rect">
            <a:avLst/>
          </a:prstGeom>
        </p:spPr>
      </p:pic>
      <p:sp>
        <p:nvSpPr>
          <p:cNvPr id="5" name="Title 1"/>
          <p:cNvSpPr txBox="1">
            <a:spLocks/>
          </p:cNvSpPr>
          <p:nvPr/>
        </p:nvSpPr>
        <p:spPr>
          <a:xfrm>
            <a:off x="1172028" y="813835"/>
            <a:ext cx="3338311" cy="542210"/>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BackgroundClipBorderBox.html</a:t>
            </a:r>
          </a:p>
        </p:txBody>
      </p:sp>
      <p:pic>
        <p:nvPicPr>
          <p:cNvPr id="6" name="Picture 5"/>
          <p:cNvPicPr>
            <a:picLocks noChangeAspect="1"/>
          </p:cNvPicPr>
          <p:nvPr/>
        </p:nvPicPr>
        <p:blipFill>
          <a:blip r:embed="rId3"/>
          <a:stretch>
            <a:fillRect/>
          </a:stretch>
        </p:blipFill>
        <p:spPr>
          <a:xfrm>
            <a:off x="7458075" y="1607903"/>
            <a:ext cx="4733925" cy="1438275"/>
          </a:xfrm>
          <a:prstGeom prst="rect">
            <a:avLst/>
          </a:prstGeom>
        </p:spPr>
      </p:pic>
      <p:sp>
        <p:nvSpPr>
          <p:cNvPr id="7" name="Title 1"/>
          <p:cNvSpPr txBox="1">
            <a:spLocks/>
          </p:cNvSpPr>
          <p:nvPr/>
        </p:nvSpPr>
        <p:spPr>
          <a:xfrm>
            <a:off x="8631460" y="781142"/>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353953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83588"/>
          </a:xfrm>
        </p:spPr>
        <p:txBody>
          <a:bodyPr>
            <a:normAutofit fontScale="90000"/>
          </a:bodyPr>
          <a:lstStyle/>
          <a:p>
            <a:r>
              <a:rPr lang="en-US" dirty="0"/>
              <a:t>background-clip Padding-Box property</a:t>
            </a:r>
          </a:p>
        </p:txBody>
      </p:sp>
      <p:pic>
        <p:nvPicPr>
          <p:cNvPr id="4" name="Content Placeholder 3"/>
          <p:cNvPicPr>
            <a:picLocks noGrp="1" noChangeAspect="1"/>
          </p:cNvPicPr>
          <p:nvPr>
            <p:ph idx="1"/>
          </p:nvPr>
        </p:nvPicPr>
        <p:blipFill>
          <a:blip r:embed="rId2"/>
          <a:stretch>
            <a:fillRect/>
          </a:stretch>
        </p:blipFill>
        <p:spPr>
          <a:xfrm>
            <a:off x="188685" y="1090359"/>
            <a:ext cx="11045371" cy="5767641"/>
          </a:xfrm>
          <a:prstGeom prst="rect">
            <a:avLst/>
          </a:prstGeom>
        </p:spPr>
      </p:pic>
      <p:pic>
        <p:nvPicPr>
          <p:cNvPr id="5" name="Picture 4"/>
          <p:cNvPicPr>
            <a:picLocks noChangeAspect="1"/>
          </p:cNvPicPr>
          <p:nvPr/>
        </p:nvPicPr>
        <p:blipFill>
          <a:blip r:embed="rId3"/>
          <a:stretch>
            <a:fillRect/>
          </a:stretch>
        </p:blipFill>
        <p:spPr>
          <a:xfrm>
            <a:off x="7259854" y="1650715"/>
            <a:ext cx="4772025" cy="1857375"/>
          </a:xfrm>
          <a:prstGeom prst="rect">
            <a:avLst/>
          </a:prstGeom>
        </p:spPr>
      </p:pic>
      <p:sp>
        <p:nvSpPr>
          <p:cNvPr id="6" name="Title 1"/>
          <p:cNvSpPr txBox="1">
            <a:spLocks/>
          </p:cNvSpPr>
          <p:nvPr/>
        </p:nvSpPr>
        <p:spPr>
          <a:xfrm>
            <a:off x="1612206" y="548149"/>
            <a:ext cx="3338311" cy="542210"/>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BackgroundClipPaddingBox.html</a:t>
            </a:r>
          </a:p>
        </p:txBody>
      </p:sp>
      <p:sp>
        <p:nvSpPr>
          <p:cNvPr id="7" name="Title 1"/>
          <p:cNvSpPr txBox="1">
            <a:spLocks/>
          </p:cNvSpPr>
          <p:nvPr/>
        </p:nvSpPr>
        <p:spPr>
          <a:xfrm>
            <a:off x="8495763" y="72215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0083610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897"/>
            <a:ext cx="10515600" cy="418646"/>
          </a:xfrm>
        </p:spPr>
        <p:txBody>
          <a:bodyPr>
            <a:normAutofit fontScale="90000"/>
          </a:bodyPr>
          <a:lstStyle/>
          <a:p>
            <a:r>
              <a:rPr lang="en-US" dirty="0"/>
              <a:t>background-clip Content-Box property</a:t>
            </a:r>
          </a:p>
        </p:txBody>
      </p:sp>
      <p:pic>
        <p:nvPicPr>
          <p:cNvPr id="4" name="Content Placeholder 3"/>
          <p:cNvPicPr>
            <a:picLocks noGrp="1" noChangeAspect="1"/>
          </p:cNvPicPr>
          <p:nvPr>
            <p:ph idx="1"/>
          </p:nvPr>
        </p:nvPicPr>
        <p:blipFill>
          <a:blip r:embed="rId2"/>
          <a:stretch>
            <a:fillRect/>
          </a:stretch>
        </p:blipFill>
        <p:spPr>
          <a:xfrm>
            <a:off x="232230" y="1093753"/>
            <a:ext cx="10319656" cy="5597333"/>
          </a:xfrm>
          <a:prstGeom prst="rect">
            <a:avLst/>
          </a:prstGeom>
        </p:spPr>
      </p:pic>
      <p:pic>
        <p:nvPicPr>
          <p:cNvPr id="5" name="Picture 4"/>
          <p:cNvPicPr>
            <a:picLocks noChangeAspect="1"/>
          </p:cNvPicPr>
          <p:nvPr/>
        </p:nvPicPr>
        <p:blipFill>
          <a:blip r:embed="rId3"/>
          <a:stretch>
            <a:fillRect/>
          </a:stretch>
        </p:blipFill>
        <p:spPr>
          <a:xfrm>
            <a:off x="7326086" y="1479517"/>
            <a:ext cx="4724400" cy="2171700"/>
          </a:xfrm>
          <a:prstGeom prst="rect">
            <a:avLst/>
          </a:prstGeom>
        </p:spPr>
      </p:pic>
      <p:sp>
        <p:nvSpPr>
          <p:cNvPr id="6" name="Title 1"/>
          <p:cNvSpPr txBox="1">
            <a:spLocks/>
          </p:cNvSpPr>
          <p:nvPr/>
        </p:nvSpPr>
        <p:spPr>
          <a:xfrm>
            <a:off x="1663061" y="551543"/>
            <a:ext cx="3338311" cy="542210"/>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BackgroundClipContentBox.html</a:t>
            </a:r>
          </a:p>
        </p:txBody>
      </p:sp>
      <p:sp>
        <p:nvSpPr>
          <p:cNvPr id="7" name="Title 1"/>
          <p:cNvSpPr txBox="1">
            <a:spLocks/>
          </p:cNvSpPr>
          <p:nvPr/>
        </p:nvSpPr>
        <p:spPr>
          <a:xfrm>
            <a:off x="8495763" y="551543"/>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123988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838"/>
            <a:ext cx="10515600" cy="505732"/>
          </a:xfrm>
        </p:spPr>
        <p:txBody>
          <a:bodyPr>
            <a:normAutofit fontScale="90000"/>
          </a:bodyPr>
          <a:lstStyle/>
          <a:p>
            <a:r>
              <a:rPr lang="en-US" dirty="0"/>
              <a:t>background-clip Text property</a:t>
            </a:r>
          </a:p>
        </p:txBody>
      </p:sp>
      <p:pic>
        <p:nvPicPr>
          <p:cNvPr id="4" name="Content Placeholder 3"/>
          <p:cNvPicPr>
            <a:picLocks noGrp="1" noChangeAspect="1"/>
          </p:cNvPicPr>
          <p:nvPr>
            <p:ph idx="1"/>
          </p:nvPr>
        </p:nvPicPr>
        <p:blipFill>
          <a:blip r:embed="rId2"/>
          <a:stretch>
            <a:fillRect/>
          </a:stretch>
        </p:blipFill>
        <p:spPr>
          <a:xfrm>
            <a:off x="188686" y="640431"/>
            <a:ext cx="11001828" cy="6036139"/>
          </a:xfrm>
          <a:prstGeom prst="rect">
            <a:avLst/>
          </a:prstGeom>
        </p:spPr>
      </p:pic>
      <p:pic>
        <p:nvPicPr>
          <p:cNvPr id="5" name="Picture 4"/>
          <p:cNvPicPr>
            <a:picLocks noChangeAspect="1"/>
          </p:cNvPicPr>
          <p:nvPr/>
        </p:nvPicPr>
        <p:blipFill>
          <a:blip r:embed="rId3"/>
          <a:stretch>
            <a:fillRect/>
          </a:stretch>
        </p:blipFill>
        <p:spPr>
          <a:xfrm>
            <a:off x="7059840" y="2136944"/>
            <a:ext cx="4733925" cy="1857375"/>
          </a:xfrm>
          <a:prstGeom prst="rect">
            <a:avLst/>
          </a:prstGeom>
        </p:spPr>
      </p:pic>
      <p:sp>
        <p:nvSpPr>
          <p:cNvPr id="6" name="Title 1"/>
          <p:cNvSpPr txBox="1">
            <a:spLocks/>
          </p:cNvSpPr>
          <p:nvPr/>
        </p:nvSpPr>
        <p:spPr>
          <a:xfrm>
            <a:off x="1556350" y="697570"/>
            <a:ext cx="3338311"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BackgroundClipText.html</a:t>
            </a:r>
          </a:p>
        </p:txBody>
      </p:sp>
      <p:sp>
        <p:nvSpPr>
          <p:cNvPr id="7" name="Title 1"/>
          <p:cNvSpPr txBox="1">
            <a:spLocks/>
          </p:cNvSpPr>
          <p:nvPr/>
        </p:nvSpPr>
        <p:spPr>
          <a:xfrm>
            <a:off x="8701087" y="64043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1621276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931"/>
            <a:ext cx="10515600" cy="523149"/>
          </a:xfrm>
        </p:spPr>
        <p:txBody>
          <a:bodyPr>
            <a:normAutofit fontScale="90000"/>
          </a:bodyPr>
          <a:lstStyle/>
          <a:p>
            <a:r>
              <a:rPr lang="en-US" dirty="0"/>
              <a:t>background-clip Text property</a:t>
            </a:r>
          </a:p>
        </p:txBody>
      </p:sp>
      <p:pic>
        <p:nvPicPr>
          <p:cNvPr id="5" name="Picture 4"/>
          <p:cNvPicPr>
            <a:picLocks noChangeAspect="1"/>
          </p:cNvPicPr>
          <p:nvPr/>
        </p:nvPicPr>
        <p:blipFill>
          <a:blip r:embed="rId2"/>
          <a:stretch>
            <a:fillRect/>
          </a:stretch>
        </p:blipFill>
        <p:spPr>
          <a:xfrm>
            <a:off x="7274107" y="1651623"/>
            <a:ext cx="4772025" cy="1695450"/>
          </a:xfrm>
          <a:prstGeom prst="rect">
            <a:avLst/>
          </a:prstGeom>
        </p:spPr>
      </p:pic>
      <p:pic>
        <p:nvPicPr>
          <p:cNvPr id="7" name="Content Placeholder 6"/>
          <p:cNvPicPr>
            <a:picLocks noGrp="1" noChangeAspect="1"/>
          </p:cNvPicPr>
          <p:nvPr>
            <p:ph idx="1"/>
          </p:nvPr>
        </p:nvPicPr>
        <p:blipFill>
          <a:blip r:embed="rId3"/>
          <a:stretch>
            <a:fillRect/>
          </a:stretch>
        </p:blipFill>
        <p:spPr>
          <a:xfrm>
            <a:off x="195943" y="1258594"/>
            <a:ext cx="6949439" cy="5507966"/>
          </a:xfrm>
          <a:prstGeom prst="rect">
            <a:avLst/>
          </a:prstGeom>
        </p:spPr>
      </p:pic>
      <p:sp>
        <p:nvSpPr>
          <p:cNvPr id="8" name="Title 1"/>
          <p:cNvSpPr txBox="1">
            <a:spLocks/>
          </p:cNvSpPr>
          <p:nvPr/>
        </p:nvSpPr>
        <p:spPr>
          <a:xfrm>
            <a:off x="1578663" y="716383"/>
            <a:ext cx="3338311"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BackgroundClipText.html</a:t>
            </a:r>
          </a:p>
        </p:txBody>
      </p:sp>
      <p:sp>
        <p:nvSpPr>
          <p:cNvPr id="9" name="Title 1"/>
          <p:cNvSpPr txBox="1">
            <a:spLocks/>
          </p:cNvSpPr>
          <p:nvPr/>
        </p:nvSpPr>
        <p:spPr>
          <a:xfrm>
            <a:off x="8073887" y="64008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441974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background-attachment property</a:t>
            </a:r>
          </a:p>
        </p:txBody>
      </p:sp>
      <p:sp>
        <p:nvSpPr>
          <p:cNvPr id="3" name="Content Placeholder 2"/>
          <p:cNvSpPr>
            <a:spLocks noGrp="1"/>
          </p:cNvSpPr>
          <p:nvPr>
            <p:ph idx="1"/>
          </p:nvPr>
        </p:nvSpPr>
        <p:spPr/>
        <p:txBody>
          <a:bodyPr/>
          <a:lstStyle/>
          <a:p>
            <a:r>
              <a:rPr lang="en-US" dirty="0"/>
              <a:t>The background-attachment property sets whether a background image scrolls with the rest of the page, or is fixed.</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867529344"/>
              </p:ext>
            </p:extLst>
          </p:nvPr>
        </p:nvGraphicFramePr>
        <p:xfrm>
          <a:off x="1864575" y="3256804"/>
          <a:ext cx="8128000" cy="1854200"/>
        </p:xfrm>
        <a:graphic>
          <a:graphicData uri="http://schemas.openxmlformats.org/drawingml/2006/table">
            <a:tbl>
              <a:tblPr firstRow="1" bandRow="1">
                <a:tableStyleId>{93296810-A885-4BE3-A3E7-6D5BEEA58F35}</a:tableStyleId>
              </a:tblPr>
              <a:tblGrid>
                <a:gridCol w="1432417">
                  <a:extLst>
                    <a:ext uri="{9D8B030D-6E8A-4147-A177-3AD203B41FA5}">
                      <a16:colId xmlns:a16="http://schemas.microsoft.com/office/drawing/2014/main" xmlns="" val="20000"/>
                    </a:ext>
                  </a:extLst>
                </a:gridCol>
                <a:gridCol w="6695583">
                  <a:extLst>
                    <a:ext uri="{9D8B030D-6E8A-4147-A177-3AD203B41FA5}">
                      <a16:colId xmlns:a16="http://schemas.microsoft.com/office/drawing/2014/main" xmlns="" val="20001"/>
                    </a:ext>
                  </a:extLst>
                </a:gridCol>
              </a:tblGrid>
              <a:tr h="370840">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pPr marL="0" algn="l" defTabSz="914400" rtl="0" eaLnBrk="1" latinLnBrk="0" hangingPunct="1"/>
                      <a:r>
                        <a:rPr lang="en-US" sz="1800" b="0" i="0" kern="1200" dirty="0">
                          <a:solidFill>
                            <a:schemeClr val="dk1"/>
                          </a:solidFill>
                          <a:effectLst/>
                          <a:latin typeface="+mn-lt"/>
                          <a:ea typeface="+mn-ea"/>
                          <a:cs typeface="+mn-cs"/>
                        </a:rPr>
                        <a:t>scroll</a:t>
                      </a:r>
                    </a:p>
                  </a:txBody>
                  <a:tcPr/>
                </a:tc>
                <a:tc>
                  <a:txBody>
                    <a:bodyPr/>
                    <a:lstStyle/>
                    <a:p>
                      <a:r>
                        <a:rPr lang="en-US" sz="1800" b="0" i="0" kern="1200" dirty="0">
                          <a:solidFill>
                            <a:schemeClr val="dk1"/>
                          </a:solidFill>
                          <a:effectLst/>
                          <a:latin typeface="+mn-lt"/>
                          <a:ea typeface="+mn-ea"/>
                          <a:cs typeface="+mn-cs"/>
                        </a:rPr>
                        <a:t>The background image will scroll with the page. This is default</a:t>
                      </a:r>
                      <a:endParaRPr lang="en-US" dirty="0"/>
                    </a:p>
                  </a:txBody>
                  <a:tcPr/>
                </a:tc>
                <a:extLst>
                  <a:ext uri="{0D108BD9-81ED-4DB2-BD59-A6C34878D82A}">
                    <a16:rowId xmlns:a16="http://schemas.microsoft.com/office/drawing/2014/main" xmlns="" val="10001"/>
                  </a:ext>
                </a:extLst>
              </a:tr>
              <a:tr h="370840">
                <a:tc>
                  <a:txBody>
                    <a:bodyPr/>
                    <a:lstStyle/>
                    <a:p>
                      <a:r>
                        <a:rPr lang="en-US" sz="1800" b="0" i="0" kern="1200" dirty="0">
                          <a:solidFill>
                            <a:schemeClr val="dk1"/>
                          </a:solidFill>
                          <a:effectLst/>
                          <a:latin typeface="+mn-lt"/>
                          <a:ea typeface="+mn-ea"/>
                          <a:cs typeface="+mn-cs"/>
                        </a:rPr>
                        <a:t>fixed</a:t>
                      </a:r>
                      <a:endParaRPr lang="en-US" dirty="0"/>
                    </a:p>
                  </a:txBody>
                  <a:tcPr/>
                </a:tc>
                <a:tc>
                  <a:txBody>
                    <a:bodyPr/>
                    <a:lstStyle/>
                    <a:p>
                      <a:r>
                        <a:rPr lang="en-US" sz="1800" b="0" i="0" kern="1200" dirty="0">
                          <a:solidFill>
                            <a:schemeClr val="dk1"/>
                          </a:solidFill>
                          <a:effectLst/>
                          <a:latin typeface="+mn-lt"/>
                          <a:ea typeface="+mn-ea"/>
                          <a:cs typeface="+mn-cs"/>
                        </a:rPr>
                        <a:t>The background image will not scroll with the page</a:t>
                      </a:r>
                      <a:endParaRPr lang="en-US" dirty="0"/>
                    </a:p>
                  </a:txBody>
                  <a:tcPr/>
                </a:tc>
                <a:extLst>
                  <a:ext uri="{0D108BD9-81ED-4DB2-BD59-A6C34878D82A}">
                    <a16:rowId xmlns:a16="http://schemas.microsoft.com/office/drawing/2014/main" xmlns="" val="10002"/>
                  </a:ext>
                </a:extLst>
              </a:tr>
              <a:tr h="370840">
                <a:tc>
                  <a:txBody>
                    <a:bodyPr/>
                    <a:lstStyle/>
                    <a:p>
                      <a:r>
                        <a:rPr lang="en-US" sz="1800" b="0" i="0" kern="1200" dirty="0">
                          <a:solidFill>
                            <a:schemeClr val="dk1"/>
                          </a:solidFill>
                          <a:effectLst/>
                          <a:latin typeface="+mn-lt"/>
                          <a:ea typeface="+mn-ea"/>
                          <a:cs typeface="+mn-cs"/>
                        </a:rPr>
                        <a:t>local</a:t>
                      </a:r>
                      <a:endParaRPr lang="en-US" dirty="0"/>
                    </a:p>
                  </a:txBody>
                  <a:tcPr/>
                </a:tc>
                <a:tc>
                  <a:txBody>
                    <a:bodyPr/>
                    <a:lstStyle/>
                    <a:p>
                      <a:r>
                        <a:rPr lang="en-US" sz="1800" b="0" i="0" kern="1200" dirty="0">
                          <a:solidFill>
                            <a:schemeClr val="dk1"/>
                          </a:solidFill>
                          <a:effectLst/>
                          <a:latin typeface="+mn-lt"/>
                          <a:ea typeface="+mn-ea"/>
                          <a:cs typeface="+mn-cs"/>
                        </a:rPr>
                        <a:t>The background image will scroll with the element's contents</a:t>
                      </a:r>
                      <a:endParaRPr lang="en-US" dirty="0"/>
                    </a:p>
                  </a:txBody>
                  <a:tcPr/>
                </a:tc>
                <a:extLst>
                  <a:ext uri="{0D108BD9-81ED-4DB2-BD59-A6C34878D82A}">
                    <a16:rowId xmlns:a16="http://schemas.microsoft.com/office/drawing/2014/main" xmlns="" val="10003"/>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837400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869"/>
            <a:ext cx="10515600" cy="719092"/>
          </a:xfrm>
        </p:spPr>
        <p:txBody>
          <a:bodyPr/>
          <a:lstStyle/>
          <a:p>
            <a:r>
              <a:rPr lang="en-US" dirty="0"/>
              <a:t>background-attachment scroll</a:t>
            </a:r>
            <a:r>
              <a:rPr lang="en-US" b="1" dirty="0"/>
              <a:t> </a:t>
            </a:r>
            <a:r>
              <a:rPr lang="en-US" dirty="0"/>
              <a:t>property</a:t>
            </a:r>
          </a:p>
        </p:txBody>
      </p:sp>
      <p:pic>
        <p:nvPicPr>
          <p:cNvPr id="7" name="Picture 6"/>
          <p:cNvPicPr>
            <a:picLocks noChangeAspect="1"/>
          </p:cNvPicPr>
          <p:nvPr/>
        </p:nvPicPr>
        <p:blipFill>
          <a:blip r:embed="rId2"/>
          <a:stretch>
            <a:fillRect/>
          </a:stretch>
        </p:blipFill>
        <p:spPr>
          <a:xfrm>
            <a:off x="5688602" y="2257795"/>
            <a:ext cx="6200775" cy="2676525"/>
          </a:xfrm>
          <a:prstGeom prst="rect">
            <a:avLst/>
          </a:prstGeom>
        </p:spPr>
      </p:pic>
      <p:sp>
        <p:nvSpPr>
          <p:cNvPr id="8" name="Title 1"/>
          <p:cNvSpPr txBox="1">
            <a:spLocks/>
          </p:cNvSpPr>
          <p:nvPr/>
        </p:nvSpPr>
        <p:spPr>
          <a:xfrm>
            <a:off x="1444244" y="733932"/>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BackgroundAttachmentScroll.html</a:t>
            </a:r>
          </a:p>
        </p:txBody>
      </p:sp>
      <p:sp>
        <p:nvSpPr>
          <p:cNvPr id="9" name="Title 1"/>
          <p:cNvSpPr txBox="1">
            <a:spLocks/>
          </p:cNvSpPr>
          <p:nvPr/>
        </p:nvSpPr>
        <p:spPr>
          <a:xfrm>
            <a:off x="8185784" y="82296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11" name="Content Placeholder 10"/>
          <p:cNvPicPr>
            <a:picLocks noGrp="1" noChangeAspect="1"/>
          </p:cNvPicPr>
          <p:nvPr>
            <p:ph idx="1"/>
          </p:nvPr>
        </p:nvPicPr>
        <p:blipFill>
          <a:blip r:embed="rId3"/>
          <a:stretch>
            <a:fillRect/>
          </a:stretch>
        </p:blipFill>
        <p:spPr>
          <a:xfrm>
            <a:off x="182880" y="1276142"/>
            <a:ext cx="5505721" cy="5267913"/>
          </a:xfrm>
          <a:prstGeom prst="rect">
            <a:avLst/>
          </a:prstGeom>
        </p:spPr>
      </p:pic>
    </p:spTree>
    <p:extLst>
      <p:ext uri="{BB962C8B-B14F-4D97-AF65-F5344CB8AC3E}">
        <p14:creationId xmlns:p14="http://schemas.microsoft.com/office/powerpoint/2010/main" val="3322089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73"/>
            <a:ext cx="10515600" cy="653778"/>
          </a:xfrm>
        </p:spPr>
        <p:txBody>
          <a:bodyPr>
            <a:normAutofit fontScale="90000"/>
          </a:bodyPr>
          <a:lstStyle/>
          <a:p>
            <a:r>
              <a:rPr lang="en-US" dirty="0"/>
              <a:t>background-attachment Fixed</a:t>
            </a:r>
            <a:r>
              <a:rPr lang="en-US" b="1" dirty="0"/>
              <a:t> </a:t>
            </a:r>
            <a:r>
              <a:rPr lang="en-US" dirty="0"/>
              <a:t>property</a:t>
            </a:r>
          </a:p>
        </p:txBody>
      </p:sp>
      <p:pic>
        <p:nvPicPr>
          <p:cNvPr id="4" name="Content Placeholder 3"/>
          <p:cNvPicPr>
            <a:picLocks noGrp="1" noChangeAspect="1"/>
          </p:cNvPicPr>
          <p:nvPr>
            <p:ph idx="1"/>
          </p:nvPr>
        </p:nvPicPr>
        <p:blipFill>
          <a:blip r:embed="rId2"/>
          <a:stretch>
            <a:fillRect/>
          </a:stretch>
        </p:blipFill>
        <p:spPr>
          <a:xfrm>
            <a:off x="169817" y="1084217"/>
            <a:ext cx="7027817" cy="5479112"/>
          </a:xfrm>
          <a:prstGeom prst="rect">
            <a:avLst/>
          </a:prstGeom>
        </p:spPr>
      </p:pic>
      <p:pic>
        <p:nvPicPr>
          <p:cNvPr id="5" name="Picture 4"/>
          <p:cNvPicPr>
            <a:picLocks noChangeAspect="1"/>
          </p:cNvPicPr>
          <p:nvPr/>
        </p:nvPicPr>
        <p:blipFill>
          <a:blip r:embed="rId3"/>
          <a:stretch>
            <a:fillRect/>
          </a:stretch>
        </p:blipFill>
        <p:spPr>
          <a:xfrm>
            <a:off x="7336971" y="2595048"/>
            <a:ext cx="4572000" cy="2457450"/>
          </a:xfrm>
          <a:prstGeom prst="rect">
            <a:avLst/>
          </a:prstGeom>
        </p:spPr>
      </p:pic>
      <p:sp>
        <p:nvSpPr>
          <p:cNvPr id="6" name="Title 1"/>
          <p:cNvSpPr txBox="1">
            <a:spLocks/>
          </p:cNvSpPr>
          <p:nvPr/>
        </p:nvSpPr>
        <p:spPr>
          <a:xfrm>
            <a:off x="838200" y="64586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BackgroundAttachmentFixed.html</a:t>
            </a:r>
          </a:p>
        </p:txBody>
      </p:sp>
      <p:sp>
        <p:nvSpPr>
          <p:cNvPr id="7" name="Title 1"/>
          <p:cNvSpPr txBox="1">
            <a:spLocks/>
          </p:cNvSpPr>
          <p:nvPr/>
        </p:nvSpPr>
        <p:spPr>
          <a:xfrm>
            <a:off x="8854992" y="645863"/>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57097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background-attachment local property</a:t>
            </a:r>
          </a:p>
        </p:txBody>
      </p:sp>
      <p:sp>
        <p:nvSpPr>
          <p:cNvPr id="3" name="Content Placeholder 2"/>
          <p:cNvSpPr>
            <a:spLocks noGrp="1"/>
          </p:cNvSpPr>
          <p:nvPr>
            <p:ph idx="1"/>
          </p:nvPr>
        </p:nvSpPr>
        <p:spPr/>
        <p:txBody>
          <a:bodyPr/>
          <a:lstStyle/>
          <a:p>
            <a:pPr marL="0" indent="0">
              <a:buNone/>
            </a:pPr>
            <a:r>
              <a:rPr lang="en-US" dirty="0"/>
              <a:t>When there is only a single scroll bar on the page, a </a:t>
            </a:r>
            <a:r>
              <a:rPr lang="en-US" i="1" dirty="0"/>
              <a:t>scroll</a:t>
            </a:r>
            <a:r>
              <a:rPr lang="en-US" dirty="0"/>
              <a:t> setting and a </a:t>
            </a:r>
            <a:r>
              <a:rPr lang="en-US" i="1" dirty="0"/>
              <a:t>local</a:t>
            </a:r>
            <a:r>
              <a:rPr lang="en-US" dirty="0"/>
              <a:t> setting behaves exactly the same because, under those circumstances, local refers to the entire space within the scrollable element. The difference between these two values comes when there are at least two scrollable areas on the page, one inside the other. The table below shows how different </a:t>
            </a:r>
            <a:r>
              <a:rPr lang="en-US" b="1" dirty="0"/>
              <a:t>background-attachment</a:t>
            </a:r>
            <a:r>
              <a:rPr lang="en-US" dirty="0"/>
              <a:t> value behaves when there are two scrollable areas:</a:t>
            </a:r>
          </a:p>
        </p:txBody>
      </p:sp>
      <p:graphicFrame>
        <p:nvGraphicFramePr>
          <p:cNvPr id="4" name="Table 3"/>
          <p:cNvGraphicFramePr>
            <a:graphicFrameLocks noGrp="1"/>
          </p:cNvGraphicFramePr>
          <p:nvPr>
            <p:extLst>
              <p:ext uri="{D42A27DB-BD31-4B8C-83A1-F6EECF244321}">
                <p14:modId xmlns:p14="http://schemas.microsoft.com/office/powerpoint/2010/main" val="3192164889"/>
              </p:ext>
            </p:extLst>
          </p:nvPr>
        </p:nvGraphicFramePr>
        <p:xfrm>
          <a:off x="2212305" y="4693603"/>
          <a:ext cx="8127999" cy="148336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xmlns="" val="20000"/>
                    </a:ext>
                  </a:extLst>
                </a:gridCol>
                <a:gridCol w="2709333">
                  <a:extLst>
                    <a:ext uri="{9D8B030D-6E8A-4147-A177-3AD203B41FA5}">
                      <a16:colId xmlns:a16="http://schemas.microsoft.com/office/drawing/2014/main" xmlns="" val="20001"/>
                    </a:ext>
                  </a:extLst>
                </a:gridCol>
                <a:gridCol w="2709333">
                  <a:extLst>
                    <a:ext uri="{9D8B030D-6E8A-4147-A177-3AD203B41FA5}">
                      <a16:colId xmlns:a16="http://schemas.microsoft.com/office/drawing/2014/main" xmlns="" val="20002"/>
                    </a:ext>
                  </a:extLst>
                </a:gridCol>
              </a:tblGrid>
              <a:tr h="370840">
                <a:tc>
                  <a:txBody>
                    <a:bodyPr/>
                    <a:lstStyle/>
                    <a:p>
                      <a:r>
                        <a:rPr lang="en-US" dirty="0"/>
                        <a:t>Value</a:t>
                      </a:r>
                    </a:p>
                  </a:txBody>
                  <a:tcPr/>
                </a:tc>
                <a:tc>
                  <a:txBody>
                    <a:bodyPr/>
                    <a:lstStyle/>
                    <a:p>
                      <a:r>
                        <a:rPr lang="en-US" dirty="0"/>
                        <a:t>Outer Scroll bar</a:t>
                      </a:r>
                    </a:p>
                  </a:txBody>
                  <a:tcPr/>
                </a:tc>
                <a:tc>
                  <a:txBody>
                    <a:bodyPr/>
                    <a:lstStyle/>
                    <a:p>
                      <a:r>
                        <a:rPr lang="en-US" dirty="0"/>
                        <a:t>Inner scroll bar</a:t>
                      </a:r>
                    </a:p>
                  </a:txBody>
                  <a:tcPr/>
                </a:tc>
                <a:extLst>
                  <a:ext uri="{0D108BD9-81ED-4DB2-BD59-A6C34878D82A}">
                    <a16:rowId xmlns:a16="http://schemas.microsoft.com/office/drawing/2014/main" xmlns="" val="10000"/>
                  </a:ext>
                </a:extLst>
              </a:tr>
              <a:tr h="370840">
                <a:tc>
                  <a:txBody>
                    <a:bodyPr/>
                    <a:lstStyle/>
                    <a:p>
                      <a:r>
                        <a:rPr lang="en-US" dirty="0"/>
                        <a:t>fixed</a:t>
                      </a:r>
                    </a:p>
                  </a:txBody>
                  <a:tcPr/>
                </a:tc>
                <a:tc>
                  <a:txBody>
                    <a:bodyPr/>
                    <a:lstStyle/>
                    <a:p>
                      <a:r>
                        <a:rPr lang="en-US" dirty="0"/>
                        <a:t>Does not move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Does not move</a:t>
                      </a:r>
                    </a:p>
                  </a:txBody>
                  <a:tcPr/>
                </a:tc>
                <a:extLst>
                  <a:ext uri="{0D108BD9-81ED-4DB2-BD59-A6C34878D82A}">
                    <a16:rowId xmlns:a16="http://schemas.microsoft.com/office/drawing/2014/main" xmlns="" val="10001"/>
                  </a:ext>
                </a:extLst>
              </a:tr>
              <a:tr h="370840">
                <a:tc>
                  <a:txBody>
                    <a:bodyPr/>
                    <a:lstStyle/>
                    <a:p>
                      <a:r>
                        <a:rPr lang="en-US" dirty="0"/>
                        <a:t>scroll</a:t>
                      </a:r>
                    </a:p>
                  </a:txBody>
                  <a:tcPr/>
                </a:tc>
                <a:tc>
                  <a:txBody>
                    <a:bodyPr/>
                    <a:lstStyle/>
                    <a:p>
                      <a:r>
                        <a:rPr lang="en-US" dirty="0"/>
                        <a:t>moves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Does not move</a:t>
                      </a:r>
                    </a:p>
                  </a:txBody>
                  <a:tcPr/>
                </a:tc>
                <a:extLst>
                  <a:ext uri="{0D108BD9-81ED-4DB2-BD59-A6C34878D82A}">
                    <a16:rowId xmlns:a16="http://schemas.microsoft.com/office/drawing/2014/main" xmlns="" val="10002"/>
                  </a:ext>
                </a:extLst>
              </a:tr>
              <a:tr h="370840">
                <a:tc>
                  <a:txBody>
                    <a:bodyPr/>
                    <a:lstStyle/>
                    <a:p>
                      <a:r>
                        <a:rPr lang="en-US" dirty="0"/>
                        <a:t>local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moves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moves</a:t>
                      </a: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4041171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75" y="281335"/>
            <a:ext cx="10515600" cy="716700"/>
          </a:xfrm>
        </p:spPr>
        <p:txBody>
          <a:bodyPr/>
          <a:lstStyle/>
          <a:p>
            <a:r>
              <a:rPr lang="en-US" dirty="0"/>
              <a:t>background-attachment scroll v/s local</a:t>
            </a:r>
          </a:p>
        </p:txBody>
      </p:sp>
      <p:pic>
        <p:nvPicPr>
          <p:cNvPr id="4" name="Content Placeholder 3"/>
          <p:cNvPicPr>
            <a:picLocks noGrp="1" noChangeAspect="1"/>
          </p:cNvPicPr>
          <p:nvPr>
            <p:ph idx="1"/>
          </p:nvPr>
        </p:nvPicPr>
        <p:blipFill>
          <a:blip r:embed="rId2"/>
          <a:stretch>
            <a:fillRect/>
          </a:stretch>
        </p:blipFill>
        <p:spPr>
          <a:xfrm>
            <a:off x="838200" y="1825625"/>
            <a:ext cx="4737510" cy="4351338"/>
          </a:xfrm>
          <a:prstGeom prst="rect">
            <a:avLst/>
          </a:prstGeom>
        </p:spPr>
      </p:pic>
      <p:pic>
        <p:nvPicPr>
          <p:cNvPr id="5" name="Picture 4"/>
          <p:cNvPicPr>
            <a:picLocks noChangeAspect="1"/>
          </p:cNvPicPr>
          <p:nvPr/>
        </p:nvPicPr>
        <p:blipFill>
          <a:blip r:embed="rId3"/>
          <a:stretch>
            <a:fillRect/>
          </a:stretch>
        </p:blipFill>
        <p:spPr>
          <a:xfrm>
            <a:off x="5972175" y="1681956"/>
            <a:ext cx="5381625" cy="4638675"/>
          </a:xfrm>
          <a:prstGeom prst="rect">
            <a:avLst/>
          </a:prstGeom>
        </p:spPr>
      </p:pic>
      <p:sp>
        <p:nvSpPr>
          <p:cNvPr id="6" name="Title 1"/>
          <p:cNvSpPr txBox="1">
            <a:spLocks/>
          </p:cNvSpPr>
          <p:nvPr/>
        </p:nvSpPr>
        <p:spPr>
          <a:xfrm>
            <a:off x="979868" y="1140725"/>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BackgroundAttachmentLocal.html</a:t>
            </a:r>
          </a:p>
        </p:txBody>
      </p:sp>
      <p:sp>
        <p:nvSpPr>
          <p:cNvPr id="7" name="Title 1"/>
          <p:cNvSpPr txBox="1">
            <a:spLocks/>
          </p:cNvSpPr>
          <p:nvPr/>
        </p:nvSpPr>
        <p:spPr>
          <a:xfrm>
            <a:off x="7552385" y="1134570"/>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4109036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69" y="107549"/>
            <a:ext cx="10515600" cy="742458"/>
          </a:xfrm>
        </p:spPr>
        <p:txBody>
          <a:bodyPr/>
          <a:lstStyle/>
          <a:p>
            <a:r>
              <a:rPr lang="en-US" dirty="0"/>
              <a:t>manipulating texts</a:t>
            </a:r>
          </a:p>
        </p:txBody>
      </p:sp>
      <p:sp>
        <p:nvSpPr>
          <p:cNvPr id="3" name="Content Placeholder 2"/>
          <p:cNvSpPr>
            <a:spLocks noGrp="1"/>
          </p:cNvSpPr>
          <p:nvPr>
            <p:ph idx="1"/>
          </p:nvPr>
        </p:nvSpPr>
        <p:spPr>
          <a:xfrm>
            <a:off x="735169" y="850007"/>
            <a:ext cx="10515600" cy="4351338"/>
          </a:xfrm>
        </p:spPr>
        <p:txBody>
          <a:bodyPr/>
          <a:lstStyle/>
          <a:p>
            <a:r>
              <a:rPr lang="en-US" dirty="0"/>
              <a:t>You can set following text properties of an element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29260086"/>
              </p:ext>
            </p:extLst>
          </p:nvPr>
        </p:nvGraphicFramePr>
        <p:xfrm>
          <a:off x="1426692" y="1639028"/>
          <a:ext cx="9391562" cy="4665386"/>
        </p:xfrm>
        <a:graphic>
          <a:graphicData uri="http://schemas.openxmlformats.org/drawingml/2006/table">
            <a:tbl>
              <a:tblPr firstRow="1" bandRow="1">
                <a:tableStyleId>{93296810-A885-4BE3-A3E7-6D5BEEA58F35}</a:tableStyleId>
              </a:tblPr>
              <a:tblGrid>
                <a:gridCol w="1797332">
                  <a:extLst>
                    <a:ext uri="{9D8B030D-6E8A-4147-A177-3AD203B41FA5}">
                      <a16:colId xmlns:a16="http://schemas.microsoft.com/office/drawing/2014/main" xmlns="" val="20000"/>
                    </a:ext>
                  </a:extLst>
                </a:gridCol>
                <a:gridCol w="7594230">
                  <a:extLst>
                    <a:ext uri="{9D8B030D-6E8A-4147-A177-3AD203B41FA5}">
                      <a16:colId xmlns:a16="http://schemas.microsoft.com/office/drawing/2014/main" xmlns="" val="20001"/>
                    </a:ext>
                  </a:extLst>
                </a:gridCol>
              </a:tblGrid>
              <a:tr h="396346">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426904">
                <a:tc>
                  <a:txBody>
                    <a:bodyPr/>
                    <a:lstStyle/>
                    <a:p>
                      <a:r>
                        <a:rPr lang="en-US" sz="1800" b="1" i="0" kern="1200" dirty="0">
                          <a:solidFill>
                            <a:schemeClr val="dk1"/>
                          </a:solidFill>
                          <a:effectLst/>
                          <a:latin typeface="+mn-lt"/>
                          <a:ea typeface="+mn-ea"/>
                          <a:cs typeface="+mn-cs"/>
                        </a:rPr>
                        <a:t>color</a:t>
                      </a:r>
                      <a:endParaRPr lang="en-US" dirty="0"/>
                    </a:p>
                  </a:txBody>
                  <a:tcPr/>
                </a:tc>
                <a:tc>
                  <a:txBody>
                    <a:bodyPr/>
                    <a:lstStyle/>
                    <a:p>
                      <a:r>
                        <a:rPr lang="en-US" sz="1800" b="0" i="0" kern="1200" dirty="0">
                          <a:solidFill>
                            <a:schemeClr val="dk1"/>
                          </a:solidFill>
                          <a:effectLst/>
                          <a:latin typeface="+mn-lt"/>
                          <a:ea typeface="+mn-ea"/>
                          <a:cs typeface="+mn-cs"/>
                        </a:rPr>
                        <a:t>The </a:t>
                      </a:r>
                      <a:r>
                        <a:rPr lang="en-US" sz="1800" b="1" i="0" kern="1200" dirty="0">
                          <a:solidFill>
                            <a:schemeClr val="dk1"/>
                          </a:solidFill>
                          <a:effectLst/>
                          <a:latin typeface="+mn-lt"/>
                          <a:ea typeface="+mn-ea"/>
                          <a:cs typeface="+mn-cs"/>
                        </a:rPr>
                        <a:t>color</a:t>
                      </a:r>
                      <a:r>
                        <a:rPr lang="en-US" sz="1800" b="0" i="0" kern="1200" dirty="0">
                          <a:solidFill>
                            <a:schemeClr val="dk1"/>
                          </a:solidFill>
                          <a:effectLst/>
                          <a:latin typeface="+mn-lt"/>
                          <a:ea typeface="+mn-ea"/>
                          <a:cs typeface="+mn-cs"/>
                        </a:rPr>
                        <a:t> property is used to set the color of a text</a:t>
                      </a:r>
                      <a:endParaRPr lang="en-US" dirty="0"/>
                    </a:p>
                  </a:txBody>
                  <a:tcPr/>
                </a:tc>
                <a:extLst>
                  <a:ext uri="{0D108BD9-81ED-4DB2-BD59-A6C34878D82A}">
                    <a16:rowId xmlns:a16="http://schemas.microsoft.com/office/drawing/2014/main" xmlns="" val="10001"/>
                  </a:ext>
                </a:extLst>
              </a:tr>
              <a:tr h="426904">
                <a:tc>
                  <a:txBody>
                    <a:bodyPr/>
                    <a:lstStyle/>
                    <a:p>
                      <a:r>
                        <a:rPr lang="en-US" sz="1800" b="1" i="0" kern="1200" dirty="0">
                          <a:solidFill>
                            <a:schemeClr val="dk1"/>
                          </a:solidFill>
                          <a:effectLst/>
                          <a:latin typeface="+mn-lt"/>
                          <a:ea typeface="+mn-ea"/>
                          <a:cs typeface="+mn-cs"/>
                        </a:rPr>
                        <a:t>direction</a:t>
                      </a:r>
                      <a:endParaRPr lang="en-US" dirty="0"/>
                    </a:p>
                  </a:txBody>
                  <a:tcPr/>
                </a:tc>
                <a:tc>
                  <a:txBody>
                    <a:bodyPr/>
                    <a:lstStyle/>
                    <a:p>
                      <a:r>
                        <a:rPr lang="en-US" sz="1800" b="0" i="0" kern="1200" dirty="0">
                          <a:solidFill>
                            <a:schemeClr val="dk1"/>
                          </a:solidFill>
                          <a:effectLst/>
                          <a:latin typeface="+mn-lt"/>
                          <a:ea typeface="+mn-ea"/>
                          <a:cs typeface="+mn-cs"/>
                        </a:rPr>
                        <a:t> used to set the text direction.</a:t>
                      </a:r>
                      <a:endParaRPr lang="en-US" dirty="0"/>
                    </a:p>
                  </a:txBody>
                  <a:tcPr/>
                </a:tc>
                <a:extLst>
                  <a:ext uri="{0D108BD9-81ED-4DB2-BD59-A6C34878D82A}">
                    <a16:rowId xmlns:a16="http://schemas.microsoft.com/office/drawing/2014/main" xmlns="" val="10002"/>
                  </a:ext>
                </a:extLst>
              </a:tr>
              <a:tr h="426904">
                <a:tc>
                  <a:txBody>
                    <a:bodyPr/>
                    <a:lstStyle/>
                    <a:p>
                      <a:r>
                        <a:rPr lang="en-US" sz="1800" b="1" i="0" kern="1200" dirty="0">
                          <a:solidFill>
                            <a:schemeClr val="dk1"/>
                          </a:solidFill>
                          <a:effectLst/>
                          <a:latin typeface="+mn-lt"/>
                          <a:ea typeface="+mn-ea"/>
                          <a:cs typeface="+mn-cs"/>
                        </a:rPr>
                        <a:t>letter-spacing</a:t>
                      </a:r>
                      <a:endParaRPr lang="en-US" dirty="0"/>
                    </a:p>
                  </a:txBody>
                  <a:tcPr/>
                </a:tc>
                <a:tc>
                  <a:txBody>
                    <a:bodyPr/>
                    <a:lstStyle/>
                    <a:p>
                      <a:r>
                        <a:rPr lang="en-US" sz="1800" b="0" i="0" kern="1200" dirty="0">
                          <a:solidFill>
                            <a:schemeClr val="dk1"/>
                          </a:solidFill>
                          <a:effectLst/>
                          <a:latin typeface="+mn-lt"/>
                          <a:ea typeface="+mn-ea"/>
                          <a:cs typeface="+mn-cs"/>
                        </a:rPr>
                        <a:t>used to add or subtract space between the letters that make up a word.</a:t>
                      </a:r>
                      <a:endParaRPr lang="en-US" dirty="0"/>
                    </a:p>
                  </a:txBody>
                  <a:tcPr/>
                </a:tc>
                <a:extLst>
                  <a:ext uri="{0D108BD9-81ED-4DB2-BD59-A6C34878D82A}">
                    <a16:rowId xmlns:a16="http://schemas.microsoft.com/office/drawing/2014/main" xmlns="" val="10003"/>
                  </a:ext>
                </a:extLst>
              </a:tr>
              <a:tr h="426904">
                <a:tc>
                  <a:txBody>
                    <a:bodyPr/>
                    <a:lstStyle/>
                    <a:p>
                      <a:r>
                        <a:rPr lang="en-US" sz="1800" b="1" i="0" kern="1200" dirty="0">
                          <a:solidFill>
                            <a:schemeClr val="dk1"/>
                          </a:solidFill>
                          <a:effectLst/>
                          <a:latin typeface="+mn-lt"/>
                          <a:ea typeface="+mn-ea"/>
                          <a:cs typeface="+mn-cs"/>
                        </a:rPr>
                        <a:t>word-spacing</a:t>
                      </a:r>
                      <a:endParaRPr lang="en-US" dirty="0"/>
                    </a:p>
                  </a:txBody>
                  <a:tcPr/>
                </a:tc>
                <a:tc>
                  <a:txBody>
                    <a:bodyPr/>
                    <a:lstStyle/>
                    <a:p>
                      <a:r>
                        <a:rPr lang="en-US" sz="1800" b="0" i="0" kern="1200" dirty="0">
                          <a:solidFill>
                            <a:schemeClr val="dk1"/>
                          </a:solidFill>
                          <a:effectLst/>
                          <a:latin typeface="+mn-lt"/>
                          <a:ea typeface="+mn-ea"/>
                          <a:cs typeface="+mn-cs"/>
                        </a:rPr>
                        <a:t>used to add or subtract space between the words of a sentence.</a:t>
                      </a:r>
                      <a:endParaRPr lang="en-US" dirty="0"/>
                    </a:p>
                  </a:txBody>
                  <a:tcPr/>
                </a:tc>
                <a:extLst>
                  <a:ext uri="{0D108BD9-81ED-4DB2-BD59-A6C34878D82A}">
                    <a16:rowId xmlns:a16="http://schemas.microsoft.com/office/drawing/2014/main" xmlns="" val="10004"/>
                  </a:ext>
                </a:extLst>
              </a:tr>
              <a:tr h="426904">
                <a:tc>
                  <a:txBody>
                    <a:bodyPr/>
                    <a:lstStyle/>
                    <a:p>
                      <a:r>
                        <a:rPr lang="en-US" sz="1800" b="1" i="0" kern="1200" dirty="0">
                          <a:solidFill>
                            <a:schemeClr val="dk1"/>
                          </a:solidFill>
                          <a:effectLst/>
                          <a:latin typeface="+mn-lt"/>
                          <a:ea typeface="+mn-ea"/>
                          <a:cs typeface="+mn-cs"/>
                        </a:rPr>
                        <a:t>text-indent</a:t>
                      </a:r>
                      <a:r>
                        <a:rPr lang="en-US" sz="1800" b="0" i="0" kern="1200" dirty="0">
                          <a:solidFill>
                            <a:schemeClr val="dk1"/>
                          </a:solidFill>
                          <a:effectLst/>
                          <a:latin typeface="+mn-lt"/>
                          <a:ea typeface="+mn-ea"/>
                          <a:cs typeface="+mn-cs"/>
                        </a:rPr>
                        <a:t> </a:t>
                      </a:r>
                      <a:endParaRPr lang="en-US" dirty="0"/>
                    </a:p>
                  </a:txBody>
                  <a:tcPr/>
                </a:tc>
                <a:tc>
                  <a:txBody>
                    <a:bodyPr/>
                    <a:lstStyle/>
                    <a:p>
                      <a:r>
                        <a:rPr lang="en-US" sz="1800" b="0" i="0" kern="1200" dirty="0">
                          <a:solidFill>
                            <a:schemeClr val="dk1"/>
                          </a:solidFill>
                          <a:effectLst/>
                          <a:latin typeface="+mn-lt"/>
                          <a:ea typeface="+mn-ea"/>
                          <a:cs typeface="+mn-cs"/>
                        </a:rPr>
                        <a:t>used to indent the text of a paragraph.</a:t>
                      </a:r>
                      <a:endParaRPr lang="en-US" dirty="0"/>
                    </a:p>
                  </a:txBody>
                  <a:tcPr/>
                </a:tc>
                <a:extLst>
                  <a:ext uri="{0D108BD9-81ED-4DB2-BD59-A6C34878D82A}">
                    <a16:rowId xmlns:a16="http://schemas.microsoft.com/office/drawing/2014/main" xmlns="" val="10005"/>
                  </a:ext>
                </a:extLst>
              </a:tr>
              <a:tr h="426904">
                <a:tc>
                  <a:txBody>
                    <a:bodyPr/>
                    <a:lstStyle/>
                    <a:p>
                      <a:r>
                        <a:rPr lang="en-US" sz="1800" b="1" i="0" kern="1200" dirty="0">
                          <a:solidFill>
                            <a:schemeClr val="dk1"/>
                          </a:solidFill>
                          <a:effectLst/>
                          <a:latin typeface="+mn-lt"/>
                          <a:ea typeface="+mn-ea"/>
                          <a:cs typeface="+mn-cs"/>
                        </a:rPr>
                        <a:t>text-align</a:t>
                      </a:r>
                      <a:endParaRPr lang="en-US" dirty="0"/>
                    </a:p>
                  </a:txBody>
                  <a:tcPr/>
                </a:tc>
                <a:tc>
                  <a:txBody>
                    <a:bodyPr/>
                    <a:lstStyle/>
                    <a:p>
                      <a:r>
                        <a:rPr lang="en-US" sz="1800" b="0" i="0" kern="1200" dirty="0">
                          <a:solidFill>
                            <a:schemeClr val="dk1"/>
                          </a:solidFill>
                          <a:effectLst/>
                          <a:latin typeface="+mn-lt"/>
                          <a:ea typeface="+mn-ea"/>
                          <a:cs typeface="+mn-cs"/>
                        </a:rPr>
                        <a:t>used to align the text of a document.</a:t>
                      </a:r>
                      <a:endParaRPr lang="en-US" dirty="0"/>
                    </a:p>
                  </a:txBody>
                  <a:tcPr/>
                </a:tc>
                <a:extLst>
                  <a:ext uri="{0D108BD9-81ED-4DB2-BD59-A6C34878D82A}">
                    <a16:rowId xmlns:a16="http://schemas.microsoft.com/office/drawing/2014/main" xmlns="" val="10006"/>
                  </a:ext>
                </a:extLst>
              </a:tr>
              <a:tr h="426904">
                <a:tc>
                  <a:txBody>
                    <a:bodyPr/>
                    <a:lstStyle/>
                    <a:p>
                      <a:r>
                        <a:rPr lang="en-US" sz="1800" b="1" i="0" kern="1200" dirty="0">
                          <a:solidFill>
                            <a:schemeClr val="dk1"/>
                          </a:solidFill>
                          <a:effectLst/>
                          <a:latin typeface="+mn-lt"/>
                          <a:ea typeface="+mn-ea"/>
                          <a:cs typeface="+mn-cs"/>
                        </a:rPr>
                        <a:t>text-decoration</a:t>
                      </a:r>
                      <a:endParaRPr lang="en-US" dirty="0"/>
                    </a:p>
                  </a:txBody>
                  <a:tcPr/>
                </a:tc>
                <a:tc>
                  <a:txBody>
                    <a:bodyPr/>
                    <a:lstStyle/>
                    <a:p>
                      <a:r>
                        <a:rPr lang="en-US" sz="1800" b="0" i="0" kern="1200" dirty="0">
                          <a:solidFill>
                            <a:schemeClr val="dk1"/>
                          </a:solidFill>
                          <a:effectLst/>
                          <a:latin typeface="+mn-lt"/>
                          <a:ea typeface="+mn-ea"/>
                          <a:cs typeface="+mn-cs"/>
                        </a:rPr>
                        <a:t>used to underline, over line, and strikethrough text.</a:t>
                      </a:r>
                      <a:endParaRPr lang="en-US" dirty="0"/>
                    </a:p>
                  </a:txBody>
                  <a:tcPr/>
                </a:tc>
                <a:extLst>
                  <a:ext uri="{0D108BD9-81ED-4DB2-BD59-A6C34878D82A}">
                    <a16:rowId xmlns:a16="http://schemas.microsoft.com/office/drawing/2014/main" xmlns="" val="10007"/>
                  </a:ext>
                </a:extLst>
              </a:tr>
              <a:tr h="426904">
                <a:tc>
                  <a:txBody>
                    <a:bodyPr/>
                    <a:lstStyle/>
                    <a:p>
                      <a:r>
                        <a:rPr lang="en-US" sz="1800" b="1" i="0" kern="1200" dirty="0">
                          <a:solidFill>
                            <a:schemeClr val="dk1"/>
                          </a:solidFill>
                          <a:effectLst/>
                          <a:latin typeface="+mn-lt"/>
                          <a:ea typeface="+mn-ea"/>
                          <a:cs typeface="+mn-cs"/>
                        </a:rPr>
                        <a:t>text-transform</a:t>
                      </a:r>
                      <a:endParaRPr lang="en-US" dirty="0"/>
                    </a:p>
                  </a:txBody>
                  <a:tcPr/>
                </a:tc>
                <a:tc>
                  <a:txBody>
                    <a:bodyPr/>
                    <a:lstStyle/>
                    <a:p>
                      <a:r>
                        <a:rPr lang="en-US" sz="1800" b="0" i="0" kern="1200" dirty="0">
                          <a:solidFill>
                            <a:schemeClr val="dk1"/>
                          </a:solidFill>
                          <a:effectLst/>
                          <a:latin typeface="+mn-lt"/>
                          <a:ea typeface="+mn-ea"/>
                          <a:cs typeface="+mn-cs"/>
                        </a:rPr>
                        <a:t>used to capitalize text or convert text to uppercase or lowercase letters.</a:t>
                      </a:r>
                      <a:endParaRPr lang="en-US" dirty="0"/>
                    </a:p>
                  </a:txBody>
                  <a:tcPr/>
                </a:tc>
                <a:extLst>
                  <a:ext uri="{0D108BD9-81ED-4DB2-BD59-A6C34878D82A}">
                    <a16:rowId xmlns:a16="http://schemas.microsoft.com/office/drawing/2014/main" xmlns="" val="10008"/>
                  </a:ext>
                </a:extLst>
              </a:tr>
              <a:tr h="426904">
                <a:tc>
                  <a:txBody>
                    <a:bodyPr/>
                    <a:lstStyle/>
                    <a:p>
                      <a:r>
                        <a:rPr lang="en-US" sz="1800" b="1" i="0" kern="1200" dirty="0">
                          <a:solidFill>
                            <a:schemeClr val="dk1"/>
                          </a:solidFill>
                          <a:effectLst/>
                          <a:latin typeface="+mn-lt"/>
                          <a:ea typeface="+mn-ea"/>
                          <a:cs typeface="+mn-cs"/>
                        </a:rPr>
                        <a:t>white-space</a:t>
                      </a:r>
                      <a:endParaRPr lang="en-US" dirty="0"/>
                    </a:p>
                  </a:txBody>
                  <a:tcPr/>
                </a:tc>
                <a:tc>
                  <a:txBody>
                    <a:bodyPr/>
                    <a:lstStyle/>
                    <a:p>
                      <a:r>
                        <a:rPr lang="en-US" sz="1800" b="0" i="0" kern="1200" dirty="0">
                          <a:solidFill>
                            <a:schemeClr val="dk1"/>
                          </a:solidFill>
                          <a:effectLst/>
                          <a:latin typeface="+mn-lt"/>
                          <a:ea typeface="+mn-ea"/>
                          <a:cs typeface="+mn-cs"/>
                        </a:rPr>
                        <a:t>used to control the flow and formatting of text.</a:t>
                      </a:r>
                      <a:endParaRPr lang="en-US" dirty="0"/>
                    </a:p>
                  </a:txBody>
                  <a:tcPr/>
                </a:tc>
                <a:extLst>
                  <a:ext uri="{0D108BD9-81ED-4DB2-BD59-A6C34878D82A}">
                    <a16:rowId xmlns:a16="http://schemas.microsoft.com/office/drawing/2014/main" xmlns="" val="10009"/>
                  </a:ext>
                </a:extLst>
              </a:tr>
              <a:tr h="426904">
                <a:tc>
                  <a:txBody>
                    <a:bodyPr/>
                    <a:lstStyle/>
                    <a:p>
                      <a:r>
                        <a:rPr lang="en-US" sz="1800" b="1" i="0" kern="1200" dirty="0">
                          <a:solidFill>
                            <a:schemeClr val="dk1"/>
                          </a:solidFill>
                          <a:effectLst/>
                          <a:latin typeface="+mn-lt"/>
                          <a:ea typeface="+mn-ea"/>
                          <a:cs typeface="+mn-cs"/>
                        </a:rPr>
                        <a:t>text-shadow</a:t>
                      </a:r>
                      <a:endParaRPr lang="en-US" dirty="0"/>
                    </a:p>
                  </a:txBody>
                  <a:tcPr/>
                </a:tc>
                <a:tc>
                  <a:txBody>
                    <a:bodyPr/>
                    <a:lstStyle/>
                    <a:p>
                      <a:r>
                        <a:rPr lang="en-US" sz="1800" b="0" i="0" kern="1200" dirty="0">
                          <a:solidFill>
                            <a:schemeClr val="dk1"/>
                          </a:solidFill>
                          <a:effectLst/>
                          <a:latin typeface="+mn-lt"/>
                          <a:ea typeface="+mn-ea"/>
                          <a:cs typeface="+mn-cs"/>
                        </a:rPr>
                        <a:t>used to set the text shadow around a text.</a:t>
                      </a:r>
                      <a:endParaRPr lang="en-US" dirty="0"/>
                    </a:p>
                  </a:txBody>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3425045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color</a:t>
            </a:r>
          </a:p>
        </p:txBody>
      </p:sp>
      <p:sp>
        <p:nvSpPr>
          <p:cNvPr id="3" name="Content Placeholder 2"/>
          <p:cNvSpPr>
            <a:spLocks noGrp="1"/>
          </p:cNvSpPr>
          <p:nvPr>
            <p:ph idx="1"/>
          </p:nvPr>
        </p:nvSpPr>
        <p:spPr/>
        <p:txBody>
          <a:bodyPr/>
          <a:lstStyle/>
          <a:p>
            <a:r>
              <a:rPr lang="en-US" dirty="0"/>
              <a:t>The following example demonstrates how to set the text color. Possible value could be any color name in any valid format.</a:t>
            </a:r>
          </a:p>
        </p:txBody>
      </p:sp>
      <p:pic>
        <p:nvPicPr>
          <p:cNvPr id="4" name="Picture 3"/>
          <p:cNvPicPr>
            <a:picLocks noChangeAspect="1"/>
          </p:cNvPicPr>
          <p:nvPr/>
        </p:nvPicPr>
        <p:blipFill>
          <a:blip r:embed="rId2"/>
          <a:stretch>
            <a:fillRect/>
          </a:stretch>
        </p:blipFill>
        <p:spPr>
          <a:xfrm>
            <a:off x="404949" y="3382947"/>
            <a:ext cx="5904411" cy="3279110"/>
          </a:xfrm>
          <a:prstGeom prst="rect">
            <a:avLst/>
          </a:prstGeom>
        </p:spPr>
      </p:pic>
      <p:pic>
        <p:nvPicPr>
          <p:cNvPr id="5" name="Picture 4"/>
          <p:cNvPicPr>
            <a:picLocks noChangeAspect="1"/>
          </p:cNvPicPr>
          <p:nvPr/>
        </p:nvPicPr>
        <p:blipFill>
          <a:blip r:embed="rId3"/>
          <a:stretch>
            <a:fillRect/>
          </a:stretch>
        </p:blipFill>
        <p:spPr>
          <a:xfrm>
            <a:off x="7728857" y="3855132"/>
            <a:ext cx="3295650" cy="1085850"/>
          </a:xfrm>
          <a:prstGeom prst="rect">
            <a:avLst/>
          </a:prstGeom>
        </p:spPr>
      </p:pic>
      <p:sp>
        <p:nvSpPr>
          <p:cNvPr id="6" name="Title 1"/>
          <p:cNvSpPr txBox="1">
            <a:spLocks/>
          </p:cNvSpPr>
          <p:nvPr/>
        </p:nvSpPr>
        <p:spPr>
          <a:xfrm>
            <a:off x="1316663" y="2840736"/>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textcolor.html</a:t>
            </a:r>
          </a:p>
        </p:txBody>
      </p:sp>
      <p:sp>
        <p:nvSpPr>
          <p:cNvPr id="7" name="Title 1"/>
          <p:cNvSpPr txBox="1">
            <a:spLocks/>
          </p:cNvSpPr>
          <p:nvPr/>
        </p:nvSpPr>
        <p:spPr>
          <a:xfrm>
            <a:off x="8674319" y="2840736"/>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700667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dk1"/>
                </a:solidFill>
              </a:rPr>
              <a:t>text direction</a:t>
            </a:r>
            <a:endParaRPr lang="en-US" dirty="0"/>
          </a:p>
        </p:txBody>
      </p:sp>
      <p:sp>
        <p:nvSpPr>
          <p:cNvPr id="3" name="Content Placeholder 2"/>
          <p:cNvSpPr>
            <a:spLocks noGrp="1"/>
          </p:cNvSpPr>
          <p:nvPr>
            <p:ph idx="1"/>
          </p:nvPr>
        </p:nvSpPr>
        <p:spPr/>
        <p:txBody>
          <a:bodyPr/>
          <a:lstStyle/>
          <a:p>
            <a:r>
              <a:rPr lang="en-US" dirty="0"/>
              <a:t>The following example demonstrates how to set the direction of a text. Possible values are </a:t>
            </a:r>
            <a:r>
              <a:rPr lang="en-US" i="1" dirty="0" err="1"/>
              <a:t>ltr</a:t>
            </a:r>
            <a:r>
              <a:rPr lang="en-US" i="1" dirty="0"/>
              <a:t> or </a:t>
            </a:r>
            <a:r>
              <a:rPr lang="en-US" i="1" dirty="0" err="1"/>
              <a:t>rtl</a:t>
            </a:r>
            <a:r>
              <a:rPr lang="en-US" dirty="0"/>
              <a:t>.</a:t>
            </a:r>
          </a:p>
          <a:p>
            <a:endParaRPr lang="en-US" dirty="0"/>
          </a:p>
        </p:txBody>
      </p:sp>
      <p:pic>
        <p:nvPicPr>
          <p:cNvPr id="4" name="Picture 3"/>
          <p:cNvPicPr>
            <a:picLocks noChangeAspect="1"/>
          </p:cNvPicPr>
          <p:nvPr/>
        </p:nvPicPr>
        <p:blipFill>
          <a:blip r:embed="rId2"/>
          <a:stretch>
            <a:fillRect/>
          </a:stretch>
        </p:blipFill>
        <p:spPr>
          <a:xfrm>
            <a:off x="182881" y="3278777"/>
            <a:ext cx="5251132" cy="3383280"/>
          </a:xfrm>
          <a:prstGeom prst="rect">
            <a:avLst/>
          </a:prstGeom>
        </p:spPr>
      </p:pic>
      <p:sp>
        <p:nvSpPr>
          <p:cNvPr id="6" name="Title 1"/>
          <p:cNvSpPr txBox="1">
            <a:spLocks/>
          </p:cNvSpPr>
          <p:nvPr/>
        </p:nvSpPr>
        <p:spPr>
          <a:xfrm>
            <a:off x="6858582" y="2840736"/>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
        <p:nvSpPr>
          <p:cNvPr id="7" name="Title 1"/>
          <p:cNvSpPr txBox="1">
            <a:spLocks/>
          </p:cNvSpPr>
          <p:nvPr/>
        </p:nvSpPr>
        <p:spPr>
          <a:xfrm>
            <a:off x="1316663" y="2840736"/>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textdirection.html</a:t>
            </a:r>
          </a:p>
        </p:txBody>
      </p:sp>
      <p:pic>
        <p:nvPicPr>
          <p:cNvPr id="9" name="Picture 8"/>
          <p:cNvPicPr>
            <a:picLocks noChangeAspect="1"/>
          </p:cNvPicPr>
          <p:nvPr/>
        </p:nvPicPr>
        <p:blipFill>
          <a:blip r:embed="rId3"/>
          <a:stretch>
            <a:fillRect/>
          </a:stretch>
        </p:blipFill>
        <p:spPr>
          <a:xfrm>
            <a:off x="6367798" y="3874461"/>
            <a:ext cx="4762500" cy="1514475"/>
          </a:xfrm>
          <a:prstGeom prst="rect">
            <a:avLst/>
          </a:prstGeom>
        </p:spPr>
      </p:pic>
    </p:spTree>
    <p:extLst>
      <p:ext uri="{BB962C8B-B14F-4D97-AF65-F5344CB8AC3E}">
        <p14:creationId xmlns:p14="http://schemas.microsoft.com/office/powerpoint/2010/main" val="8128286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dk1"/>
                </a:solidFill>
              </a:rPr>
              <a:t>letter-spacing</a:t>
            </a:r>
            <a:endParaRPr lang="en-US" dirty="0"/>
          </a:p>
        </p:txBody>
      </p:sp>
      <p:sp>
        <p:nvSpPr>
          <p:cNvPr id="3" name="Content Placeholder 2"/>
          <p:cNvSpPr>
            <a:spLocks noGrp="1"/>
          </p:cNvSpPr>
          <p:nvPr>
            <p:ph idx="1"/>
          </p:nvPr>
        </p:nvSpPr>
        <p:spPr/>
        <p:txBody>
          <a:bodyPr/>
          <a:lstStyle/>
          <a:p>
            <a:r>
              <a:rPr lang="en-US" dirty="0"/>
              <a:t>The following example demonstrates how to set the space between characters. Possible values are </a:t>
            </a:r>
            <a:r>
              <a:rPr lang="en-US" i="1" dirty="0"/>
              <a:t>normal or a number specifying space.</a:t>
            </a:r>
            <a:r>
              <a:rPr lang="en-US" dirty="0"/>
              <a:t>.</a:t>
            </a:r>
          </a:p>
          <a:p>
            <a:endParaRPr lang="en-US" dirty="0"/>
          </a:p>
        </p:txBody>
      </p:sp>
      <p:pic>
        <p:nvPicPr>
          <p:cNvPr id="4" name="Picture 3"/>
          <p:cNvPicPr>
            <a:picLocks noChangeAspect="1"/>
          </p:cNvPicPr>
          <p:nvPr/>
        </p:nvPicPr>
        <p:blipFill>
          <a:blip r:embed="rId2"/>
          <a:stretch>
            <a:fillRect/>
          </a:stretch>
        </p:blipFill>
        <p:spPr>
          <a:xfrm>
            <a:off x="409575" y="3305495"/>
            <a:ext cx="5083197" cy="3369625"/>
          </a:xfrm>
          <a:prstGeom prst="rect">
            <a:avLst/>
          </a:prstGeom>
        </p:spPr>
      </p:pic>
      <p:pic>
        <p:nvPicPr>
          <p:cNvPr id="5" name="Picture 4"/>
          <p:cNvPicPr>
            <a:picLocks noChangeAspect="1"/>
          </p:cNvPicPr>
          <p:nvPr/>
        </p:nvPicPr>
        <p:blipFill>
          <a:blip r:embed="rId3"/>
          <a:stretch>
            <a:fillRect/>
          </a:stretch>
        </p:blipFill>
        <p:spPr>
          <a:xfrm>
            <a:off x="7010400" y="3771430"/>
            <a:ext cx="4772025" cy="1514475"/>
          </a:xfrm>
          <a:prstGeom prst="rect">
            <a:avLst/>
          </a:prstGeom>
        </p:spPr>
      </p:pic>
      <p:sp>
        <p:nvSpPr>
          <p:cNvPr id="6" name="Title 1"/>
          <p:cNvSpPr txBox="1">
            <a:spLocks/>
          </p:cNvSpPr>
          <p:nvPr/>
        </p:nvSpPr>
        <p:spPr>
          <a:xfrm>
            <a:off x="1316663" y="2840736"/>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textWordSpace.html</a:t>
            </a:r>
          </a:p>
        </p:txBody>
      </p:sp>
      <p:sp>
        <p:nvSpPr>
          <p:cNvPr id="7" name="Title 1"/>
          <p:cNvSpPr txBox="1">
            <a:spLocks/>
          </p:cNvSpPr>
          <p:nvPr/>
        </p:nvSpPr>
        <p:spPr>
          <a:xfrm>
            <a:off x="9183770" y="2763285"/>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8808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dk1"/>
                </a:solidFill>
              </a:rPr>
              <a:t>word-spacing</a:t>
            </a:r>
            <a:endParaRPr lang="en-US" dirty="0"/>
          </a:p>
        </p:txBody>
      </p:sp>
      <p:sp>
        <p:nvSpPr>
          <p:cNvPr id="3" name="Content Placeholder 2"/>
          <p:cNvSpPr>
            <a:spLocks noGrp="1"/>
          </p:cNvSpPr>
          <p:nvPr>
            <p:ph idx="1"/>
          </p:nvPr>
        </p:nvSpPr>
        <p:spPr/>
        <p:txBody>
          <a:bodyPr/>
          <a:lstStyle/>
          <a:p>
            <a:r>
              <a:rPr lang="en-US" dirty="0"/>
              <a:t>The following example demonstrates how to set the space between words. Possible values are </a:t>
            </a:r>
            <a:r>
              <a:rPr lang="en-US" i="1" dirty="0"/>
              <a:t>normal or a number specifying space</a:t>
            </a:r>
            <a:r>
              <a:rPr lang="en-US" dirty="0"/>
              <a:t>.</a:t>
            </a:r>
          </a:p>
          <a:p>
            <a:endParaRPr lang="en-US" dirty="0"/>
          </a:p>
        </p:txBody>
      </p:sp>
      <p:pic>
        <p:nvPicPr>
          <p:cNvPr id="4" name="Picture 3"/>
          <p:cNvPicPr>
            <a:picLocks noChangeAspect="1"/>
          </p:cNvPicPr>
          <p:nvPr/>
        </p:nvPicPr>
        <p:blipFill>
          <a:blip r:embed="rId2"/>
          <a:stretch>
            <a:fillRect/>
          </a:stretch>
        </p:blipFill>
        <p:spPr>
          <a:xfrm>
            <a:off x="143691" y="3382946"/>
            <a:ext cx="5995852" cy="3370551"/>
          </a:xfrm>
          <a:prstGeom prst="rect">
            <a:avLst/>
          </a:prstGeom>
        </p:spPr>
      </p:pic>
      <p:pic>
        <p:nvPicPr>
          <p:cNvPr id="5" name="Picture 4"/>
          <p:cNvPicPr>
            <a:picLocks noChangeAspect="1"/>
          </p:cNvPicPr>
          <p:nvPr/>
        </p:nvPicPr>
        <p:blipFill>
          <a:blip r:embed="rId3"/>
          <a:stretch>
            <a:fillRect/>
          </a:stretch>
        </p:blipFill>
        <p:spPr>
          <a:xfrm>
            <a:off x="7016426" y="3861917"/>
            <a:ext cx="4800600" cy="1581150"/>
          </a:xfrm>
          <a:prstGeom prst="rect">
            <a:avLst/>
          </a:prstGeom>
        </p:spPr>
      </p:pic>
      <p:sp>
        <p:nvSpPr>
          <p:cNvPr id="6" name="Title 1"/>
          <p:cNvSpPr txBox="1">
            <a:spLocks/>
          </p:cNvSpPr>
          <p:nvPr/>
        </p:nvSpPr>
        <p:spPr>
          <a:xfrm>
            <a:off x="1408103" y="2705799"/>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textWordSpace.html</a:t>
            </a:r>
          </a:p>
        </p:txBody>
      </p:sp>
      <p:sp>
        <p:nvSpPr>
          <p:cNvPr id="7" name="Title 1"/>
          <p:cNvSpPr txBox="1">
            <a:spLocks/>
          </p:cNvSpPr>
          <p:nvPr/>
        </p:nvSpPr>
        <p:spPr>
          <a:xfrm>
            <a:off x="8727376" y="2585811"/>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1003887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dk1"/>
                </a:solidFill>
              </a:rPr>
              <a:t> </a:t>
            </a:r>
            <a:r>
              <a:rPr lang="en-US" b="1" dirty="0">
                <a:solidFill>
                  <a:schemeClr val="dk1"/>
                </a:solidFill>
              </a:rPr>
              <a:t>text-indent</a:t>
            </a:r>
            <a:endParaRPr lang="en-US" dirty="0"/>
          </a:p>
        </p:txBody>
      </p:sp>
      <p:sp>
        <p:nvSpPr>
          <p:cNvPr id="3" name="Content Placeholder 2"/>
          <p:cNvSpPr>
            <a:spLocks noGrp="1"/>
          </p:cNvSpPr>
          <p:nvPr>
            <p:ph idx="1"/>
          </p:nvPr>
        </p:nvSpPr>
        <p:spPr/>
        <p:txBody>
          <a:bodyPr/>
          <a:lstStyle/>
          <a:p>
            <a:r>
              <a:rPr lang="en-US" dirty="0"/>
              <a:t>The following example demonstrates how to indent the first line of a paragraph. Possible values are </a:t>
            </a:r>
            <a:r>
              <a:rPr lang="en-US" i="1" dirty="0"/>
              <a:t>% or a number specifying indent space</a:t>
            </a:r>
            <a:r>
              <a:rPr lang="en-US" dirty="0"/>
              <a:t>.</a:t>
            </a:r>
          </a:p>
          <a:p>
            <a:endParaRPr lang="en-US" dirty="0"/>
          </a:p>
        </p:txBody>
      </p:sp>
      <p:pic>
        <p:nvPicPr>
          <p:cNvPr id="4" name="Picture 3"/>
          <p:cNvPicPr>
            <a:picLocks noChangeAspect="1"/>
          </p:cNvPicPr>
          <p:nvPr/>
        </p:nvPicPr>
        <p:blipFill>
          <a:blip r:embed="rId2"/>
          <a:stretch>
            <a:fillRect/>
          </a:stretch>
        </p:blipFill>
        <p:spPr>
          <a:xfrm>
            <a:off x="257175" y="3174274"/>
            <a:ext cx="7136402" cy="3579223"/>
          </a:xfrm>
          <a:prstGeom prst="rect">
            <a:avLst/>
          </a:prstGeom>
        </p:spPr>
      </p:pic>
      <p:pic>
        <p:nvPicPr>
          <p:cNvPr id="5" name="Picture 4"/>
          <p:cNvPicPr>
            <a:picLocks noChangeAspect="1"/>
          </p:cNvPicPr>
          <p:nvPr/>
        </p:nvPicPr>
        <p:blipFill>
          <a:blip r:embed="rId3"/>
          <a:stretch>
            <a:fillRect/>
          </a:stretch>
        </p:blipFill>
        <p:spPr>
          <a:xfrm>
            <a:off x="7840980" y="3834606"/>
            <a:ext cx="4093845" cy="1581150"/>
          </a:xfrm>
          <a:prstGeom prst="rect">
            <a:avLst/>
          </a:prstGeom>
        </p:spPr>
      </p:pic>
      <p:sp>
        <p:nvSpPr>
          <p:cNvPr id="6" name="Title 1"/>
          <p:cNvSpPr txBox="1">
            <a:spLocks/>
          </p:cNvSpPr>
          <p:nvPr/>
        </p:nvSpPr>
        <p:spPr>
          <a:xfrm>
            <a:off x="2675201" y="274111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textIndent.html</a:t>
            </a:r>
          </a:p>
        </p:txBody>
      </p:sp>
      <p:sp>
        <p:nvSpPr>
          <p:cNvPr id="7" name="Title 1"/>
          <p:cNvSpPr txBox="1">
            <a:spLocks/>
          </p:cNvSpPr>
          <p:nvPr/>
        </p:nvSpPr>
        <p:spPr>
          <a:xfrm>
            <a:off x="9076788" y="2859895"/>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0254792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973"/>
            <a:ext cx="10515600" cy="768216"/>
          </a:xfrm>
        </p:spPr>
        <p:txBody>
          <a:bodyPr/>
          <a:lstStyle/>
          <a:p>
            <a:r>
              <a:rPr lang="en-US" b="1" dirty="0">
                <a:solidFill>
                  <a:schemeClr val="dk1"/>
                </a:solidFill>
              </a:rPr>
              <a:t>text-align</a:t>
            </a:r>
            <a:endParaRPr lang="en-US" dirty="0"/>
          </a:p>
        </p:txBody>
      </p:sp>
      <p:sp>
        <p:nvSpPr>
          <p:cNvPr id="3" name="Content Placeholder 2"/>
          <p:cNvSpPr>
            <a:spLocks noGrp="1"/>
          </p:cNvSpPr>
          <p:nvPr>
            <p:ph idx="1"/>
          </p:nvPr>
        </p:nvSpPr>
        <p:spPr>
          <a:xfrm>
            <a:off x="838200" y="1043189"/>
            <a:ext cx="10515600" cy="5133774"/>
          </a:xfrm>
        </p:spPr>
        <p:txBody>
          <a:bodyPr/>
          <a:lstStyle/>
          <a:p>
            <a:r>
              <a:rPr lang="en-US" dirty="0"/>
              <a:t>The following example demonstrates how to align a text. Possible values are </a:t>
            </a:r>
            <a:r>
              <a:rPr lang="en-US" i="1" dirty="0"/>
              <a:t>left, right, center, justify</a:t>
            </a:r>
            <a:r>
              <a:rPr lang="en-US" dirty="0"/>
              <a:t>.</a:t>
            </a:r>
          </a:p>
          <a:p>
            <a:endParaRPr lang="en-US" dirty="0"/>
          </a:p>
        </p:txBody>
      </p:sp>
      <p:pic>
        <p:nvPicPr>
          <p:cNvPr id="4" name="Picture 3"/>
          <p:cNvPicPr>
            <a:picLocks noChangeAspect="1"/>
          </p:cNvPicPr>
          <p:nvPr/>
        </p:nvPicPr>
        <p:blipFill>
          <a:blip r:embed="rId2"/>
          <a:stretch>
            <a:fillRect/>
          </a:stretch>
        </p:blipFill>
        <p:spPr>
          <a:xfrm>
            <a:off x="235132" y="2259874"/>
            <a:ext cx="6279967" cy="4506686"/>
          </a:xfrm>
          <a:prstGeom prst="rect">
            <a:avLst/>
          </a:prstGeom>
        </p:spPr>
      </p:pic>
      <p:pic>
        <p:nvPicPr>
          <p:cNvPr id="5" name="Picture 4"/>
          <p:cNvPicPr>
            <a:picLocks noChangeAspect="1"/>
          </p:cNvPicPr>
          <p:nvPr/>
        </p:nvPicPr>
        <p:blipFill>
          <a:blip r:embed="rId3"/>
          <a:stretch>
            <a:fillRect/>
          </a:stretch>
        </p:blipFill>
        <p:spPr>
          <a:xfrm>
            <a:off x="7118168" y="3704867"/>
            <a:ext cx="4838700" cy="1571625"/>
          </a:xfrm>
          <a:prstGeom prst="rect">
            <a:avLst/>
          </a:prstGeom>
        </p:spPr>
      </p:pic>
      <p:sp>
        <p:nvSpPr>
          <p:cNvPr id="6" name="Title 1"/>
          <p:cNvSpPr txBox="1">
            <a:spLocks/>
          </p:cNvSpPr>
          <p:nvPr/>
        </p:nvSpPr>
        <p:spPr>
          <a:xfrm>
            <a:off x="2924162" y="1811405"/>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textAlign.html</a:t>
            </a:r>
          </a:p>
        </p:txBody>
      </p:sp>
      <p:sp>
        <p:nvSpPr>
          <p:cNvPr id="7" name="Title 1"/>
          <p:cNvSpPr txBox="1">
            <a:spLocks/>
          </p:cNvSpPr>
          <p:nvPr/>
        </p:nvSpPr>
        <p:spPr>
          <a:xfrm>
            <a:off x="8914863" y="1811405"/>
            <a:ext cx="2858037"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811849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4498"/>
            <a:ext cx="10515600" cy="696674"/>
          </a:xfrm>
        </p:spPr>
        <p:txBody>
          <a:bodyPr/>
          <a:lstStyle/>
          <a:p>
            <a:r>
              <a:rPr lang="en-US" b="1" dirty="0">
                <a:solidFill>
                  <a:schemeClr val="dk1"/>
                </a:solidFill>
              </a:rPr>
              <a:t>text-decoration property</a:t>
            </a:r>
            <a:endParaRPr lang="en-US" dirty="0"/>
          </a:p>
        </p:txBody>
      </p:sp>
      <p:pic>
        <p:nvPicPr>
          <p:cNvPr id="4" name="Content Placeholder 3"/>
          <p:cNvPicPr>
            <a:picLocks noGrp="1" noChangeAspect="1"/>
          </p:cNvPicPr>
          <p:nvPr>
            <p:ph idx="1"/>
          </p:nvPr>
        </p:nvPicPr>
        <p:blipFill>
          <a:blip r:embed="rId2"/>
          <a:stretch>
            <a:fillRect/>
          </a:stretch>
        </p:blipFill>
        <p:spPr>
          <a:xfrm>
            <a:off x="287384" y="1604009"/>
            <a:ext cx="8242662" cy="5149488"/>
          </a:xfrm>
          <a:prstGeom prst="rect">
            <a:avLst/>
          </a:prstGeom>
        </p:spPr>
      </p:pic>
      <p:pic>
        <p:nvPicPr>
          <p:cNvPr id="5" name="Picture 4"/>
          <p:cNvPicPr>
            <a:picLocks noChangeAspect="1"/>
          </p:cNvPicPr>
          <p:nvPr/>
        </p:nvPicPr>
        <p:blipFill>
          <a:blip r:embed="rId3"/>
          <a:stretch>
            <a:fillRect/>
          </a:stretch>
        </p:blipFill>
        <p:spPr>
          <a:xfrm>
            <a:off x="9128489" y="3007030"/>
            <a:ext cx="2524125" cy="1905000"/>
          </a:xfrm>
          <a:prstGeom prst="rect">
            <a:avLst/>
          </a:prstGeom>
        </p:spPr>
      </p:pic>
      <p:sp>
        <p:nvSpPr>
          <p:cNvPr id="6" name="Title 1"/>
          <p:cNvSpPr txBox="1">
            <a:spLocks/>
          </p:cNvSpPr>
          <p:nvPr/>
        </p:nvSpPr>
        <p:spPr>
          <a:xfrm>
            <a:off x="1898140" y="1061799"/>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textdecoration.html</a:t>
            </a:r>
          </a:p>
        </p:txBody>
      </p:sp>
      <p:sp>
        <p:nvSpPr>
          <p:cNvPr id="7" name="Title 1"/>
          <p:cNvSpPr txBox="1">
            <a:spLocks/>
          </p:cNvSpPr>
          <p:nvPr/>
        </p:nvSpPr>
        <p:spPr>
          <a:xfrm>
            <a:off x="9401430" y="1013256"/>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42377964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993"/>
            <a:ext cx="10515600" cy="783353"/>
          </a:xfrm>
        </p:spPr>
        <p:txBody>
          <a:bodyPr/>
          <a:lstStyle/>
          <a:p>
            <a:r>
              <a:rPr lang="en-US" b="1" dirty="0">
                <a:solidFill>
                  <a:schemeClr val="dk1"/>
                </a:solidFill>
              </a:rPr>
              <a:t>text-decoration-line property</a:t>
            </a:r>
            <a:endParaRPr lang="en-US" dirty="0"/>
          </a:p>
        </p:txBody>
      </p:sp>
      <p:pic>
        <p:nvPicPr>
          <p:cNvPr id="4" name="Content Placeholder 3"/>
          <p:cNvPicPr>
            <a:picLocks noGrp="1" noChangeAspect="1"/>
          </p:cNvPicPr>
          <p:nvPr>
            <p:ph idx="1"/>
          </p:nvPr>
        </p:nvPicPr>
        <p:blipFill>
          <a:blip r:embed="rId2"/>
          <a:stretch>
            <a:fillRect/>
          </a:stretch>
        </p:blipFill>
        <p:spPr>
          <a:xfrm>
            <a:off x="404949" y="1390648"/>
            <a:ext cx="7106194" cy="5467352"/>
          </a:xfrm>
          <a:prstGeom prst="rect">
            <a:avLst/>
          </a:prstGeom>
        </p:spPr>
      </p:pic>
      <p:pic>
        <p:nvPicPr>
          <p:cNvPr id="5" name="Picture 4"/>
          <p:cNvPicPr>
            <a:picLocks noChangeAspect="1"/>
          </p:cNvPicPr>
          <p:nvPr/>
        </p:nvPicPr>
        <p:blipFill>
          <a:blip r:embed="rId3"/>
          <a:stretch>
            <a:fillRect/>
          </a:stretch>
        </p:blipFill>
        <p:spPr>
          <a:xfrm>
            <a:off x="8266138" y="1566883"/>
            <a:ext cx="3925862" cy="3296867"/>
          </a:xfrm>
          <a:prstGeom prst="rect">
            <a:avLst/>
          </a:prstGeom>
        </p:spPr>
      </p:pic>
      <p:sp>
        <p:nvSpPr>
          <p:cNvPr id="6" name="Title 1"/>
          <p:cNvSpPr txBox="1">
            <a:spLocks/>
          </p:cNvSpPr>
          <p:nvPr/>
        </p:nvSpPr>
        <p:spPr>
          <a:xfrm>
            <a:off x="8967988" y="57733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
        <p:nvSpPr>
          <p:cNvPr id="7" name="Title 1"/>
          <p:cNvSpPr txBox="1">
            <a:spLocks/>
          </p:cNvSpPr>
          <p:nvPr/>
        </p:nvSpPr>
        <p:spPr>
          <a:xfrm>
            <a:off x="1829378" y="84843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textdecoration.html</a:t>
            </a:r>
          </a:p>
        </p:txBody>
      </p:sp>
    </p:spTree>
    <p:extLst>
      <p:ext uri="{BB962C8B-B14F-4D97-AF65-F5344CB8AC3E}">
        <p14:creationId xmlns:p14="http://schemas.microsoft.com/office/powerpoint/2010/main" val="20246993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389" y="195309"/>
            <a:ext cx="10515600" cy="560176"/>
          </a:xfrm>
        </p:spPr>
        <p:txBody>
          <a:bodyPr>
            <a:normAutofit fontScale="90000"/>
          </a:bodyPr>
          <a:lstStyle/>
          <a:p>
            <a:r>
              <a:rPr lang="en-US" b="1" dirty="0">
                <a:solidFill>
                  <a:schemeClr val="dk1"/>
                </a:solidFill>
              </a:rPr>
              <a:t>text-decoration-color</a:t>
            </a:r>
            <a:endParaRPr lang="en-US" dirty="0"/>
          </a:p>
        </p:txBody>
      </p:sp>
      <p:pic>
        <p:nvPicPr>
          <p:cNvPr id="4" name="Content Placeholder 3"/>
          <p:cNvPicPr>
            <a:picLocks noGrp="1" noChangeAspect="1"/>
          </p:cNvPicPr>
          <p:nvPr>
            <p:ph idx="1"/>
          </p:nvPr>
        </p:nvPicPr>
        <p:blipFill>
          <a:blip r:embed="rId2"/>
          <a:stretch>
            <a:fillRect/>
          </a:stretch>
        </p:blipFill>
        <p:spPr>
          <a:xfrm>
            <a:off x="195943" y="1137983"/>
            <a:ext cx="5956663" cy="5720017"/>
          </a:xfrm>
          <a:prstGeom prst="rect">
            <a:avLst/>
          </a:prstGeom>
        </p:spPr>
      </p:pic>
      <p:pic>
        <p:nvPicPr>
          <p:cNvPr id="5" name="Picture 4"/>
          <p:cNvPicPr>
            <a:picLocks noChangeAspect="1"/>
          </p:cNvPicPr>
          <p:nvPr/>
        </p:nvPicPr>
        <p:blipFill>
          <a:blip r:embed="rId3"/>
          <a:stretch>
            <a:fillRect/>
          </a:stretch>
        </p:blipFill>
        <p:spPr>
          <a:xfrm>
            <a:off x="7981405" y="1443332"/>
            <a:ext cx="3859855" cy="3428357"/>
          </a:xfrm>
          <a:prstGeom prst="rect">
            <a:avLst/>
          </a:prstGeom>
        </p:spPr>
      </p:pic>
      <p:sp>
        <p:nvSpPr>
          <p:cNvPr id="6" name="Title 1"/>
          <p:cNvSpPr txBox="1">
            <a:spLocks/>
          </p:cNvSpPr>
          <p:nvPr/>
        </p:nvSpPr>
        <p:spPr>
          <a:xfrm>
            <a:off x="8804146" y="59577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
        <p:nvSpPr>
          <p:cNvPr id="7" name="Title 1"/>
          <p:cNvSpPr txBox="1">
            <a:spLocks/>
          </p:cNvSpPr>
          <p:nvPr/>
        </p:nvSpPr>
        <p:spPr>
          <a:xfrm>
            <a:off x="1793071" y="755485"/>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textdecorationColor.html</a:t>
            </a:r>
          </a:p>
        </p:txBody>
      </p:sp>
    </p:spTree>
    <p:extLst>
      <p:ext uri="{BB962C8B-B14F-4D97-AF65-F5344CB8AC3E}">
        <p14:creationId xmlns:p14="http://schemas.microsoft.com/office/powerpoint/2010/main" val="202344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151470"/>
            <a:ext cx="10515600" cy="758281"/>
          </a:xfrm>
        </p:spPr>
        <p:txBody>
          <a:bodyPr/>
          <a:lstStyle/>
          <a:p>
            <a:r>
              <a:rPr lang="en-US" b="1" dirty="0">
                <a:solidFill>
                  <a:schemeClr val="dk1"/>
                </a:solidFill>
              </a:rPr>
              <a:t>text-decoration-style property</a:t>
            </a:r>
            <a:endParaRPr lang="en-US" dirty="0"/>
          </a:p>
        </p:txBody>
      </p:sp>
      <p:pic>
        <p:nvPicPr>
          <p:cNvPr id="4" name="Content Placeholder 3"/>
          <p:cNvPicPr>
            <a:picLocks noGrp="1" noChangeAspect="1"/>
          </p:cNvPicPr>
          <p:nvPr>
            <p:ph idx="1"/>
          </p:nvPr>
        </p:nvPicPr>
        <p:blipFill>
          <a:blip r:embed="rId2"/>
          <a:stretch>
            <a:fillRect/>
          </a:stretch>
        </p:blipFill>
        <p:spPr>
          <a:xfrm>
            <a:off x="248195" y="1231908"/>
            <a:ext cx="7667896" cy="5534652"/>
          </a:xfrm>
          <a:prstGeom prst="rect">
            <a:avLst/>
          </a:prstGeom>
        </p:spPr>
      </p:pic>
      <p:pic>
        <p:nvPicPr>
          <p:cNvPr id="5" name="Picture 4"/>
          <p:cNvPicPr>
            <a:picLocks noChangeAspect="1"/>
          </p:cNvPicPr>
          <p:nvPr/>
        </p:nvPicPr>
        <p:blipFill>
          <a:blip r:embed="rId3"/>
          <a:stretch>
            <a:fillRect/>
          </a:stretch>
        </p:blipFill>
        <p:spPr>
          <a:xfrm>
            <a:off x="8353804" y="1873096"/>
            <a:ext cx="3703214" cy="3886515"/>
          </a:xfrm>
          <a:prstGeom prst="rect">
            <a:avLst/>
          </a:prstGeom>
        </p:spPr>
      </p:pic>
      <p:sp>
        <p:nvSpPr>
          <p:cNvPr id="6" name="Title 1"/>
          <p:cNvSpPr txBox="1">
            <a:spLocks/>
          </p:cNvSpPr>
          <p:nvPr/>
        </p:nvSpPr>
        <p:spPr>
          <a:xfrm>
            <a:off x="1871449" y="799724"/>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textdecorationStyle.html</a:t>
            </a:r>
          </a:p>
        </p:txBody>
      </p:sp>
      <p:sp>
        <p:nvSpPr>
          <p:cNvPr id="7" name="Title 1"/>
          <p:cNvSpPr txBox="1">
            <a:spLocks/>
          </p:cNvSpPr>
          <p:nvPr/>
        </p:nvSpPr>
        <p:spPr>
          <a:xfrm>
            <a:off x="8642240" y="6896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431083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326" y="181320"/>
            <a:ext cx="10515600" cy="834585"/>
          </a:xfrm>
        </p:spPr>
        <p:txBody>
          <a:bodyPr/>
          <a:lstStyle/>
          <a:p>
            <a:r>
              <a:rPr lang="en-US" b="1" dirty="0">
                <a:solidFill>
                  <a:schemeClr val="dk1"/>
                </a:solidFill>
              </a:rPr>
              <a:t>text-decoration-thickness property</a:t>
            </a:r>
            <a:endParaRPr lang="en-US" dirty="0"/>
          </a:p>
        </p:txBody>
      </p:sp>
      <p:pic>
        <p:nvPicPr>
          <p:cNvPr id="4" name="Content Placeholder 3"/>
          <p:cNvPicPr>
            <a:picLocks noGrp="1" noChangeAspect="1"/>
          </p:cNvPicPr>
          <p:nvPr>
            <p:ph idx="1"/>
          </p:nvPr>
        </p:nvPicPr>
        <p:blipFill>
          <a:blip r:embed="rId2"/>
          <a:stretch>
            <a:fillRect/>
          </a:stretch>
        </p:blipFill>
        <p:spPr>
          <a:xfrm>
            <a:off x="42192" y="1319349"/>
            <a:ext cx="7419702" cy="5538651"/>
          </a:xfrm>
          <a:prstGeom prst="rect">
            <a:avLst/>
          </a:prstGeom>
        </p:spPr>
      </p:pic>
      <p:pic>
        <p:nvPicPr>
          <p:cNvPr id="5" name="Picture 4"/>
          <p:cNvPicPr>
            <a:picLocks noChangeAspect="1"/>
          </p:cNvPicPr>
          <p:nvPr/>
        </p:nvPicPr>
        <p:blipFill>
          <a:blip r:embed="rId3"/>
          <a:stretch>
            <a:fillRect/>
          </a:stretch>
        </p:blipFill>
        <p:spPr>
          <a:xfrm>
            <a:off x="7746274" y="1846438"/>
            <a:ext cx="4310743" cy="3822842"/>
          </a:xfrm>
          <a:prstGeom prst="rect">
            <a:avLst/>
          </a:prstGeom>
        </p:spPr>
      </p:pic>
      <p:sp>
        <p:nvSpPr>
          <p:cNvPr id="6" name="Title 1"/>
          <p:cNvSpPr txBox="1">
            <a:spLocks/>
          </p:cNvSpPr>
          <p:nvPr/>
        </p:nvSpPr>
        <p:spPr>
          <a:xfrm>
            <a:off x="1799674" y="888961"/>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textdecorationThickness.html</a:t>
            </a:r>
          </a:p>
        </p:txBody>
      </p:sp>
      <p:sp>
        <p:nvSpPr>
          <p:cNvPr id="7" name="Title 1"/>
          <p:cNvSpPr txBox="1">
            <a:spLocks/>
          </p:cNvSpPr>
          <p:nvPr/>
        </p:nvSpPr>
        <p:spPr>
          <a:xfrm>
            <a:off x="8407108" y="101185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6455849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869" y="107220"/>
            <a:ext cx="10515600" cy="714203"/>
          </a:xfrm>
        </p:spPr>
        <p:txBody>
          <a:bodyPr/>
          <a:lstStyle/>
          <a:p>
            <a:r>
              <a:rPr lang="en-US" b="1" dirty="0">
                <a:solidFill>
                  <a:schemeClr val="dk1"/>
                </a:solidFill>
              </a:rPr>
              <a:t>text-indent property</a:t>
            </a:r>
            <a:endParaRPr lang="en-US" dirty="0"/>
          </a:p>
        </p:txBody>
      </p:sp>
      <p:pic>
        <p:nvPicPr>
          <p:cNvPr id="4" name="Content Placeholder 3"/>
          <p:cNvPicPr>
            <a:picLocks noGrp="1" noChangeAspect="1"/>
          </p:cNvPicPr>
          <p:nvPr>
            <p:ph idx="1"/>
          </p:nvPr>
        </p:nvPicPr>
        <p:blipFill>
          <a:blip r:embed="rId2"/>
          <a:stretch>
            <a:fillRect/>
          </a:stretch>
        </p:blipFill>
        <p:spPr>
          <a:xfrm>
            <a:off x="130630" y="1363633"/>
            <a:ext cx="6087290" cy="5494367"/>
          </a:xfrm>
          <a:prstGeom prst="rect">
            <a:avLst/>
          </a:prstGeom>
        </p:spPr>
      </p:pic>
      <p:pic>
        <p:nvPicPr>
          <p:cNvPr id="5" name="Picture 4"/>
          <p:cNvPicPr>
            <a:picLocks noChangeAspect="1"/>
          </p:cNvPicPr>
          <p:nvPr/>
        </p:nvPicPr>
        <p:blipFill>
          <a:blip r:embed="rId3"/>
          <a:stretch>
            <a:fillRect/>
          </a:stretch>
        </p:blipFill>
        <p:spPr>
          <a:xfrm>
            <a:off x="6439988" y="1726056"/>
            <a:ext cx="5520620" cy="4557178"/>
          </a:xfrm>
          <a:prstGeom prst="rect">
            <a:avLst/>
          </a:prstGeom>
        </p:spPr>
      </p:pic>
      <p:sp>
        <p:nvSpPr>
          <p:cNvPr id="6" name="Title 1"/>
          <p:cNvSpPr txBox="1">
            <a:spLocks/>
          </p:cNvSpPr>
          <p:nvPr/>
        </p:nvSpPr>
        <p:spPr>
          <a:xfrm>
            <a:off x="1606506" y="82142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textMultipleIndent.html</a:t>
            </a:r>
          </a:p>
        </p:txBody>
      </p:sp>
      <p:sp>
        <p:nvSpPr>
          <p:cNvPr id="7" name="Title 1"/>
          <p:cNvSpPr txBox="1">
            <a:spLocks/>
          </p:cNvSpPr>
          <p:nvPr/>
        </p:nvSpPr>
        <p:spPr>
          <a:xfrm>
            <a:off x="8599618" y="64553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1714665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543"/>
          </a:xfrm>
        </p:spPr>
        <p:txBody>
          <a:bodyPr/>
          <a:lstStyle/>
          <a:p>
            <a:r>
              <a:rPr lang="en-US" b="1" dirty="0">
                <a:solidFill>
                  <a:schemeClr val="dk1"/>
                </a:solidFill>
              </a:rPr>
              <a:t>text-shadow property</a:t>
            </a:r>
            <a:endParaRPr lang="en-US" dirty="0"/>
          </a:p>
        </p:txBody>
      </p:sp>
      <p:pic>
        <p:nvPicPr>
          <p:cNvPr id="4" name="Content Placeholder 3"/>
          <p:cNvPicPr>
            <a:picLocks noGrp="1" noChangeAspect="1"/>
          </p:cNvPicPr>
          <p:nvPr>
            <p:ph idx="1"/>
          </p:nvPr>
        </p:nvPicPr>
        <p:blipFill>
          <a:blip r:embed="rId2"/>
          <a:stretch>
            <a:fillRect/>
          </a:stretch>
        </p:blipFill>
        <p:spPr>
          <a:xfrm>
            <a:off x="156754" y="1870211"/>
            <a:ext cx="6971212" cy="4778783"/>
          </a:xfrm>
          <a:prstGeom prst="rect">
            <a:avLst/>
          </a:prstGeom>
        </p:spPr>
      </p:pic>
      <p:pic>
        <p:nvPicPr>
          <p:cNvPr id="5" name="Picture 4"/>
          <p:cNvPicPr>
            <a:picLocks noChangeAspect="1"/>
          </p:cNvPicPr>
          <p:nvPr/>
        </p:nvPicPr>
        <p:blipFill>
          <a:blip r:embed="rId3"/>
          <a:stretch>
            <a:fillRect/>
          </a:stretch>
        </p:blipFill>
        <p:spPr>
          <a:xfrm>
            <a:off x="7127966" y="3134653"/>
            <a:ext cx="4914900" cy="1562100"/>
          </a:xfrm>
          <a:prstGeom prst="rect">
            <a:avLst/>
          </a:prstGeom>
        </p:spPr>
      </p:pic>
      <p:sp>
        <p:nvSpPr>
          <p:cNvPr id="6" name="Title 1"/>
          <p:cNvSpPr txBox="1">
            <a:spLocks/>
          </p:cNvSpPr>
          <p:nvPr/>
        </p:nvSpPr>
        <p:spPr>
          <a:xfrm>
            <a:off x="1427312" y="111766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textShadow.html</a:t>
            </a:r>
          </a:p>
        </p:txBody>
      </p:sp>
      <p:sp>
        <p:nvSpPr>
          <p:cNvPr id="7" name="Title 1"/>
          <p:cNvSpPr txBox="1">
            <a:spLocks/>
          </p:cNvSpPr>
          <p:nvPr/>
        </p:nvSpPr>
        <p:spPr>
          <a:xfrm>
            <a:off x="7949967" y="84656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090973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127" y="300511"/>
            <a:ext cx="10515600" cy="510382"/>
          </a:xfrm>
        </p:spPr>
        <p:txBody>
          <a:bodyPr>
            <a:normAutofit fontScale="90000"/>
          </a:bodyPr>
          <a:lstStyle/>
          <a:p>
            <a:r>
              <a:rPr lang="en-US" b="1" dirty="0">
                <a:solidFill>
                  <a:schemeClr val="dk1"/>
                </a:solidFill>
              </a:rPr>
              <a:t>text-transform</a:t>
            </a:r>
            <a:endParaRPr lang="en-US" dirty="0"/>
          </a:p>
        </p:txBody>
      </p:sp>
      <p:pic>
        <p:nvPicPr>
          <p:cNvPr id="4" name="Content Placeholder 3"/>
          <p:cNvPicPr>
            <a:picLocks noGrp="1" noChangeAspect="1"/>
          </p:cNvPicPr>
          <p:nvPr>
            <p:ph idx="1"/>
          </p:nvPr>
        </p:nvPicPr>
        <p:blipFill>
          <a:blip r:embed="rId2"/>
          <a:stretch>
            <a:fillRect/>
          </a:stretch>
        </p:blipFill>
        <p:spPr>
          <a:xfrm>
            <a:off x="195943" y="1418000"/>
            <a:ext cx="7053943" cy="5244057"/>
          </a:xfrm>
          <a:prstGeom prst="rect">
            <a:avLst/>
          </a:prstGeom>
        </p:spPr>
      </p:pic>
      <p:pic>
        <p:nvPicPr>
          <p:cNvPr id="5" name="Picture 4"/>
          <p:cNvPicPr>
            <a:picLocks noChangeAspect="1"/>
          </p:cNvPicPr>
          <p:nvPr/>
        </p:nvPicPr>
        <p:blipFill>
          <a:blip r:embed="rId3"/>
          <a:stretch>
            <a:fillRect/>
          </a:stretch>
        </p:blipFill>
        <p:spPr>
          <a:xfrm>
            <a:off x="7709598" y="2839444"/>
            <a:ext cx="4360482" cy="2437950"/>
          </a:xfrm>
          <a:prstGeom prst="rect">
            <a:avLst/>
          </a:prstGeom>
        </p:spPr>
      </p:pic>
      <p:sp>
        <p:nvSpPr>
          <p:cNvPr id="6" name="Title 1"/>
          <p:cNvSpPr txBox="1">
            <a:spLocks/>
          </p:cNvSpPr>
          <p:nvPr/>
        </p:nvSpPr>
        <p:spPr>
          <a:xfrm>
            <a:off x="1544877" y="8757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textTransform.html</a:t>
            </a:r>
          </a:p>
        </p:txBody>
      </p:sp>
      <p:sp>
        <p:nvSpPr>
          <p:cNvPr id="7" name="Title 1"/>
          <p:cNvSpPr txBox="1">
            <a:spLocks/>
          </p:cNvSpPr>
          <p:nvPr/>
        </p:nvSpPr>
        <p:spPr>
          <a:xfrm>
            <a:off x="8510386" y="64026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9924199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308"/>
            <a:ext cx="10515600" cy="679665"/>
          </a:xfrm>
        </p:spPr>
        <p:txBody>
          <a:bodyPr>
            <a:normAutofit fontScale="90000"/>
          </a:bodyPr>
          <a:lstStyle/>
          <a:p>
            <a:r>
              <a:rPr lang="en-US" b="1" dirty="0">
                <a:solidFill>
                  <a:schemeClr val="dk1"/>
                </a:solidFill>
              </a:rPr>
              <a:t>white-space</a:t>
            </a:r>
            <a:endParaRPr lang="en-US" dirty="0"/>
          </a:p>
        </p:txBody>
      </p:sp>
      <p:pic>
        <p:nvPicPr>
          <p:cNvPr id="4" name="Content Placeholder 3"/>
          <p:cNvPicPr>
            <a:picLocks noGrp="1" noChangeAspect="1"/>
          </p:cNvPicPr>
          <p:nvPr>
            <p:ph idx="1"/>
          </p:nvPr>
        </p:nvPicPr>
        <p:blipFill>
          <a:blip r:embed="rId2"/>
          <a:stretch>
            <a:fillRect/>
          </a:stretch>
        </p:blipFill>
        <p:spPr>
          <a:xfrm>
            <a:off x="0" y="1400298"/>
            <a:ext cx="6165669" cy="5274822"/>
          </a:xfrm>
          <a:prstGeom prst="rect">
            <a:avLst/>
          </a:prstGeom>
        </p:spPr>
      </p:pic>
      <p:pic>
        <p:nvPicPr>
          <p:cNvPr id="5" name="Picture 4"/>
          <p:cNvPicPr>
            <a:picLocks noChangeAspect="1"/>
          </p:cNvPicPr>
          <p:nvPr/>
        </p:nvPicPr>
        <p:blipFill>
          <a:blip r:embed="rId3"/>
          <a:stretch>
            <a:fillRect/>
          </a:stretch>
        </p:blipFill>
        <p:spPr>
          <a:xfrm>
            <a:off x="6363085" y="2487981"/>
            <a:ext cx="5210175" cy="2495550"/>
          </a:xfrm>
          <a:prstGeom prst="rect">
            <a:avLst/>
          </a:prstGeom>
        </p:spPr>
      </p:pic>
      <p:sp>
        <p:nvSpPr>
          <p:cNvPr id="6" name="Title 1"/>
          <p:cNvSpPr txBox="1">
            <a:spLocks/>
          </p:cNvSpPr>
          <p:nvPr/>
        </p:nvSpPr>
        <p:spPr>
          <a:xfrm>
            <a:off x="1530883" y="85808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textWhiteSpace.html</a:t>
            </a:r>
          </a:p>
        </p:txBody>
      </p:sp>
      <p:sp>
        <p:nvSpPr>
          <p:cNvPr id="7" name="Title 1"/>
          <p:cNvSpPr txBox="1">
            <a:spLocks/>
          </p:cNvSpPr>
          <p:nvPr/>
        </p:nvSpPr>
        <p:spPr>
          <a:xfrm>
            <a:off x="7777209" y="67230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41550128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683746"/>
          </a:xfrm>
        </p:spPr>
        <p:txBody>
          <a:bodyPr>
            <a:normAutofit fontScale="90000"/>
          </a:bodyPr>
          <a:lstStyle/>
          <a:p>
            <a:r>
              <a:rPr lang="en-US" dirty="0"/>
              <a:t>Font property</a:t>
            </a:r>
          </a:p>
        </p:txBody>
      </p:sp>
      <p:sp>
        <p:nvSpPr>
          <p:cNvPr id="3" name="Content Placeholder 2"/>
          <p:cNvSpPr>
            <a:spLocks noGrp="1"/>
          </p:cNvSpPr>
          <p:nvPr>
            <p:ph idx="1"/>
          </p:nvPr>
        </p:nvSpPr>
        <p:spPr>
          <a:xfrm>
            <a:off x="838200" y="1169894"/>
            <a:ext cx="10515600" cy="5513296"/>
          </a:xfrm>
        </p:spPr>
        <p:txBody>
          <a:bodyPr>
            <a:normAutofit lnSpcReduction="10000"/>
          </a:bodyPr>
          <a:lstStyle/>
          <a:p>
            <a:r>
              <a:rPr lang="en-US" dirty="0"/>
              <a:t>In HTML you can change the size, style and family of fonts using various CSS properties.CSS provides the following properties to perform different tasks that can be grouped to their functionalities related to fonts and text.</a:t>
            </a:r>
          </a:p>
          <a:p>
            <a:r>
              <a:rPr lang="en-US" dirty="0"/>
              <a:t>Font-family</a:t>
            </a:r>
          </a:p>
          <a:p>
            <a:r>
              <a:rPr lang="en-US" dirty="0"/>
              <a:t>Font-size</a:t>
            </a:r>
          </a:p>
          <a:p>
            <a:r>
              <a:rPr lang="en-US" dirty="0"/>
              <a:t>Font-size-adjust</a:t>
            </a:r>
          </a:p>
          <a:p>
            <a:r>
              <a:rPr lang="en-US" dirty="0"/>
              <a:t>Font-stretch</a:t>
            </a:r>
          </a:p>
          <a:p>
            <a:r>
              <a:rPr lang="en-US" dirty="0"/>
              <a:t>Font-style</a:t>
            </a:r>
          </a:p>
          <a:p>
            <a:r>
              <a:rPr lang="en-US" dirty="0"/>
              <a:t>Font-variant</a:t>
            </a:r>
          </a:p>
          <a:p>
            <a:r>
              <a:rPr lang="en-US" dirty="0"/>
              <a:t>Font-weight</a:t>
            </a:r>
          </a:p>
          <a:p>
            <a:r>
              <a:rPr lang="en-US" dirty="0"/>
              <a:t>font</a:t>
            </a:r>
          </a:p>
        </p:txBody>
      </p:sp>
    </p:spTree>
    <p:extLst>
      <p:ext uri="{BB962C8B-B14F-4D97-AF65-F5344CB8AC3E}">
        <p14:creationId xmlns:p14="http://schemas.microsoft.com/office/powerpoint/2010/main" val="1739366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 Font Families</a:t>
            </a:r>
          </a:p>
        </p:txBody>
      </p:sp>
      <p:sp>
        <p:nvSpPr>
          <p:cNvPr id="3" name="Content Placeholder 2"/>
          <p:cNvSpPr>
            <a:spLocks noGrp="1"/>
          </p:cNvSpPr>
          <p:nvPr>
            <p:ph idx="1"/>
          </p:nvPr>
        </p:nvSpPr>
        <p:spPr/>
        <p:txBody>
          <a:bodyPr/>
          <a:lstStyle/>
          <a:p>
            <a:r>
              <a:rPr lang="en-GB" dirty="0"/>
              <a:t>In CSS there are five generic font families:</a:t>
            </a:r>
          </a:p>
          <a:p>
            <a:pPr marL="514350" indent="-514350">
              <a:buFont typeface="+mj-lt"/>
              <a:buAutoNum type="arabicPeriod"/>
            </a:pPr>
            <a:r>
              <a:rPr lang="en-GB" b="1" dirty="0"/>
              <a:t>Serif</a:t>
            </a:r>
            <a:r>
              <a:rPr lang="en-GB" dirty="0"/>
              <a:t> fonts have a small stroke at the edges of each letter. They create a sense of formality and elegance.</a:t>
            </a:r>
          </a:p>
          <a:p>
            <a:pPr marL="514350" indent="-514350">
              <a:buFont typeface="+mj-lt"/>
              <a:buAutoNum type="arabicPeriod"/>
            </a:pPr>
            <a:r>
              <a:rPr lang="en-GB" b="1" dirty="0"/>
              <a:t>Sans-serif</a:t>
            </a:r>
            <a:r>
              <a:rPr lang="en-GB" dirty="0"/>
              <a:t> fonts have clean lines (no small strokes attached). They create a modern and minimalistic look.</a:t>
            </a:r>
          </a:p>
          <a:p>
            <a:pPr marL="514350" indent="-514350">
              <a:buFont typeface="+mj-lt"/>
              <a:buAutoNum type="arabicPeriod"/>
            </a:pPr>
            <a:r>
              <a:rPr lang="en-GB" b="1" dirty="0"/>
              <a:t>Monospace</a:t>
            </a:r>
            <a:r>
              <a:rPr lang="en-GB" dirty="0"/>
              <a:t> fonts - here all the letters have the same fixed width. They create a mechanical look. </a:t>
            </a:r>
          </a:p>
          <a:p>
            <a:pPr marL="514350" indent="-514350">
              <a:buFont typeface="+mj-lt"/>
              <a:buAutoNum type="arabicPeriod"/>
            </a:pPr>
            <a:r>
              <a:rPr lang="en-GB" b="1" dirty="0"/>
              <a:t>Cursive</a:t>
            </a:r>
            <a:r>
              <a:rPr lang="en-GB" dirty="0"/>
              <a:t> fonts imitate human handwriting.</a:t>
            </a:r>
          </a:p>
          <a:p>
            <a:pPr marL="514350" indent="-514350">
              <a:buFont typeface="+mj-lt"/>
              <a:buAutoNum type="arabicPeriod"/>
            </a:pPr>
            <a:r>
              <a:rPr lang="en-GB" b="1" dirty="0"/>
              <a:t>Fantasy</a:t>
            </a:r>
            <a:r>
              <a:rPr lang="en-GB" dirty="0"/>
              <a:t> fonts are decorative/playful fonts</a:t>
            </a:r>
          </a:p>
          <a:p>
            <a:endParaRPr lang="en-US" dirty="0"/>
          </a:p>
        </p:txBody>
      </p:sp>
    </p:spTree>
    <p:extLst>
      <p:ext uri="{BB962C8B-B14F-4D97-AF65-F5344CB8AC3E}">
        <p14:creationId xmlns:p14="http://schemas.microsoft.com/office/powerpoint/2010/main" val="6626073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Serif and Sans-serif Fonts</a:t>
            </a:r>
            <a:endParaRPr lang="en-US" dirty="0"/>
          </a:p>
        </p:txBody>
      </p:sp>
      <p:pic>
        <p:nvPicPr>
          <p:cNvPr id="4" name="Content Placeholder 3"/>
          <p:cNvPicPr>
            <a:picLocks noGrp="1" noChangeAspect="1"/>
          </p:cNvPicPr>
          <p:nvPr>
            <p:ph idx="1"/>
          </p:nvPr>
        </p:nvPicPr>
        <p:blipFill>
          <a:blip r:embed="rId2"/>
          <a:stretch>
            <a:fillRect/>
          </a:stretch>
        </p:blipFill>
        <p:spPr>
          <a:xfrm>
            <a:off x="2178425" y="2205318"/>
            <a:ext cx="8175810" cy="2885748"/>
          </a:xfrm>
          <a:prstGeom prst="rect">
            <a:avLst/>
          </a:prstGeom>
        </p:spPr>
      </p:pic>
    </p:spTree>
    <p:extLst>
      <p:ext uri="{BB962C8B-B14F-4D97-AF65-F5344CB8AC3E}">
        <p14:creationId xmlns:p14="http://schemas.microsoft.com/office/powerpoint/2010/main" val="508484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CSS font-family Property</a:t>
            </a:r>
          </a:p>
        </p:txBody>
      </p:sp>
      <p:sp>
        <p:nvSpPr>
          <p:cNvPr id="3" name="Content Placeholder 2"/>
          <p:cNvSpPr>
            <a:spLocks noGrp="1"/>
          </p:cNvSpPr>
          <p:nvPr>
            <p:ph idx="1"/>
          </p:nvPr>
        </p:nvSpPr>
        <p:spPr/>
        <p:txBody>
          <a:bodyPr/>
          <a:lstStyle/>
          <a:p>
            <a:pPr algn="just"/>
            <a:r>
              <a:rPr lang="en-US" dirty="0"/>
              <a:t>In CSS, we use the font-family Property to specify the font of the text.</a:t>
            </a:r>
            <a:r>
              <a:rPr lang="en-GB" dirty="0"/>
              <a:t> If the font name is more than one word, it must be in quotation marks, like: "Times New Roman".</a:t>
            </a:r>
          </a:p>
          <a:p>
            <a:pPr algn="just"/>
            <a:r>
              <a:rPr lang="en-GB" dirty="0"/>
              <a:t>The </a:t>
            </a:r>
            <a:r>
              <a:rPr lang="en-US" dirty="0"/>
              <a:t>font-family Property should hold several font names as a “fallback” system, to ensure maximum compatibility between browsers/operating systems.</a:t>
            </a:r>
            <a:r>
              <a:rPr lang="en-GB" dirty="0"/>
              <a:t> </a:t>
            </a:r>
          </a:p>
          <a:p>
            <a:pPr algn="just"/>
            <a:r>
              <a:rPr lang="en-GB" dirty="0"/>
              <a:t>Start with the font you want, and end with a generic family (to let the browser pick a similar font in the generic family, if no other fonts are available). The font names should be separated with comma.</a:t>
            </a:r>
            <a:endParaRPr lang="en-US" dirty="0"/>
          </a:p>
        </p:txBody>
      </p:sp>
    </p:spTree>
    <p:extLst>
      <p:ext uri="{BB962C8B-B14F-4D97-AF65-F5344CB8AC3E}">
        <p14:creationId xmlns:p14="http://schemas.microsoft.com/office/powerpoint/2010/main" val="14480365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Font-family Property</a:t>
            </a:r>
          </a:p>
        </p:txBody>
      </p:sp>
      <p:pic>
        <p:nvPicPr>
          <p:cNvPr id="4" name="Content Placeholder 3"/>
          <p:cNvPicPr>
            <a:picLocks noGrp="1" noChangeAspect="1"/>
          </p:cNvPicPr>
          <p:nvPr>
            <p:ph idx="1"/>
          </p:nvPr>
        </p:nvPicPr>
        <p:blipFill>
          <a:blip r:embed="rId2"/>
          <a:stretch>
            <a:fillRect/>
          </a:stretch>
        </p:blipFill>
        <p:spPr>
          <a:xfrm>
            <a:off x="838200" y="2134907"/>
            <a:ext cx="6429588" cy="4351338"/>
          </a:xfrm>
          <a:prstGeom prst="rect">
            <a:avLst/>
          </a:prstGeom>
        </p:spPr>
      </p:pic>
      <p:pic>
        <p:nvPicPr>
          <p:cNvPr id="5" name="Picture 4"/>
          <p:cNvPicPr>
            <a:picLocks noChangeAspect="1"/>
          </p:cNvPicPr>
          <p:nvPr/>
        </p:nvPicPr>
        <p:blipFill>
          <a:blip r:embed="rId3"/>
          <a:stretch>
            <a:fillRect/>
          </a:stretch>
        </p:blipFill>
        <p:spPr>
          <a:xfrm>
            <a:off x="6663858" y="3335150"/>
            <a:ext cx="5076825" cy="1666875"/>
          </a:xfrm>
          <a:prstGeom prst="rect">
            <a:avLst/>
          </a:prstGeom>
        </p:spPr>
      </p:pic>
      <p:sp>
        <p:nvSpPr>
          <p:cNvPr id="6" name="Title 1"/>
          <p:cNvSpPr txBox="1">
            <a:spLocks/>
          </p:cNvSpPr>
          <p:nvPr/>
        </p:nvSpPr>
        <p:spPr>
          <a:xfrm>
            <a:off x="1780009" y="155406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fontFamily.html</a:t>
            </a:r>
          </a:p>
        </p:txBody>
      </p:sp>
      <p:sp>
        <p:nvSpPr>
          <p:cNvPr id="7" name="Title 1"/>
          <p:cNvSpPr txBox="1">
            <a:spLocks/>
          </p:cNvSpPr>
          <p:nvPr/>
        </p:nvSpPr>
        <p:spPr>
          <a:xfrm>
            <a:off x="7267788" y="168704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093112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420"/>
            <a:ext cx="10515600" cy="629957"/>
          </a:xfrm>
        </p:spPr>
        <p:txBody>
          <a:bodyPr>
            <a:normAutofit fontScale="90000"/>
          </a:bodyPr>
          <a:lstStyle/>
          <a:p>
            <a:r>
              <a:rPr lang="en-US" dirty="0"/>
              <a:t>The Font-size Property</a:t>
            </a:r>
          </a:p>
        </p:txBody>
      </p:sp>
      <p:sp>
        <p:nvSpPr>
          <p:cNvPr id="3" name="Content Placeholder 2"/>
          <p:cNvSpPr>
            <a:spLocks noGrp="1"/>
          </p:cNvSpPr>
          <p:nvPr>
            <p:ph idx="1"/>
          </p:nvPr>
        </p:nvSpPr>
        <p:spPr>
          <a:xfrm>
            <a:off x="838200" y="1156447"/>
            <a:ext cx="10515600" cy="5459505"/>
          </a:xfrm>
        </p:spPr>
        <p:txBody>
          <a:bodyPr>
            <a:normAutofit fontScale="92500" lnSpcReduction="10000"/>
          </a:bodyPr>
          <a:lstStyle/>
          <a:p>
            <a:r>
              <a:rPr lang="en-US" dirty="0"/>
              <a:t>The Font-size Property </a:t>
            </a:r>
            <a:r>
              <a:rPr lang="en-GB" dirty="0"/>
              <a:t>sets the size of the text. You should not use font size adjustments to make paragraphs look like headings, or headings look like paragraphs. Always use the proper HTML tags, like &lt;h1&gt; - &lt;h6&gt; for headings and &lt;p&gt; for paragraphs. The font-size value can be an absolute, or relative size.</a:t>
            </a:r>
          </a:p>
          <a:p>
            <a:pPr marL="0" indent="0">
              <a:buNone/>
            </a:pPr>
            <a:r>
              <a:rPr lang="en-GB" dirty="0"/>
              <a:t>1. Absolute size:</a:t>
            </a:r>
          </a:p>
          <a:p>
            <a:pPr marL="514350" indent="-514350">
              <a:buFont typeface="+mj-lt"/>
              <a:buAutoNum type="alphaLcParenR"/>
            </a:pPr>
            <a:r>
              <a:rPr lang="en-GB" dirty="0"/>
              <a:t>Sets the text to a specified size</a:t>
            </a:r>
          </a:p>
          <a:p>
            <a:pPr marL="514350" indent="-514350">
              <a:buFont typeface="+mj-lt"/>
              <a:buAutoNum type="alphaLcParenR"/>
            </a:pPr>
            <a:r>
              <a:rPr lang="en-GB" dirty="0"/>
              <a:t>Does not allow a user to change the text size in all browsers (bad for accessibility reasons)</a:t>
            </a:r>
          </a:p>
          <a:p>
            <a:pPr marL="514350" indent="-514350">
              <a:buFont typeface="+mj-lt"/>
              <a:buAutoNum type="alphaLcParenR"/>
            </a:pPr>
            <a:r>
              <a:rPr lang="en-GB" dirty="0"/>
              <a:t>Absolute size is useful when the physical size of the output is known</a:t>
            </a:r>
          </a:p>
          <a:p>
            <a:pPr marL="0" indent="0">
              <a:buNone/>
            </a:pPr>
            <a:r>
              <a:rPr lang="en-GB" dirty="0"/>
              <a:t>2. Relative size:</a:t>
            </a:r>
          </a:p>
          <a:p>
            <a:pPr marL="514350" indent="-514350">
              <a:buFont typeface="+mj-lt"/>
              <a:buAutoNum type="alphaLcParenR"/>
            </a:pPr>
            <a:r>
              <a:rPr lang="en-GB" dirty="0"/>
              <a:t>Sets the size relative to surrounding elements</a:t>
            </a:r>
          </a:p>
          <a:p>
            <a:pPr marL="514350" indent="-514350">
              <a:buFont typeface="+mj-lt"/>
              <a:buAutoNum type="alphaLcParenR"/>
            </a:pPr>
            <a:r>
              <a:rPr lang="en-GB" dirty="0"/>
              <a:t>Allows a user to change the text size in browsers</a:t>
            </a:r>
          </a:p>
          <a:p>
            <a:endParaRPr lang="en-US" dirty="0"/>
          </a:p>
        </p:txBody>
      </p:sp>
    </p:spTree>
    <p:extLst>
      <p:ext uri="{BB962C8B-B14F-4D97-AF65-F5344CB8AC3E}">
        <p14:creationId xmlns:p14="http://schemas.microsoft.com/office/powerpoint/2010/main" val="4799067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338"/>
            <a:ext cx="10515600" cy="764428"/>
          </a:xfrm>
        </p:spPr>
        <p:txBody>
          <a:bodyPr/>
          <a:lstStyle/>
          <a:p>
            <a:r>
              <a:rPr lang="en-GB" dirty="0"/>
              <a:t>Set Font Size With Pixels</a:t>
            </a:r>
            <a:endParaRPr lang="en-US" dirty="0"/>
          </a:p>
        </p:txBody>
      </p:sp>
      <p:sp>
        <p:nvSpPr>
          <p:cNvPr id="3" name="Content Placeholder 2"/>
          <p:cNvSpPr>
            <a:spLocks noGrp="1"/>
          </p:cNvSpPr>
          <p:nvPr>
            <p:ph idx="1"/>
          </p:nvPr>
        </p:nvSpPr>
        <p:spPr>
          <a:xfrm>
            <a:off x="838200" y="948766"/>
            <a:ext cx="10515600" cy="5228197"/>
          </a:xfrm>
        </p:spPr>
        <p:txBody>
          <a:bodyPr/>
          <a:lstStyle/>
          <a:p>
            <a:r>
              <a:rPr lang="en-GB" dirty="0"/>
              <a:t>Setting the text size with pixels gives you full control over the text size</a:t>
            </a:r>
          </a:p>
          <a:p>
            <a:endParaRPr lang="en-US" dirty="0"/>
          </a:p>
        </p:txBody>
      </p:sp>
      <p:pic>
        <p:nvPicPr>
          <p:cNvPr id="5" name="Picture 4"/>
          <p:cNvPicPr>
            <a:picLocks noChangeAspect="1"/>
          </p:cNvPicPr>
          <p:nvPr/>
        </p:nvPicPr>
        <p:blipFill>
          <a:blip r:embed="rId2"/>
          <a:stretch>
            <a:fillRect/>
          </a:stretch>
        </p:blipFill>
        <p:spPr>
          <a:xfrm>
            <a:off x="633412" y="1875023"/>
            <a:ext cx="8639175" cy="4829175"/>
          </a:xfrm>
          <a:prstGeom prst="rect">
            <a:avLst/>
          </a:prstGeom>
        </p:spPr>
      </p:pic>
      <p:sp>
        <p:nvSpPr>
          <p:cNvPr id="6" name="Title 1"/>
          <p:cNvSpPr txBox="1">
            <a:spLocks/>
          </p:cNvSpPr>
          <p:nvPr/>
        </p:nvSpPr>
        <p:spPr>
          <a:xfrm>
            <a:off x="633412" y="1442089"/>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fontSize.html</a:t>
            </a:r>
          </a:p>
        </p:txBody>
      </p:sp>
      <p:pic>
        <p:nvPicPr>
          <p:cNvPr id="7" name="Picture 6"/>
          <p:cNvPicPr>
            <a:picLocks noChangeAspect="1"/>
          </p:cNvPicPr>
          <p:nvPr/>
        </p:nvPicPr>
        <p:blipFill>
          <a:blip r:embed="rId3"/>
          <a:stretch>
            <a:fillRect/>
          </a:stretch>
        </p:blipFill>
        <p:spPr>
          <a:xfrm>
            <a:off x="3243263" y="3211903"/>
            <a:ext cx="8315325" cy="1905000"/>
          </a:xfrm>
          <a:prstGeom prst="rect">
            <a:avLst/>
          </a:prstGeom>
        </p:spPr>
      </p:pic>
      <p:sp>
        <p:nvSpPr>
          <p:cNvPr id="8" name="Title 1"/>
          <p:cNvSpPr txBox="1">
            <a:spLocks/>
          </p:cNvSpPr>
          <p:nvPr/>
        </p:nvSpPr>
        <p:spPr>
          <a:xfrm>
            <a:off x="7267788" y="168704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7263493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Set Font Size With </a:t>
            </a:r>
            <a:r>
              <a:rPr lang="en-GB" dirty="0" err="1"/>
              <a:t>em</a:t>
            </a:r>
            <a:endParaRPr lang="en-US" dirty="0"/>
          </a:p>
        </p:txBody>
      </p:sp>
      <p:sp>
        <p:nvSpPr>
          <p:cNvPr id="3" name="Content Placeholder 2"/>
          <p:cNvSpPr>
            <a:spLocks noGrp="1"/>
          </p:cNvSpPr>
          <p:nvPr>
            <p:ph idx="1"/>
          </p:nvPr>
        </p:nvSpPr>
        <p:spPr/>
        <p:txBody>
          <a:bodyPr/>
          <a:lstStyle/>
          <a:p>
            <a:r>
              <a:rPr lang="en-GB" dirty="0"/>
              <a:t>To allow users to resize the text (in the browser menu), many developers use </a:t>
            </a:r>
            <a:r>
              <a:rPr lang="en-GB" dirty="0" err="1"/>
              <a:t>em</a:t>
            </a:r>
            <a:r>
              <a:rPr lang="en-GB" dirty="0"/>
              <a:t> instead of pixels.</a:t>
            </a:r>
          </a:p>
          <a:p>
            <a:r>
              <a:rPr lang="en-GB" dirty="0"/>
              <a:t>1em is equal to the current font size</a:t>
            </a:r>
            <a:r>
              <a:rPr lang="en-GB" dirty="0" smtClean="0"/>
              <a:t>.</a:t>
            </a:r>
          </a:p>
          <a:p>
            <a:r>
              <a:rPr lang="en-GB" dirty="0" smtClean="0"/>
              <a:t>The </a:t>
            </a:r>
            <a:r>
              <a:rPr lang="en-GB" dirty="0"/>
              <a:t>default text size in browsers is </a:t>
            </a:r>
            <a:r>
              <a:rPr lang="en-GB" dirty="0" smtClean="0"/>
              <a:t>16px.So</a:t>
            </a:r>
            <a:r>
              <a:rPr lang="en-GB" dirty="0"/>
              <a:t>, the default size of 1em is 16px.</a:t>
            </a:r>
          </a:p>
          <a:p>
            <a:r>
              <a:rPr lang="en-GB" dirty="0"/>
              <a:t>The size can be calculated from pixels to </a:t>
            </a:r>
            <a:r>
              <a:rPr lang="en-GB" dirty="0" err="1"/>
              <a:t>em</a:t>
            </a:r>
            <a:r>
              <a:rPr lang="en-GB" dirty="0"/>
              <a:t> using this formula: </a:t>
            </a:r>
            <a:r>
              <a:rPr lang="en-GB" i="1" dirty="0"/>
              <a:t>pixels</a:t>
            </a:r>
            <a:r>
              <a:rPr lang="en-GB" dirty="0"/>
              <a:t>/16=</a:t>
            </a:r>
            <a:r>
              <a:rPr lang="en-GB" i="1" dirty="0" err="1"/>
              <a:t>em</a:t>
            </a:r>
            <a:endParaRPr lang="en-GB" dirty="0"/>
          </a:p>
          <a:p>
            <a:endParaRPr lang="en-US" dirty="0"/>
          </a:p>
        </p:txBody>
      </p:sp>
    </p:spTree>
    <p:extLst>
      <p:ext uri="{BB962C8B-B14F-4D97-AF65-F5344CB8AC3E}">
        <p14:creationId xmlns:p14="http://schemas.microsoft.com/office/powerpoint/2010/main" val="5378626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59"/>
            <a:ext cx="10515600" cy="872004"/>
          </a:xfrm>
        </p:spPr>
        <p:txBody>
          <a:bodyPr/>
          <a:lstStyle/>
          <a:p>
            <a:r>
              <a:rPr lang="en-GB" dirty="0"/>
              <a:t>Set Font Size With </a:t>
            </a:r>
            <a:r>
              <a:rPr lang="en-GB" dirty="0" err="1"/>
              <a:t>em</a:t>
            </a:r>
            <a:endParaRPr lang="en-US" dirty="0"/>
          </a:p>
        </p:txBody>
      </p:sp>
      <p:pic>
        <p:nvPicPr>
          <p:cNvPr id="4" name="Content Placeholder 3"/>
          <p:cNvPicPr>
            <a:picLocks noGrp="1" noChangeAspect="1"/>
          </p:cNvPicPr>
          <p:nvPr>
            <p:ph idx="1"/>
          </p:nvPr>
        </p:nvPicPr>
        <p:blipFill>
          <a:blip r:embed="rId2"/>
          <a:stretch>
            <a:fillRect/>
          </a:stretch>
        </p:blipFill>
        <p:spPr>
          <a:xfrm>
            <a:off x="838200" y="2081119"/>
            <a:ext cx="7460643" cy="4351338"/>
          </a:xfrm>
          <a:prstGeom prst="rect">
            <a:avLst/>
          </a:prstGeom>
        </p:spPr>
      </p:pic>
      <p:pic>
        <p:nvPicPr>
          <p:cNvPr id="5" name="Picture 4"/>
          <p:cNvPicPr>
            <a:picLocks noChangeAspect="1"/>
          </p:cNvPicPr>
          <p:nvPr/>
        </p:nvPicPr>
        <p:blipFill>
          <a:blip r:embed="rId3"/>
          <a:stretch>
            <a:fillRect/>
          </a:stretch>
        </p:blipFill>
        <p:spPr>
          <a:xfrm>
            <a:off x="4793036" y="3094224"/>
            <a:ext cx="7188294" cy="1933575"/>
          </a:xfrm>
          <a:prstGeom prst="rect">
            <a:avLst/>
          </a:prstGeom>
        </p:spPr>
      </p:pic>
      <p:sp>
        <p:nvSpPr>
          <p:cNvPr id="6" name="Title 1"/>
          <p:cNvSpPr txBox="1">
            <a:spLocks/>
          </p:cNvSpPr>
          <p:nvPr/>
        </p:nvSpPr>
        <p:spPr>
          <a:xfrm>
            <a:off x="1184741" y="147954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fontSizeEm.html</a:t>
            </a:r>
          </a:p>
        </p:txBody>
      </p:sp>
      <p:sp>
        <p:nvSpPr>
          <p:cNvPr id="7" name="Title 1"/>
          <p:cNvSpPr txBox="1">
            <a:spLocks/>
          </p:cNvSpPr>
          <p:nvPr/>
        </p:nvSpPr>
        <p:spPr>
          <a:xfrm>
            <a:off x="6805612" y="1418461"/>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3680034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412" y="123078"/>
            <a:ext cx="10515600" cy="1325563"/>
          </a:xfrm>
        </p:spPr>
        <p:txBody>
          <a:bodyPr/>
          <a:lstStyle/>
          <a:p>
            <a:r>
              <a:rPr lang="en-GB" dirty="0"/>
              <a:t>Use a Combination of Percent and </a:t>
            </a:r>
            <a:r>
              <a:rPr lang="en-GB" dirty="0" err="1"/>
              <a:t>Em</a:t>
            </a:r>
            <a:endParaRPr lang="en-US" dirty="0"/>
          </a:p>
        </p:txBody>
      </p:sp>
      <p:pic>
        <p:nvPicPr>
          <p:cNvPr id="4" name="Content Placeholder 3"/>
          <p:cNvPicPr>
            <a:picLocks noGrp="1" noChangeAspect="1"/>
          </p:cNvPicPr>
          <p:nvPr>
            <p:ph idx="1"/>
          </p:nvPr>
        </p:nvPicPr>
        <p:blipFill>
          <a:blip r:embed="rId2"/>
          <a:stretch>
            <a:fillRect/>
          </a:stretch>
        </p:blipFill>
        <p:spPr>
          <a:xfrm>
            <a:off x="1095050" y="1963270"/>
            <a:ext cx="10415632" cy="4617104"/>
          </a:xfrm>
          <a:prstGeom prst="rect">
            <a:avLst/>
          </a:prstGeom>
        </p:spPr>
      </p:pic>
      <p:sp>
        <p:nvSpPr>
          <p:cNvPr id="5" name="Title 1"/>
          <p:cNvSpPr txBox="1">
            <a:spLocks/>
          </p:cNvSpPr>
          <p:nvPr/>
        </p:nvSpPr>
        <p:spPr>
          <a:xfrm>
            <a:off x="3363165" y="139086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fontSizePercentEm.html</a:t>
            </a:r>
          </a:p>
        </p:txBody>
      </p:sp>
    </p:spTree>
    <p:extLst>
      <p:ext uri="{BB962C8B-B14F-4D97-AF65-F5344CB8AC3E}">
        <p14:creationId xmlns:p14="http://schemas.microsoft.com/office/powerpoint/2010/main" val="605870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a Combination of Percent and </a:t>
            </a:r>
            <a:r>
              <a:rPr lang="en-GB" dirty="0" err="1"/>
              <a:t>Em</a:t>
            </a:r>
            <a:endParaRPr lang="en-US" dirty="0"/>
          </a:p>
        </p:txBody>
      </p:sp>
      <p:pic>
        <p:nvPicPr>
          <p:cNvPr id="4" name="Content Placeholder 3"/>
          <p:cNvPicPr>
            <a:picLocks noGrp="1" noChangeAspect="1"/>
          </p:cNvPicPr>
          <p:nvPr>
            <p:ph idx="1"/>
          </p:nvPr>
        </p:nvPicPr>
        <p:blipFill>
          <a:blip r:embed="rId2"/>
          <a:stretch>
            <a:fillRect/>
          </a:stretch>
        </p:blipFill>
        <p:spPr>
          <a:xfrm>
            <a:off x="730624" y="2957511"/>
            <a:ext cx="10515600" cy="3227294"/>
          </a:xfrm>
          <a:prstGeom prst="rect">
            <a:avLst/>
          </a:prstGeom>
        </p:spPr>
      </p:pic>
      <p:sp>
        <p:nvSpPr>
          <p:cNvPr id="5" name="Title 1"/>
          <p:cNvSpPr txBox="1">
            <a:spLocks/>
          </p:cNvSpPr>
          <p:nvPr/>
        </p:nvSpPr>
        <p:spPr>
          <a:xfrm>
            <a:off x="1337141" y="163194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11367209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Font-size-adjust Property</a:t>
            </a:r>
          </a:p>
        </p:txBody>
      </p:sp>
      <p:sp>
        <p:nvSpPr>
          <p:cNvPr id="3" name="Content Placeholder 2"/>
          <p:cNvSpPr>
            <a:spLocks noGrp="1"/>
          </p:cNvSpPr>
          <p:nvPr>
            <p:ph idx="1"/>
          </p:nvPr>
        </p:nvSpPr>
        <p:spPr/>
        <p:txBody>
          <a:bodyPr>
            <a:normAutofit lnSpcReduction="10000"/>
          </a:bodyPr>
          <a:lstStyle/>
          <a:p>
            <a:r>
              <a:rPr lang="en-US" dirty="0"/>
              <a:t>The Font-size-adjust Property </a:t>
            </a:r>
            <a:r>
              <a:rPr lang="en-GB" dirty="0"/>
              <a:t>gives you better control of the font size when the first selected font is not available. When a font is not available, the browser uses the second specified font. This could result in a big change for the font size. To prevent this, use the </a:t>
            </a:r>
            <a:r>
              <a:rPr lang="en-US" dirty="0"/>
              <a:t>Font-size-adjust Property.</a:t>
            </a:r>
            <a:r>
              <a:rPr lang="en-GB" dirty="0"/>
              <a:t> The font-size-adjust property is used to change the aspect value of the text on a web page.</a:t>
            </a:r>
          </a:p>
          <a:p>
            <a:r>
              <a:rPr lang="en-GB" dirty="0"/>
              <a:t>All fonts have an "aspect value" which is </a:t>
            </a:r>
            <a:r>
              <a:rPr lang="en-GB"/>
              <a:t>the </a:t>
            </a:r>
            <a:r>
              <a:rPr lang="en-GB" smtClean="0"/>
              <a:t>relation </a:t>
            </a:r>
            <a:r>
              <a:rPr lang="en-GB" dirty="0"/>
              <a:t>between the font height of a lowercase letter and the actual height of the font. This ratio is also known as x-height . When the browser knows the "aspect value" for the first selected font, the browser can figure out what font-size to use when displaying text with the second choice font.</a:t>
            </a:r>
            <a:endParaRPr lang="en-US" dirty="0"/>
          </a:p>
        </p:txBody>
      </p:sp>
    </p:spTree>
    <p:extLst>
      <p:ext uri="{BB962C8B-B14F-4D97-AF65-F5344CB8AC3E}">
        <p14:creationId xmlns:p14="http://schemas.microsoft.com/office/powerpoint/2010/main" val="34857746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Font-size-adjust Property</a:t>
            </a:r>
          </a:p>
        </p:txBody>
      </p:sp>
      <p:sp>
        <p:nvSpPr>
          <p:cNvPr id="3" name="Content Placeholder 2"/>
          <p:cNvSpPr>
            <a:spLocks noGrp="1"/>
          </p:cNvSpPr>
          <p:nvPr>
            <p:ph idx="1"/>
          </p:nvPr>
        </p:nvSpPr>
        <p:spPr/>
        <p:txBody>
          <a:bodyPr/>
          <a:lstStyle/>
          <a:p>
            <a:r>
              <a:rPr lang="en-US" dirty="0"/>
              <a:t>For example, the aspect value of the Verdana font is 0.58, which means that when the font size of 100px, the height of a character written in lowercase of Verdana font is 58 pixels.</a:t>
            </a:r>
          </a:p>
          <a:p>
            <a:r>
              <a:rPr lang="en-US" dirty="0"/>
              <a:t>In the case of Times New Roman font, when the font size is 100px, its x-height is 46 pixels. This means that the aspect value of the Times New Roman font is 0.46.You can increase or decrease the height of the font by modifying its aspect value.</a:t>
            </a:r>
          </a:p>
        </p:txBody>
      </p:sp>
    </p:spTree>
    <p:extLst>
      <p:ext uri="{BB962C8B-B14F-4D97-AF65-F5344CB8AC3E}">
        <p14:creationId xmlns:p14="http://schemas.microsoft.com/office/powerpoint/2010/main" val="8687797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Font-size-adjust Property</a:t>
            </a:r>
          </a:p>
        </p:txBody>
      </p:sp>
      <p:pic>
        <p:nvPicPr>
          <p:cNvPr id="4" name="Content Placeholder 3"/>
          <p:cNvPicPr>
            <a:picLocks noGrp="1" noChangeAspect="1"/>
          </p:cNvPicPr>
          <p:nvPr>
            <p:ph idx="1"/>
          </p:nvPr>
        </p:nvPicPr>
        <p:blipFill>
          <a:blip r:embed="rId2"/>
          <a:stretch>
            <a:fillRect/>
          </a:stretch>
        </p:blipFill>
        <p:spPr>
          <a:xfrm>
            <a:off x="932330" y="2738818"/>
            <a:ext cx="10515600" cy="2982152"/>
          </a:xfrm>
          <a:prstGeom prst="rect">
            <a:avLst/>
          </a:prstGeom>
        </p:spPr>
      </p:pic>
      <p:sp>
        <p:nvSpPr>
          <p:cNvPr id="5" name="Title 1"/>
          <p:cNvSpPr txBox="1">
            <a:spLocks/>
          </p:cNvSpPr>
          <p:nvPr/>
        </p:nvSpPr>
        <p:spPr>
          <a:xfrm>
            <a:off x="3430400" y="184806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fontSizeAdjust.html</a:t>
            </a:r>
          </a:p>
        </p:txBody>
      </p:sp>
    </p:spTree>
    <p:extLst>
      <p:ext uri="{BB962C8B-B14F-4D97-AF65-F5344CB8AC3E}">
        <p14:creationId xmlns:p14="http://schemas.microsoft.com/office/powerpoint/2010/main" val="37191263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Font-size-adjust Property</a:t>
            </a:r>
          </a:p>
        </p:txBody>
      </p:sp>
      <p:pic>
        <p:nvPicPr>
          <p:cNvPr id="4" name="Content Placeholder 3"/>
          <p:cNvPicPr>
            <a:picLocks noGrp="1" noChangeAspect="1"/>
          </p:cNvPicPr>
          <p:nvPr>
            <p:ph idx="1"/>
          </p:nvPr>
        </p:nvPicPr>
        <p:blipFill>
          <a:blip r:embed="rId2"/>
          <a:stretch>
            <a:fillRect/>
          </a:stretch>
        </p:blipFill>
        <p:spPr>
          <a:xfrm>
            <a:off x="2052637" y="3205956"/>
            <a:ext cx="8086725" cy="1590675"/>
          </a:xfrm>
          <a:prstGeom prst="rect">
            <a:avLst/>
          </a:prstGeom>
        </p:spPr>
      </p:pic>
      <p:sp>
        <p:nvSpPr>
          <p:cNvPr id="5" name="Title 1"/>
          <p:cNvSpPr txBox="1">
            <a:spLocks/>
          </p:cNvSpPr>
          <p:nvPr/>
        </p:nvSpPr>
        <p:spPr>
          <a:xfrm>
            <a:off x="3659000" y="205047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6554101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079"/>
            <a:ext cx="10515600" cy="683746"/>
          </a:xfrm>
        </p:spPr>
        <p:txBody>
          <a:bodyPr>
            <a:normAutofit fontScale="90000"/>
          </a:bodyPr>
          <a:lstStyle/>
          <a:p>
            <a:r>
              <a:rPr lang="en-US" dirty="0"/>
              <a:t>The font-stretch property</a:t>
            </a:r>
          </a:p>
        </p:txBody>
      </p:sp>
      <p:sp>
        <p:nvSpPr>
          <p:cNvPr id="3" name="Content Placeholder 2"/>
          <p:cNvSpPr>
            <a:spLocks noGrp="1"/>
          </p:cNvSpPr>
          <p:nvPr>
            <p:ph idx="1"/>
          </p:nvPr>
        </p:nvSpPr>
        <p:spPr>
          <a:xfrm>
            <a:off x="838200" y="954741"/>
            <a:ext cx="10515600" cy="5222222"/>
          </a:xfrm>
        </p:spPr>
        <p:txBody>
          <a:bodyPr/>
          <a:lstStyle/>
          <a:p>
            <a:r>
              <a:rPr lang="en-US" dirty="0"/>
              <a:t>The font-stretch property </a:t>
            </a:r>
            <a:r>
              <a:rPr lang="en-GB" dirty="0"/>
              <a:t>allows you to make text narrower (condensed) or wider (expanded).It is used to change the width of a font. You can do this by specifying the following property values.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5895910"/>
              </p:ext>
            </p:extLst>
          </p:nvPr>
        </p:nvGraphicFramePr>
        <p:xfrm>
          <a:off x="772459" y="2144756"/>
          <a:ext cx="10581341" cy="4458927"/>
        </p:xfrm>
        <a:graphic>
          <a:graphicData uri="http://schemas.openxmlformats.org/drawingml/2006/table">
            <a:tbl>
              <a:tblPr firstRow="1" bandRow="1">
                <a:tableStyleId>{93296810-A885-4BE3-A3E7-6D5BEEA58F35}</a:tableStyleId>
              </a:tblPr>
              <a:tblGrid>
                <a:gridCol w="2170366">
                  <a:extLst>
                    <a:ext uri="{9D8B030D-6E8A-4147-A177-3AD203B41FA5}">
                      <a16:colId xmlns:a16="http://schemas.microsoft.com/office/drawing/2014/main" xmlns="" val="20000"/>
                    </a:ext>
                  </a:extLst>
                </a:gridCol>
                <a:gridCol w="8410975">
                  <a:extLst>
                    <a:ext uri="{9D8B030D-6E8A-4147-A177-3AD203B41FA5}">
                      <a16:colId xmlns:a16="http://schemas.microsoft.com/office/drawing/2014/main" xmlns="" val="20001"/>
                    </a:ext>
                  </a:extLst>
                </a:gridCol>
              </a:tblGrid>
              <a:tr h="354473">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413552">
                <a:tc>
                  <a:txBody>
                    <a:bodyPr/>
                    <a:lstStyle/>
                    <a:p>
                      <a:pPr algn="l" fontAlgn="t"/>
                      <a:r>
                        <a:rPr lang="en-US" dirty="0">
                          <a:effectLst/>
                        </a:rPr>
                        <a:t>ultra-condensed</a:t>
                      </a:r>
                    </a:p>
                  </a:txBody>
                  <a:tcPr marL="152400" marR="76200" marT="76200" marB="76200"/>
                </a:tc>
                <a:tc>
                  <a:txBody>
                    <a:bodyPr/>
                    <a:lstStyle/>
                    <a:p>
                      <a:pPr algn="l" fontAlgn="t"/>
                      <a:r>
                        <a:rPr lang="en-GB" dirty="0">
                          <a:effectLst/>
                        </a:rPr>
                        <a:t>Makes the text as narrow as it gets</a:t>
                      </a:r>
                    </a:p>
                  </a:txBody>
                  <a:tcPr marL="76200" marR="76200" marT="76200" marB="76200"/>
                </a:tc>
                <a:extLst>
                  <a:ext uri="{0D108BD9-81ED-4DB2-BD59-A6C34878D82A}">
                    <a16:rowId xmlns:a16="http://schemas.microsoft.com/office/drawing/2014/main" xmlns="" val="10001"/>
                  </a:ext>
                </a:extLst>
              </a:tr>
              <a:tr h="679407">
                <a:tc>
                  <a:txBody>
                    <a:bodyPr/>
                    <a:lstStyle/>
                    <a:p>
                      <a:pPr algn="l" fontAlgn="t"/>
                      <a:r>
                        <a:rPr lang="en-US" dirty="0">
                          <a:effectLst/>
                        </a:rPr>
                        <a:t>extra-condensed</a:t>
                      </a:r>
                    </a:p>
                  </a:txBody>
                  <a:tcPr marL="152400" marR="76200" marT="76200" marB="76200"/>
                </a:tc>
                <a:tc>
                  <a:txBody>
                    <a:bodyPr/>
                    <a:lstStyle/>
                    <a:p>
                      <a:pPr algn="l" fontAlgn="t"/>
                      <a:r>
                        <a:rPr lang="en-GB" dirty="0">
                          <a:effectLst/>
                        </a:rPr>
                        <a:t>Makes the text narrower than condensed, but not as narrow as ultra-condensed</a:t>
                      </a:r>
                    </a:p>
                  </a:txBody>
                  <a:tcPr marL="76200" marR="76200" marT="76200" marB="76200"/>
                </a:tc>
                <a:extLst>
                  <a:ext uri="{0D108BD9-81ED-4DB2-BD59-A6C34878D82A}">
                    <a16:rowId xmlns:a16="http://schemas.microsoft.com/office/drawing/2014/main" xmlns="" val="10002"/>
                  </a:ext>
                </a:extLst>
              </a:tr>
              <a:tr h="359397">
                <a:tc>
                  <a:txBody>
                    <a:bodyPr/>
                    <a:lstStyle/>
                    <a:p>
                      <a:pPr algn="l" fontAlgn="t"/>
                      <a:r>
                        <a:rPr lang="en-US" dirty="0">
                          <a:effectLst/>
                        </a:rPr>
                        <a:t>condensed</a:t>
                      </a:r>
                    </a:p>
                  </a:txBody>
                  <a:tcPr marL="152400" marR="76200" marT="76200" marB="76200"/>
                </a:tc>
                <a:tc>
                  <a:txBody>
                    <a:bodyPr/>
                    <a:lstStyle/>
                    <a:p>
                      <a:pPr algn="l" fontAlgn="t"/>
                      <a:r>
                        <a:rPr lang="en-GB" dirty="0">
                          <a:effectLst/>
                        </a:rPr>
                        <a:t>Makes the text narrower than semi-condensed, but not as narrow as extra-condensed</a:t>
                      </a:r>
                    </a:p>
                  </a:txBody>
                  <a:tcPr marL="76200" marR="76200" marT="76200" marB="76200"/>
                </a:tc>
                <a:extLst>
                  <a:ext uri="{0D108BD9-81ED-4DB2-BD59-A6C34878D82A}">
                    <a16:rowId xmlns:a16="http://schemas.microsoft.com/office/drawing/2014/main" xmlns="" val="10003"/>
                  </a:ext>
                </a:extLst>
              </a:tr>
              <a:tr h="359397">
                <a:tc>
                  <a:txBody>
                    <a:bodyPr/>
                    <a:lstStyle/>
                    <a:p>
                      <a:pPr algn="l" fontAlgn="t"/>
                      <a:r>
                        <a:rPr lang="en-US" dirty="0">
                          <a:effectLst/>
                        </a:rPr>
                        <a:t>semi-condensed</a:t>
                      </a:r>
                    </a:p>
                  </a:txBody>
                  <a:tcPr marL="152400" marR="76200" marT="76200" marB="76200"/>
                </a:tc>
                <a:tc>
                  <a:txBody>
                    <a:bodyPr/>
                    <a:lstStyle/>
                    <a:p>
                      <a:pPr algn="l" fontAlgn="t"/>
                      <a:r>
                        <a:rPr lang="en-GB" dirty="0">
                          <a:effectLst/>
                        </a:rPr>
                        <a:t>Makes the text narrower than normal, but not as narrow as condensed</a:t>
                      </a:r>
                    </a:p>
                  </a:txBody>
                  <a:tcPr marL="76200" marR="76200" marT="76200" marB="76200"/>
                </a:tc>
                <a:extLst>
                  <a:ext uri="{0D108BD9-81ED-4DB2-BD59-A6C34878D82A}">
                    <a16:rowId xmlns:a16="http://schemas.microsoft.com/office/drawing/2014/main" xmlns="" val="10004"/>
                  </a:ext>
                </a:extLst>
              </a:tr>
              <a:tr h="359397">
                <a:tc>
                  <a:txBody>
                    <a:bodyPr/>
                    <a:lstStyle/>
                    <a:p>
                      <a:pPr algn="l" fontAlgn="t"/>
                      <a:r>
                        <a:rPr lang="en-US" dirty="0">
                          <a:effectLst/>
                        </a:rPr>
                        <a:t>normal</a:t>
                      </a:r>
                    </a:p>
                  </a:txBody>
                  <a:tcPr marL="152400" marR="76200" marT="76200" marB="76200"/>
                </a:tc>
                <a:tc>
                  <a:txBody>
                    <a:bodyPr/>
                    <a:lstStyle/>
                    <a:p>
                      <a:pPr algn="l" fontAlgn="t"/>
                      <a:r>
                        <a:rPr lang="en-GB" dirty="0">
                          <a:effectLst/>
                        </a:rPr>
                        <a:t>Default value. No font stretching</a:t>
                      </a:r>
                    </a:p>
                  </a:txBody>
                  <a:tcPr marL="76200" marR="76200" marT="76200" marB="76200"/>
                </a:tc>
                <a:extLst>
                  <a:ext uri="{0D108BD9-81ED-4DB2-BD59-A6C34878D82A}">
                    <a16:rowId xmlns:a16="http://schemas.microsoft.com/office/drawing/2014/main" xmlns="" val="10005"/>
                  </a:ext>
                </a:extLst>
              </a:tr>
              <a:tr h="359397">
                <a:tc>
                  <a:txBody>
                    <a:bodyPr/>
                    <a:lstStyle/>
                    <a:p>
                      <a:pPr algn="l" fontAlgn="t"/>
                      <a:r>
                        <a:rPr lang="en-US" dirty="0">
                          <a:effectLst/>
                        </a:rPr>
                        <a:t>semi-expanded</a:t>
                      </a:r>
                    </a:p>
                  </a:txBody>
                  <a:tcPr marL="152400" marR="76200" marT="76200" marB="76200"/>
                </a:tc>
                <a:tc>
                  <a:txBody>
                    <a:bodyPr/>
                    <a:lstStyle/>
                    <a:p>
                      <a:pPr algn="l" fontAlgn="t"/>
                      <a:r>
                        <a:rPr lang="en-GB" dirty="0">
                          <a:effectLst/>
                        </a:rPr>
                        <a:t>Makes the text wider than normal, but not as wide as expanded</a:t>
                      </a:r>
                    </a:p>
                  </a:txBody>
                  <a:tcPr marL="76200" marR="76200" marT="76200" marB="76200"/>
                </a:tc>
                <a:extLst>
                  <a:ext uri="{0D108BD9-81ED-4DB2-BD59-A6C34878D82A}">
                    <a16:rowId xmlns:a16="http://schemas.microsoft.com/office/drawing/2014/main" xmlns="" val="10006"/>
                  </a:ext>
                </a:extLst>
              </a:tr>
              <a:tr h="359397">
                <a:tc>
                  <a:txBody>
                    <a:bodyPr/>
                    <a:lstStyle/>
                    <a:p>
                      <a:pPr algn="l" fontAlgn="t"/>
                      <a:r>
                        <a:rPr lang="en-US" dirty="0">
                          <a:effectLst/>
                        </a:rPr>
                        <a:t>expanded</a:t>
                      </a:r>
                    </a:p>
                  </a:txBody>
                  <a:tcPr marL="152400" marR="76200" marT="76200" marB="76200"/>
                </a:tc>
                <a:tc>
                  <a:txBody>
                    <a:bodyPr/>
                    <a:lstStyle/>
                    <a:p>
                      <a:pPr algn="l" fontAlgn="t"/>
                      <a:r>
                        <a:rPr lang="en-GB" dirty="0">
                          <a:effectLst/>
                        </a:rPr>
                        <a:t>Makes the text wider than semi-expanded, but not as wide as extra-expanded</a:t>
                      </a:r>
                    </a:p>
                  </a:txBody>
                  <a:tcPr marL="76200" marR="76200" marT="76200" marB="76200"/>
                </a:tc>
                <a:extLst>
                  <a:ext uri="{0D108BD9-81ED-4DB2-BD59-A6C34878D82A}">
                    <a16:rowId xmlns:a16="http://schemas.microsoft.com/office/drawing/2014/main" xmlns="" val="10007"/>
                  </a:ext>
                </a:extLst>
              </a:tr>
              <a:tr h="359397">
                <a:tc>
                  <a:txBody>
                    <a:bodyPr/>
                    <a:lstStyle/>
                    <a:p>
                      <a:pPr algn="l" fontAlgn="t"/>
                      <a:r>
                        <a:rPr lang="en-US" dirty="0">
                          <a:effectLst/>
                        </a:rPr>
                        <a:t>extra-expanded</a:t>
                      </a:r>
                    </a:p>
                  </a:txBody>
                  <a:tcPr marL="152400" marR="76200" marT="76200" marB="76200"/>
                </a:tc>
                <a:tc>
                  <a:txBody>
                    <a:bodyPr/>
                    <a:lstStyle/>
                    <a:p>
                      <a:pPr algn="l" fontAlgn="t"/>
                      <a:r>
                        <a:rPr lang="en-GB" dirty="0">
                          <a:effectLst/>
                        </a:rPr>
                        <a:t>Makes the text wider than expanded, but not as wide as ultra-expanded</a:t>
                      </a:r>
                    </a:p>
                  </a:txBody>
                  <a:tcPr marL="76200" marR="76200" marT="76200" marB="76200"/>
                </a:tc>
                <a:extLst>
                  <a:ext uri="{0D108BD9-81ED-4DB2-BD59-A6C34878D82A}">
                    <a16:rowId xmlns:a16="http://schemas.microsoft.com/office/drawing/2014/main" xmlns="" val="10008"/>
                  </a:ext>
                </a:extLst>
              </a:tr>
              <a:tr h="359397">
                <a:tc>
                  <a:txBody>
                    <a:bodyPr/>
                    <a:lstStyle/>
                    <a:p>
                      <a:pPr algn="l" fontAlgn="t"/>
                      <a:r>
                        <a:rPr lang="en-US" dirty="0">
                          <a:effectLst/>
                        </a:rPr>
                        <a:t>ultra-expanded</a:t>
                      </a:r>
                    </a:p>
                  </a:txBody>
                  <a:tcPr marL="152400" marR="76200" marT="76200" marB="76200"/>
                </a:tc>
                <a:tc>
                  <a:txBody>
                    <a:bodyPr/>
                    <a:lstStyle/>
                    <a:p>
                      <a:pPr algn="l" fontAlgn="t"/>
                      <a:r>
                        <a:rPr lang="en-GB" dirty="0">
                          <a:effectLst/>
                        </a:rPr>
                        <a:t>Makes the text as wide as it gets</a:t>
                      </a:r>
                    </a:p>
                  </a:txBody>
                  <a:tcPr marL="76200" marR="76200" marT="76200" marB="76200"/>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32955883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font-stretch property</a:t>
            </a:r>
          </a:p>
        </p:txBody>
      </p:sp>
      <p:pic>
        <p:nvPicPr>
          <p:cNvPr id="4" name="Content Placeholder 3"/>
          <p:cNvPicPr>
            <a:picLocks noGrp="1" noChangeAspect="1"/>
          </p:cNvPicPr>
          <p:nvPr>
            <p:ph idx="1"/>
          </p:nvPr>
        </p:nvPicPr>
        <p:blipFill>
          <a:blip r:embed="rId2"/>
          <a:stretch>
            <a:fillRect/>
          </a:stretch>
        </p:blipFill>
        <p:spPr>
          <a:xfrm>
            <a:off x="1271587" y="2589353"/>
            <a:ext cx="9648825" cy="3200400"/>
          </a:xfrm>
          <a:prstGeom prst="rect">
            <a:avLst/>
          </a:prstGeom>
        </p:spPr>
      </p:pic>
      <p:sp>
        <p:nvSpPr>
          <p:cNvPr id="5" name="Title 1"/>
          <p:cNvSpPr txBox="1">
            <a:spLocks/>
          </p:cNvSpPr>
          <p:nvPr/>
        </p:nvSpPr>
        <p:spPr>
          <a:xfrm>
            <a:off x="1271587" y="1780209"/>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fontStretch.html</a:t>
            </a:r>
          </a:p>
        </p:txBody>
      </p:sp>
      <p:pic>
        <p:nvPicPr>
          <p:cNvPr id="6" name="Picture 5"/>
          <p:cNvPicPr>
            <a:picLocks noChangeAspect="1"/>
          </p:cNvPicPr>
          <p:nvPr/>
        </p:nvPicPr>
        <p:blipFill>
          <a:blip r:embed="rId3"/>
          <a:stretch>
            <a:fillRect/>
          </a:stretch>
        </p:blipFill>
        <p:spPr>
          <a:xfrm>
            <a:off x="4881562" y="2954151"/>
            <a:ext cx="6038850" cy="1514475"/>
          </a:xfrm>
          <a:prstGeom prst="rect">
            <a:avLst/>
          </a:prstGeom>
        </p:spPr>
      </p:pic>
      <p:sp>
        <p:nvSpPr>
          <p:cNvPr id="8" name="Title 1"/>
          <p:cNvSpPr txBox="1">
            <a:spLocks/>
          </p:cNvSpPr>
          <p:nvPr/>
        </p:nvSpPr>
        <p:spPr>
          <a:xfrm>
            <a:off x="7555846" y="1814902"/>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1805270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85451"/>
          </a:xfrm>
        </p:spPr>
        <p:txBody>
          <a:bodyPr/>
          <a:lstStyle/>
          <a:p>
            <a:r>
              <a:rPr lang="en-US" dirty="0"/>
              <a:t>The font-style property</a:t>
            </a:r>
          </a:p>
        </p:txBody>
      </p:sp>
      <p:sp>
        <p:nvSpPr>
          <p:cNvPr id="3" name="Content Placeholder 2"/>
          <p:cNvSpPr>
            <a:spLocks noGrp="1"/>
          </p:cNvSpPr>
          <p:nvPr>
            <p:ph idx="1"/>
          </p:nvPr>
        </p:nvSpPr>
        <p:spPr>
          <a:xfrm>
            <a:off x="838200" y="1021976"/>
            <a:ext cx="10515600" cy="5154987"/>
          </a:xfrm>
        </p:spPr>
        <p:txBody>
          <a:bodyPr/>
          <a:lstStyle/>
          <a:p>
            <a:r>
              <a:rPr lang="en-US" dirty="0"/>
              <a:t>The font-style property </a:t>
            </a:r>
            <a:r>
              <a:rPr lang="en-GB" dirty="0"/>
              <a:t>specifies the font style for a text.</a:t>
            </a:r>
          </a:p>
          <a:p>
            <a:endParaRPr lang="en-US" dirty="0"/>
          </a:p>
        </p:txBody>
      </p:sp>
      <p:pic>
        <p:nvPicPr>
          <p:cNvPr id="4" name="Picture 3"/>
          <p:cNvPicPr>
            <a:picLocks noChangeAspect="1"/>
          </p:cNvPicPr>
          <p:nvPr/>
        </p:nvPicPr>
        <p:blipFill>
          <a:blip r:embed="rId2"/>
          <a:stretch>
            <a:fillRect/>
          </a:stretch>
        </p:blipFill>
        <p:spPr>
          <a:xfrm>
            <a:off x="1000404" y="2095500"/>
            <a:ext cx="5000625" cy="4762500"/>
          </a:xfrm>
          <a:prstGeom prst="rect">
            <a:avLst/>
          </a:prstGeom>
        </p:spPr>
      </p:pic>
      <p:pic>
        <p:nvPicPr>
          <p:cNvPr id="5" name="Picture 4"/>
          <p:cNvPicPr>
            <a:picLocks noChangeAspect="1"/>
          </p:cNvPicPr>
          <p:nvPr/>
        </p:nvPicPr>
        <p:blipFill>
          <a:blip r:embed="rId3"/>
          <a:stretch>
            <a:fillRect/>
          </a:stretch>
        </p:blipFill>
        <p:spPr>
          <a:xfrm>
            <a:off x="7435383" y="3931444"/>
            <a:ext cx="3076575" cy="1724025"/>
          </a:xfrm>
          <a:prstGeom prst="rect">
            <a:avLst/>
          </a:prstGeom>
        </p:spPr>
      </p:pic>
      <p:sp>
        <p:nvSpPr>
          <p:cNvPr id="6" name="Title 1"/>
          <p:cNvSpPr txBox="1">
            <a:spLocks/>
          </p:cNvSpPr>
          <p:nvPr/>
        </p:nvSpPr>
        <p:spPr>
          <a:xfrm>
            <a:off x="1809469" y="15532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fontStyle.html</a:t>
            </a:r>
          </a:p>
        </p:txBody>
      </p:sp>
      <p:sp>
        <p:nvSpPr>
          <p:cNvPr id="7" name="Title 1"/>
          <p:cNvSpPr txBox="1">
            <a:spLocks/>
          </p:cNvSpPr>
          <p:nvPr/>
        </p:nvSpPr>
        <p:spPr>
          <a:xfrm>
            <a:off x="7327245" y="1824395"/>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4484756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font-variant property</a:t>
            </a:r>
          </a:p>
        </p:txBody>
      </p:sp>
      <p:sp>
        <p:nvSpPr>
          <p:cNvPr id="3" name="Content Placeholder 2"/>
          <p:cNvSpPr>
            <a:spLocks noGrp="1"/>
          </p:cNvSpPr>
          <p:nvPr>
            <p:ph idx="1"/>
          </p:nvPr>
        </p:nvSpPr>
        <p:spPr/>
        <p:txBody>
          <a:bodyPr/>
          <a:lstStyle/>
          <a:p>
            <a:r>
              <a:rPr lang="en-GB" dirty="0"/>
              <a:t>In a small-caps font, all lowercase letters are converted to uppercase letters. However, the converted uppercase letters appears in a smaller font size than the original uppercase letters in the text.</a:t>
            </a:r>
            <a:r>
              <a:rPr lang="en-US" dirty="0"/>
              <a:t> The font-variant property </a:t>
            </a:r>
            <a:r>
              <a:rPr lang="en-GB" dirty="0"/>
              <a:t>specifies whether or not a text should be displayed in a small-caps font.</a:t>
            </a:r>
            <a:endParaRPr lang="en-US" dirty="0"/>
          </a:p>
        </p:txBody>
      </p:sp>
    </p:spTree>
    <p:extLst>
      <p:ext uri="{BB962C8B-B14F-4D97-AF65-F5344CB8AC3E}">
        <p14:creationId xmlns:p14="http://schemas.microsoft.com/office/powerpoint/2010/main" val="11105150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font-variant property</a:t>
            </a:r>
          </a:p>
        </p:txBody>
      </p:sp>
      <p:pic>
        <p:nvPicPr>
          <p:cNvPr id="5" name="Picture 4"/>
          <p:cNvPicPr>
            <a:picLocks noChangeAspect="1"/>
          </p:cNvPicPr>
          <p:nvPr/>
        </p:nvPicPr>
        <p:blipFill>
          <a:blip r:embed="rId2"/>
          <a:stretch>
            <a:fillRect/>
          </a:stretch>
        </p:blipFill>
        <p:spPr>
          <a:xfrm>
            <a:off x="6167718" y="3364845"/>
            <a:ext cx="3762375" cy="1419225"/>
          </a:xfrm>
          <a:prstGeom prst="rect">
            <a:avLst/>
          </a:prstGeom>
        </p:spPr>
      </p:pic>
      <p:sp>
        <p:nvSpPr>
          <p:cNvPr id="6" name="Title 1"/>
          <p:cNvSpPr txBox="1">
            <a:spLocks/>
          </p:cNvSpPr>
          <p:nvPr/>
        </p:nvSpPr>
        <p:spPr>
          <a:xfrm>
            <a:off x="1809469" y="15532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fontVariant.html</a:t>
            </a:r>
          </a:p>
        </p:txBody>
      </p:sp>
      <p:sp>
        <p:nvSpPr>
          <p:cNvPr id="7" name="Title 1"/>
          <p:cNvSpPr txBox="1">
            <a:spLocks/>
          </p:cNvSpPr>
          <p:nvPr/>
        </p:nvSpPr>
        <p:spPr>
          <a:xfrm>
            <a:off x="6685477" y="1419583"/>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pic>
        <p:nvPicPr>
          <p:cNvPr id="9" name="Content Placeholder 8"/>
          <p:cNvPicPr>
            <a:picLocks noGrp="1" noChangeAspect="1"/>
          </p:cNvPicPr>
          <p:nvPr>
            <p:ph idx="1"/>
          </p:nvPr>
        </p:nvPicPr>
        <p:blipFill>
          <a:blip r:embed="rId3"/>
          <a:stretch>
            <a:fillRect/>
          </a:stretch>
        </p:blipFill>
        <p:spPr>
          <a:xfrm>
            <a:off x="1355912" y="2526644"/>
            <a:ext cx="3429000" cy="3095625"/>
          </a:xfrm>
          <a:prstGeom prst="rect">
            <a:avLst/>
          </a:prstGeom>
        </p:spPr>
      </p:pic>
    </p:spTree>
    <p:extLst>
      <p:ext uri="{BB962C8B-B14F-4D97-AF65-F5344CB8AC3E}">
        <p14:creationId xmlns:p14="http://schemas.microsoft.com/office/powerpoint/2010/main" val="29073597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font-weight property</a:t>
            </a:r>
          </a:p>
        </p:txBody>
      </p:sp>
      <p:sp>
        <p:nvSpPr>
          <p:cNvPr id="3" name="Content Placeholder 2"/>
          <p:cNvSpPr>
            <a:spLocks noGrp="1"/>
          </p:cNvSpPr>
          <p:nvPr>
            <p:ph idx="1"/>
          </p:nvPr>
        </p:nvSpPr>
        <p:spPr/>
        <p:txBody>
          <a:bodyPr/>
          <a:lstStyle/>
          <a:p>
            <a:r>
              <a:rPr lang="en-US" dirty="0"/>
              <a:t>The font-weight property is used to specify the weight of the font, such as the font boldness or thickness.</a:t>
            </a:r>
          </a:p>
          <a:p>
            <a:r>
              <a:rPr lang="en-US" dirty="0"/>
              <a:t>Font weight is a term used to signify the extent of boldness or thickness assigned to a character, when a particular font is applied to it.</a:t>
            </a:r>
          </a:p>
          <a:p>
            <a:r>
              <a:rPr lang="en-US" dirty="0"/>
              <a:t>For example, the font weight of a character written in the Cooper Black font , A, is more than the same letter , A , written in the Arial font. </a:t>
            </a:r>
          </a:p>
        </p:txBody>
      </p:sp>
    </p:spTree>
    <p:extLst>
      <p:ext uri="{BB962C8B-B14F-4D97-AF65-F5344CB8AC3E}">
        <p14:creationId xmlns:p14="http://schemas.microsoft.com/office/powerpoint/2010/main" val="38927911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943"/>
            <a:ext cx="10515600" cy="832610"/>
          </a:xfrm>
        </p:spPr>
        <p:txBody>
          <a:bodyPr/>
          <a:lstStyle/>
          <a:p>
            <a:r>
              <a:rPr lang="en-US" dirty="0"/>
              <a:t>values of the font-weight property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71986557"/>
              </p:ext>
            </p:extLst>
          </p:nvPr>
        </p:nvGraphicFramePr>
        <p:xfrm>
          <a:off x="838200" y="1004553"/>
          <a:ext cx="10515600" cy="54152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xmlns="" val="20000"/>
                    </a:ext>
                  </a:extLst>
                </a:gridCol>
                <a:gridCol w="5257800">
                  <a:extLst>
                    <a:ext uri="{9D8B030D-6E8A-4147-A177-3AD203B41FA5}">
                      <a16:colId xmlns:a16="http://schemas.microsoft.com/office/drawing/2014/main" xmlns="" val="20001"/>
                    </a:ext>
                  </a:extLst>
                </a:gridCol>
              </a:tblGrid>
              <a:tr h="370840">
                <a:tc>
                  <a:txBody>
                    <a:bodyPr/>
                    <a:lstStyle/>
                    <a:p>
                      <a:r>
                        <a:rPr lang="en-US" dirty="0"/>
                        <a:t>Values </a:t>
                      </a:r>
                    </a:p>
                  </a:txBody>
                  <a:tcPr/>
                </a:tc>
                <a:tc>
                  <a:txBody>
                    <a:bodyPr/>
                    <a:lstStyle/>
                    <a:p>
                      <a:r>
                        <a:rPr lang="en-US" dirty="0"/>
                        <a:t>Description</a:t>
                      </a:r>
                    </a:p>
                  </a:txBody>
                  <a:tcPr/>
                </a:tc>
                <a:extLst>
                  <a:ext uri="{0D108BD9-81ED-4DB2-BD59-A6C34878D82A}">
                    <a16:rowId xmlns:a16="http://schemas.microsoft.com/office/drawing/2014/main" xmlns="" val="10000"/>
                  </a:ext>
                </a:extLst>
              </a:tr>
              <a:tr h="370840">
                <a:tc>
                  <a:txBody>
                    <a:bodyPr/>
                    <a:lstStyle/>
                    <a:p>
                      <a:pPr algn="l" fontAlgn="t"/>
                      <a:r>
                        <a:rPr lang="en-US" dirty="0">
                          <a:effectLst/>
                        </a:rPr>
                        <a:t>normal</a:t>
                      </a:r>
                    </a:p>
                  </a:txBody>
                  <a:tcPr marL="152400" marR="76200" marT="76200" marB="76200"/>
                </a:tc>
                <a:tc>
                  <a:txBody>
                    <a:bodyPr/>
                    <a:lstStyle/>
                    <a:p>
                      <a:pPr algn="l" fontAlgn="t"/>
                      <a:r>
                        <a:rPr lang="en-US" dirty="0">
                          <a:effectLst/>
                        </a:rPr>
                        <a:t>Defines normal characters. This is default</a:t>
                      </a:r>
                    </a:p>
                  </a:txBody>
                  <a:tcPr marL="76200" marR="76200" marT="76200" marB="76200"/>
                </a:tc>
                <a:extLst>
                  <a:ext uri="{0D108BD9-81ED-4DB2-BD59-A6C34878D82A}">
                    <a16:rowId xmlns:a16="http://schemas.microsoft.com/office/drawing/2014/main" xmlns="" val="10001"/>
                  </a:ext>
                </a:extLst>
              </a:tr>
              <a:tr h="370840">
                <a:tc>
                  <a:txBody>
                    <a:bodyPr/>
                    <a:lstStyle/>
                    <a:p>
                      <a:pPr algn="l" fontAlgn="t"/>
                      <a:r>
                        <a:rPr lang="en-US" dirty="0">
                          <a:effectLst/>
                        </a:rPr>
                        <a:t>bold</a:t>
                      </a:r>
                    </a:p>
                  </a:txBody>
                  <a:tcPr marL="152400" marR="76200" marT="76200" marB="76200"/>
                </a:tc>
                <a:tc>
                  <a:txBody>
                    <a:bodyPr/>
                    <a:lstStyle/>
                    <a:p>
                      <a:pPr algn="l" fontAlgn="t"/>
                      <a:r>
                        <a:rPr lang="en-US" dirty="0">
                          <a:effectLst/>
                        </a:rPr>
                        <a:t>Defines thick characters</a:t>
                      </a:r>
                    </a:p>
                  </a:txBody>
                  <a:tcPr marL="76200" marR="76200" marT="76200" marB="76200"/>
                </a:tc>
                <a:extLst>
                  <a:ext uri="{0D108BD9-81ED-4DB2-BD59-A6C34878D82A}">
                    <a16:rowId xmlns:a16="http://schemas.microsoft.com/office/drawing/2014/main" xmlns="" val="10002"/>
                  </a:ext>
                </a:extLst>
              </a:tr>
              <a:tr h="370840">
                <a:tc>
                  <a:txBody>
                    <a:bodyPr/>
                    <a:lstStyle/>
                    <a:p>
                      <a:pPr algn="l" fontAlgn="t"/>
                      <a:r>
                        <a:rPr lang="en-US" dirty="0">
                          <a:effectLst/>
                        </a:rPr>
                        <a:t>bolder</a:t>
                      </a:r>
                    </a:p>
                  </a:txBody>
                  <a:tcPr marL="152400" marR="76200" marT="76200" marB="76200"/>
                </a:tc>
                <a:tc>
                  <a:txBody>
                    <a:bodyPr/>
                    <a:lstStyle/>
                    <a:p>
                      <a:pPr algn="l" fontAlgn="t"/>
                      <a:r>
                        <a:rPr lang="en-US" dirty="0">
                          <a:effectLst/>
                        </a:rPr>
                        <a:t>Defines thicker characters</a:t>
                      </a:r>
                    </a:p>
                  </a:txBody>
                  <a:tcPr marL="76200" marR="76200" marT="76200" marB="76200"/>
                </a:tc>
                <a:extLst>
                  <a:ext uri="{0D108BD9-81ED-4DB2-BD59-A6C34878D82A}">
                    <a16:rowId xmlns:a16="http://schemas.microsoft.com/office/drawing/2014/main" xmlns="" val="10003"/>
                  </a:ext>
                </a:extLst>
              </a:tr>
              <a:tr h="370840">
                <a:tc>
                  <a:txBody>
                    <a:bodyPr/>
                    <a:lstStyle/>
                    <a:p>
                      <a:pPr algn="l" fontAlgn="t"/>
                      <a:r>
                        <a:rPr lang="en-US" dirty="0">
                          <a:effectLst/>
                        </a:rPr>
                        <a:t>lighter</a:t>
                      </a:r>
                    </a:p>
                  </a:txBody>
                  <a:tcPr marL="152400" marR="76200" marT="76200" marB="76200"/>
                </a:tc>
                <a:tc>
                  <a:txBody>
                    <a:bodyPr/>
                    <a:lstStyle/>
                    <a:p>
                      <a:pPr algn="l" fontAlgn="t"/>
                      <a:r>
                        <a:rPr lang="en-US" dirty="0">
                          <a:effectLst/>
                        </a:rPr>
                        <a:t>Defines lighter characters</a:t>
                      </a:r>
                    </a:p>
                  </a:txBody>
                  <a:tcPr marL="76200" marR="76200" marT="76200" marB="76200"/>
                </a:tc>
                <a:extLst>
                  <a:ext uri="{0D108BD9-81ED-4DB2-BD59-A6C34878D82A}">
                    <a16:rowId xmlns:a16="http://schemas.microsoft.com/office/drawing/2014/main" xmlns="" val="10004"/>
                  </a:ext>
                </a:extLst>
              </a:tr>
              <a:tr h="370840">
                <a:tc>
                  <a:txBody>
                    <a:bodyPr/>
                    <a:lstStyle/>
                    <a:p>
                      <a:r>
                        <a:rPr lang="en-US" dirty="0"/>
                        <a:t>100</a:t>
                      </a:r>
                    </a:p>
                  </a:txBody>
                  <a:tcPr/>
                </a:tc>
                <a:tc>
                  <a:txBody>
                    <a:bodyPr/>
                    <a:lstStyle/>
                    <a:p>
                      <a:r>
                        <a:rPr lang="en-US" dirty="0"/>
                        <a:t>Represents the thin</a:t>
                      </a:r>
                      <a:r>
                        <a:rPr lang="en-US" baseline="0" dirty="0"/>
                        <a:t> font</a:t>
                      </a:r>
                      <a:endParaRPr lang="en-US" dirty="0"/>
                    </a:p>
                  </a:txBody>
                  <a:tcPr/>
                </a:tc>
                <a:extLst>
                  <a:ext uri="{0D108BD9-81ED-4DB2-BD59-A6C34878D82A}">
                    <a16:rowId xmlns:a16="http://schemas.microsoft.com/office/drawing/2014/main" xmlns="" val="10005"/>
                  </a:ext>
                </a:extLst>
              </a:tr>
              <a:tr h="370840">
                <a:tc>
                  <a:txBody>
                    <a:bodyPr/>
                    <a:lstStyle/>
                    <a:p>
                      <a:r>
                        <a:rPr lang="en-US" dirty="0"/>
                        <a:t>200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extra light</a:t>
                      </a:r>
                      <a:r>
                        <a:rPr lang="en-US" baseline="0" dirty="0"/>
                        <a:t> font</a:t>
                      </a:r>
                      <a:endParaRPr lang="en-US" dirty="0"/>
                    </a:p>
                  </a:txBody>
                  <a:tcPr/>
                </a:tc>
                <a:extLst>
                  <a:ext uri="{0D108BD9-81ED-4DB2-BD59-A6C34878D82A}">
                    <a16:rowId xmlns:a16="http://schemas.microsoft.com/office/drawing/2014/main" xmlns="" val="10006"/>
                  </a:ext>
                </a:extLst>
              </a:tr>
              <a:tr h="370840">
                <a:tc>
                  <a:txBody>
                    <a:bodyPr/>
                    <a:lstStyle/>
                    <a:p>
                      <a:r>
                        <a:rPr lang="en-US" dirty="0"/>
                        <a:t>300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light</a:t>
                      </a:r>
                      <a:r>
                        <a:rPr lang="en-US" baseline="0" dirty="0"/>
                        <a:t> font</a:t>
                      </a:r>
                      <a:endParaRPr lang="en-US" dirty="0"/>
                    </a:p>
                  </a:txBody>
                  <a:tcPr/>
                </a:tc>
                <a:extLst>
                  <a:ext uri="{0D108BD9-81ED-4DB2-BD59-A6C34878D82A}">
                    <a16:rowId xmlns:a16="http://schemas.microsoft.com/office/drawing/2014/main" xmlns="" val="10007"/>
                  </a:ext>
                </a:extLst>
              </a:tr>
              <a:tr h="370840">
                <a:tc>
                  <a:txBody>
                    <a:bodyPr/>
                    <a:lstStyle/>
                    <a:p>
                      <a:r>
                        <a:rPr lang="en-US" dirty="0"/>
                        <a:t>400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normal</a:t>
                      </a:r>
                      <a:r>
                        <a:rPr lang="en-US" baseline="0" dirty="0"/>
                        <a:t> font</a:t>
                      </a:r>
                      <a:endParaRPr lang="en-US" dirty="0"/>
                    </a:p>
                  </a:txBody>
                  <a:tcPr/>
                </a:tc>
                <a:extLst>
                  <a:ext uri="{0D108BD9-81ED-4DB2-BD59-A6C34878D82A}">
                    <a16:rowId xmlns:a16="http://schemas.microsoft.com/office/drawing/2014/main" xmlns="" val="10008"/>
                  </a:ext>
                </a:extLst>
              </a:tr>
              <a:tr h="370840">
                <a:tc>
                  <a:txBody>
                    <a:bodyPr/>
                    <a:lstStyle/>
                    <a:p>
                      <a:r>
                        <a:rPr lang="en-US" dirty="0"/>
                        <a:t>500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medium</a:t>
                      </a:r>
                      <a:r>
                        <a:rPr lang="en-US" baseline="0" dirty="0"/>
                        <a:t> font</a:t>
                      </a:r>
                      <a:endParaRPr lang="en-US" dirty="0"/>
                    </a:p>
                  </a:txBody>
                  <a:tcPr/>
                </a:tc>
                <a:extLst>
                  <a:ext uri="{0D108BD9-81ED-4DB2-BD59-A6C34878D82A}">
                    <a16:rowId xmlns:a16="http://schemas.microsoft.com/office/drawing/2014/main" xmlns="" val="10009"/>
                  </a:ext>
                </a:extLst>
              </a:tr>
              <a:tr h="370840">
                <a:tc>
                  <a:txBody>
                    <a:bodyPr/>
                    <a:lstStyle/>
                    <a:p>
                      <a:r>
                        <a:rPr lang="en-US" dirty="0"/>
                        <a:t>600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semi bold </a:t>
                      </a:r>
                      <a:r>
                        <a:rPr lang="en-US" baseline="0" dirty="0"/>
                        <a:t>font</a:t>
                      </a:r>
                      <a:endParaRPr lang="en-US" dirty="0"/>
                    </a:p>
                  </a:txBody>
                  <a:tcPr/>
                </a:tc>
                <a:extLst>
                  <a:ext uri="{0D108BD9-81ED-4DB2-BD59-A6C34878D82A}">
                    <a16:rowId xmlns:a16="http://schemas.microsoft.com/office/drawing/2014/main" xmlns="" val="10010"/>
                  </a:ext>
                </a:extLst>
              </a:tr>
              <a:tr h="370840">
                <a:tc>
                  <a:txBody>
                    <a:bodyPr/>
                    <a:lstStyle/>
                    <a:p>
                      <a:r>
                        <a:rPr lang="en-US" dirty="0"/>
                        <a:t>700</a:t>
                      </a:r>
                    </a:p>
                  </a:txBody>
                  <a:tcPr/>
                </a:tc>
                <a:tc>
                  <a:txBody>
                    <a:bodyPr/>
                    <a:lstStyle/>
                    <a:p>
                      <a:r>
                        <a:rPr lang="en-US" dirty="0"/>
                        <a:t>Represents the bold font</a:t>
                      </a:r>
                    </a:p>
                  </a:txBody>
                  <a:tcPr/>
                </a:tc>
                <a:extLst>
                  <a:ext uri="{0D108BD9-81ED-4DB2-BD59-A6C34878D82A}">
                    <a16:rowId xmlns:a16="http://schemas.microsoft.com/office/drawing/2014/main" xmlns="" val="10011"/>
                  </a:ext>
                </a:extLst>
              </a:tr>
              <a:tr h="370840">
                <a:tc>
                  <a:txBody>
                    <a:bodyPr/>
                    <a:lstStyle/>
                    <a:p>
                      <a:r>
                        <a:rPr lang="en-US" dirty="0"/>
                        <a:t>800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extra bold</a:t>
                      </a:r>
                      <a:r>
                        <a:rPr lang="en-US" baseline="0" dirty="0"/>
                        <a:t> font</a:t>
                      </a:r>
                      <a:endParaRPr lang="en-US" dirty="0"/>
                    </a:p>
                  </a:txBody>
                  <a:tcPr/>
                </a:tc>
                <a:extLst>
                  <a:ext uri="{0D108BD9-81ED-4DB2-BD59-A6C34878D82A}">
                    <a16:rowId xmlns:a16="http://schemas.microsoft.com/office/drawing/2014/main" xmlns="" val="10012"/>
                  </a:ext>
                </a:extLst>
              </a:tr>
              <a:tr h="370840">
                <a:tc>
                  <a:txBody>
                    <a:bodyPr/>
                    <a:lstStyle/>
                    <a:p>
                      <a:r>
                        <a:rPr lang="en-US" dirty="0"/>
                        <a:t>900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Represents the black (heavy)</a:t>
                      </a:r>
                      <a:r>
                        <a:rPr lang="en-US" baseline="0" dirty="0"/>
                        <a:t> font</a:t>
                      </a:r>
                      <a:endParaRPr lang="en-US" dirty="0"/>
                    </a:p>
                  </a:txBody>
                  <a:tcPr/>
                </a:tc>
                <a:extLst>
                  <a:ext uri="{0D108BD9-81ED-4DB2-BD59-A6C34878D82A}">
                    <a16:rowId xmlns:a16="http://schemas.microsoft.com/office/drawing/2014/main" xmlns="" val="10013"/>
                  </a:ext>
                </a:extLst>
              </a:tr>
            </a:tbl>
          </a:graphicData>
        </a:graphic>
      </p:graphicFrame>
    </p:spTree>
    <p:extLst>
      <p:ext uri="{BB962C8B-B14F-4D97-AF65-F5344CB8AC3E}">
        <p14:creationId xmlns:p14="http://schemas.microsoft.com/office/powerpoint/2010/main" val="23643578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font-weight property</a:t>
            </a:r>
          </a:p>
        </p:txBody>
      </p:sp>
      <p:pic>
        <p:nvPicPr>
          <p:cNvPr id="4" name="Content Placeholder 3"/>
          <p:cNvPicPr>
            <a:picLocks noGrp="1" noChangeAspect="1"/>
          </p:cNvPicPr>
          <p:nvPr>
            <p:ph idx="1"/>
          </p:nvPr>
        </p:nvPicPr>
        <p:blipFill>
          <a:blip r:embed="rId2"/>
          <a:stretch>
            <a:fillRect/>
          </a:stretch>
        </p:blipFill>
        <p:spPr>
          <a:xfrm>
            <a:off x="975440" y="2931945"/>
            <a:ext cx="4857750" cy="3143250"/>
          </a:xfrm>
          <a:prstGeom prst="rect">
            <a:avLst/>
          </a:prstGeom>
        </p:spPr>
      </p:pic>
      <p:pic>
        <p:nvPicPr>
          <p:cNvPr id="5" name="Picture 4"/>
          <p:cNvPicPr>
            <a:picLocks noChangeAspect="1"/>
          </p:cNvPicPr>
          <p:nvPr/>
        </p:nvPicPr>
        <p:blipFill>
          <a:blip r:embed="rId3"/>
          <a:stretch>
            <a:fillRect/>
          </a:stretch>
        </p:blipFill>
        <p:spPr>
          <a:xfrm>
            <a:off x="7284210" y="3574882"/>
            <a:ext cx="3676650" cy="1857375"/>
          </a:xfrm>
          <a:prstGeom prst="rect">
            <a:avLst/>
          </a:prstGeom>
        </p:spPr>
      </p:pic>
      <p:sp>
        <p:nvSpPr>
          <p:cNvPr id="6" name="Title 1"/>
          <p:cNvSpPr txBox="1">
            <a:spLocks/>
          </p:cNvSpPr>
          <p:nvPr/>
        </p:nvSpPr>
        <p:spPr>
          <a:xfrm>
            <a:off x="1809469" y="15532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fontWeight.html</a:t>
            </a:r>
          </a:p>
        </p:txBody>
      </p:sp>
      <p:sp>
        <p:nvSpPr>
          <p:cNvPr id="7" name="Title 1"/>
          <p:cNvSpPr txBox="1">
            <a:spLocks/>
          </p:cNvSpPr>
          <p:nvPr/>
        </p:nvSpPr>
        <p:spPr>
          <a:xfrm>
            <a:off x="7170165" y="1681365"/>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30412933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 Property</a:t>
            </a:r>
          </a:p>
        </p:txBody>
      </p:sp>
      <p:pic>
        <p:nvPicPr>
          <p:cNvPr id="4" name="Content Placeholder 3"/>
          <p:cNvPicPr>
            <a:picLocks noGrp="1" noChangeAspect="1"/>
          </p:cNvPicPr>
          <p:nvPr>
            <p:ph idx="1"/>
          </p:nvPr>
        </p:nvPicPr>
        <p:blipFill>
          <a:blip r:embed="rId2"/>
          <a:stretch>
            <a:fillRect/>
          </a:stretch>
        </p:blipFill>
        <p:spPr>
          <a:xfrm>
            <a:off x="998359" y="1851383"/>
            <a:ext cx="3781604" cy="4351338"/>
          </a:xfrm>
          <a:prstGeom prst="rect">
            <a:avLst/>
          </a:prstGeom>
        </p:spPr>
      </p:pic>
      <p:pic>
        <p:nvPicPr>
          <p:cNvPr id="5" name="Picture 4"/>
          <p:cNvPicPr>
            <a:picLocks noChangeAspect="1"/>
          </p:cNvPicPr>
          <p:nvPr/>
        </p:nvPicPr>
        <p:blipFill>
          <a:blip r:embed="rId3"/>
          <a:stretch>
            <a:fillRect/>
          </a:stretch>
        </p:blipFill>
        <p:spPr>
          <a:xfrm>
            <a:off x="6096000" y="3682150"/>
            <a:ext cx="4724400" cy="1657350"/>
          </a:xfrm>
          <a:prstGeom prst="rect">
            <a:avLst/>
          </a:prstGeom>
        </p:spPr>
      </p:pic>
      <p:sp>
        <p:nvSpPr>
          <p:cNvPr id="6" name="Title 1"/>
          <p:cNvSpPr txBox="1">
            <a:spLocks/>
          </p:cNvSpPr>
          <p:nvPr/>
        </p:nvSpPr>
        <p:spPr>
          <a:xfrm>
            <a:off x="1809469" y="15532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BorderColor.html</a:t>
            </a:r>
          </a:p>
        </p:txBody>
      </p:sp>
      <p:sp>
        <p:nvSpPr>
          <p:cNvPr id="7" name="Title 1"/>
          <p:cNvSpPr txBox="1">
            <a:spLocks/>
          </p:cNvSpPr>
          <p:nvPr/>
        </p:nvSpPr>
        <p:spPr>
          <a:xfrm>
            <a:off x="7449061" y="1681365"/>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output</a:t>
            </a:r>
          </a:p>
        </p:txBody>
      </p:sp>
    </p:spTree>
    <p:extLst>
      <p:ext uri="{BB962C8B-B14F-4D97-AF65-F5344CB8AC3E}">
        <p14:creationId xmlns:p14="http://schemas.microsoft.com/office/powerpoint/2010/main" val="23029139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 Image Property</a:t>
            </a:r>
          </a:p>
        </p:txBody>
      </p:sp>
      <p:sp>
        <p:nvSpPr>
          <p:cNvPr id="3" name="Content Placeholder 2"/>
          <p:cNvSpPr>
            <a:spLocks noGrp="1"/>
          </p:cNvSpPr>
          <p:nvPr>
            <p:ph idx="1"/>
          </p:nvPr>
        </p:nvSpPr>
        <p:spPr/>
        <p:txBody>
          <a:bodyPr>
            <a:normAutofit lnSpcReduction="10000"/>
          </a:bodyPr>
          <a:lstStyle/>
          <a:p>
            <a:r>
              <a:rPr lang="en-US" dirty="0"/>
              <a:t>Border Image Property allows you to specify an image to be used as the border around an element.</a:t>
            </a:r>
          </a:p>
          <a:p>
            <a:r>
              <a:rPr lang="en-US" dirty="0"/>
              <a:t>The border-image property is a shorthand property for:</a:t>
            </a:r>
          </a:p>
          <a:p>
            <a:pPr marL="514350" indent="-514350">
              <a:buFont typeface="+mj-lt"/>
              <a:buAutoNum type="arabicPeriod"/>
            </a:pPr>
            <a:r>
              <a:rPr lang="en-US" dirty="0"/>
              <a:t>Border-image-source</a:t>
            </a:r>
          </a:p>
          <a:p>
            <a:pPr marL="514350" indent="-514350">
              <a:buFont typeface="+mj-lt"/>
              <a:buAutoNum type="arabicPeriod"/>
            </a:pPr>
            <a:r>
              <a:rPr lang="en-US" dirty="0"/>
              <a:t>Border-image-slice</a:t>
            </a:r>
          </a:p>
          <a:p>
            <a:pPr marL="514350" indent="-514350">
              <a:buFont typeface="+mj-lt"/>
              <a:buAutoNum type="arabicPeriod"/>
            </a:pPr>
            <a:r>
              <a:rPr lang="en-US" dirty="0"/>
              <a:t>Border-image-width</a:t>
            </a:r>
          </a:p>
          <a:p>
            <a:pPr marL="514350" indent="-514350">
              <a:buFont typeface="+mj-lt"/>
              <a:buAutoNum type="arabicPeriod"/>
            </a:pPr>
            <a:r>
              <a:rPr lang="en-US" dirty="0"/>
              <a:t>Border-image-outset</a:t>
            </a:r>
          </a:p>
          <a:p>
            <a:pPr marL="514350" indent="-514350">
              <a:buFont typeface="+mj-lt"/>
              <a:buAutoNum type="arabicPeriod"/>
            </a:pPr>
            <a:r>
              <a:rPr lang="en-US" dirty="0"/>
              <a:t>Border-image-repeat</a:t>
            </a:r>
          </a:p>
          <a:p>
            <a:r>
              <a:rPr lang="en-US" dirty="0"/>
              <a:t>Omitted values are set to their default values.</a:t>
            </a:r>
          </a:p>
          <a:p>
            <a:endParaRPr lang="en-US" dirty="0"/>
          </a:p>
        </p:txBody>
      </p:sp>
    </p:spTree>
    <p:extLst>
      <p:ext uri="{BB962C8B-B14F-4D97-AF65-F5344CB8AC3E}">
        <p14:creationId xmlns:p14="http://schemas.microsoft.com/office/powerpoint/2010/main" val="5446234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 Image Property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071145"/>
              </p:ext>
            </p:extLst>
          </p:nvPr>
        </p:nvGraphicFramePr>
        <p:xfrm>
          <a:off x="838200" y="1825623"/>
          <a:ext cx="10515600" cy="2978196"/>
        </p:xfrm>
        <a:graphic>
          <a:graphicData uri="http://schemas.openxmlformats.org/drawingml/2006/table">
            <a:tbl>
              <a:tblPr firstRow="1" bandRow="1">
                <a:tableStyleId>{93296810-A885-4BE3-A3E7-6D5BEEA58F35}</a:tableStyleId>
              </a:tblPr>
              <a:tblGrid>
                <a:gridCol w="2664854">
                  <a:extLst>
                    <a:ext uri="{9D8B030D-6E8A-4147-A177-3AD203B41FA5}">
                      <a16:colId xmlns:a16="http://schemas.microsoft.com/office/drawing/2014/main" xmlns="" val="20000"/>
                    </a:ext>
                  </a:extLst>
                </a:gridCol>
                <a:gridCol w="7850746">
                  <a:extLst>
                    <a:ext uri="{9D8B030D-6E8A-4147-A177-3AD203B41FA5}">
                      <a16:colId xmlns:a16="http://schemas.microsoft.com/office/drawing/2014/main" xmlns="" val="20001"/>
                    </a:ext>
                  </a:extLst>
                </a:gridCol>
              </a:tblGrid>
              <a:tr h="496366">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xmlns="" val="10000"/>
                  </a:ext>
                </a:extLst>
              </a:tr>
              <a:tr h="4963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Border-image-source</a:t>
                      </a:r>
                    </a:p>
                  </a:txBody>
                  <a:tcPr/>
                </a:tc>
                <a:tc>
                  <a:txBody>
                    <a:bodyPr/>
                    <a:lstStyle/>
                    <a:p>
                      <a:r>
                        <a:rPr lang="en-US" sz="1800" b="0" i="0" kern="1200" dirty="0">
                          <a:solidFill>
                            <a:schemeClr val="dk1"/>
                          </a:solidFill>
                          <a:effectLst/>
                          <a:latin typeface="+mn-lt"/>
                          <a:ea typeface="+mn-ea"/>
                          <a:cs typeface="+mn-cs"/>
                        </a:rPr>
                        <a:t>The path to the image to be used as a border</a:t>
                      </a:r>
                      <a:endParaRPr lang="en-US" dirty="0"/>
                    </a:p>
                  </a:txBody>
                  <a:tcPr/>
                </a:tc>
                <a:extLst>
                  <a:ext uri="{0D108BD9-81ED-4DB2-BD59-A6C34878D82A}">
                    <a16:rowId xmlns:a16="http://schemas.microsoft.com/office/drawing/2014/main" xmlns="" val="10001"/>
                  </a:ext>
                </a:extLst>
              </a:tr>
              <a:tr h="4963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Border-image-slice</a:t>
                      </a:r>
                    </a:p>
                  </a:txBody>
                  <a:tcPr/>
                </a:tc>
                <a:tc>
                  <a:txBody>
                    <a:bodyPr/>
                    <a:lstStyle/>
                    <a:p>
                      <a:r>
                        <a:rPr lang="en-US" sz="1800" b="0" i="0" kern="1200" dirty="0">
                          <a:solidFill>
                            <a:schemeClr val="dk1"/>
                          </a:solidFill>
                          <a:effectLst/>
                          <a:latin typeface="+mn-lt"/>
                          <a:ea typeface="+mn-ea"/>
                          <a:cs typeface="+mn-cs"/>
                        </a:rPr>
                        <a:t>How to slice the border image</a:t>
                      </a:r>
                      <a:endParaRPr lang="en-US" dirty="0"/>
                    </a:p>
                  </a:txBody>
                  <a:tcPr/>
                </a:tc>
                <a:extLst>
                  <a:ext uri="{0D108BD9-81ED-4DB2-BD59-A6C34878D82A}">
                    <a16:rowId xmlns:a16="http://schemas.microsoft.com/office/drawing/2014/main" xmlns="" val="10002"/>
                  </a:ext>
                </a:extLst>
              </a:tr>
              <a:tr h="4963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Border-image-width</a:t>
                      </a:r>
                    </a:p>
                  </a:txBody>
                  <a:tcPr/>
                </a:tc>
                <a:tc>
                  <a:txBody>
                    <a:bodyPr/>
                    <a:lstStyle/>
                    <a:p>
                      <a:r>
                        <a:rPr lang="en-US" sz="1800" b="0" i="0" kern="1200" dirty="0">
                          <a:solidFill>
                            <a:schemeClr val="dk1"/>
                          </a:solidFill>
                          <a:effectLst/>
                          <a:latin typeface="+mn-lt"/>
                          <a:ea typeface="+mn-ea"/>
                          <a:cs typeface="+mn-cs"/>
                        </a:rPr>
                        <a:t>The width of the border image</a:t>
                      </a:r>
                      <a:endParaRPr lang="en-US" dirty="0"/>
                    </a:p>
                  </a:txBody>
                  <a:tcPr/>
                </a:tc>
                <a:extLst>
                  <a:ext uri="{0D108BD9-81ED-4DB2-BD59-A6C34878D82A}">
                    <a16:rowId xmlns:a16="http://schemas.microsoft.com/office/drawing/2014/main" xmlns="" val="10003"/>
                  </a:ext>
                </a:extLst>
              </a:tr>
              <a:tr h="4963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Border-image-outset</a:t>
                      </a:r>
                    </a:p>
                  </a:txBody>
                  <a:tcPr/>
                </a:tc>
                <a:tc>
                  <a:txBody>
                    <a:bodyPr/>
                    <a:lstStyle/>
                    <a:p>
                      <a:r>
                        <a:rPr lang="en-US" sz="1800" b="0" i="0" kern="1200" dirty="0">
                          <a:solidFill>
                            <a:schemeClr val="dk1"/>
                          </a:solidFill>
                          <a:effectLst/>
                          <a:latin typeface="+mn-lt"/>
                          <a:ea typeface="+mn-ea"/>
                          <a:cs typeface="+mn-cs"/>
                        </a:rPr>
                        <a:t>The amount by which the border image area extends beyond the border box</a:t>
                      </a:r>
                      <a:endParaRPr lang="en-US" dirty="0"/>
                    </a:p>
                  </a:txBody>
                  <a:tcPr/>
                </a:tc>
                <a:extLst>
                  <a:ext uri="{0D108BD9-81ED-4DB2-BD59-A6C34878D82A}">
                    <a16:rowId xmlns:a16="http://schemas.microsoft.com/office/drawing/2014/main" xmlns="" val="10004"/>
                  </a:ext>
                </a:extLst>
              </a:tr>
              <a:tr h="4963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Border-image-repeat</a:t>
                      </a:r>
                    </a:p>
                  </a:txBody>
                  <a:tcPr/>
                </a:tc>
                <a:tc>
                  <a:txBody>
                    <a:bodyPr/>
                    <a:lstStyle/>
                    <a:p>
                      <a:r>
                        <a:rPr lang="en-US" sz="1800" b="0" i="0" kern="1200" dirty="0">
                          <a:solidFill>
                            <a:schemeClr val="dk1"/>
                          </a:solidFill>
                          <a:effectLst/>
                          <a:latin typeface="+mn-lt"/>
                          <a:ea typeface="+mn-ea"/>
                          <a:cs typeface="+mn-cs"/>
                        </a:rPr>
                        <a:t>Whether the border image should be repeated, rounded or stretched</a:t>
                      </a:r>
                      <a:endParaRPr lang="en-US" dirty="0"/>
                    </a:p>
                  </a:txBody>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7536293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Border-image-source</a:t>
            </a:r>
          </a:p>
        </p:txBody>
      </p:sp>
      <p:pic>
        <p:nvPicPr>
          <p:cNvPr id="4" name="Content Placeholder 3"/>
          <p:cNvPicPr>
            <a:picLocks noGrp="1" noChangeAspect="1"/>
          </p:cNvPicPr>
          <p:nvPr>
            <p:ph idx="1"/>
          </p:nvPr>
        </p:nvPicPr>
        <p:blipFill>
          <a:blip r:embed="rId2"/>
          <a:stretch>
            <a:fillRect/>
          </a:stretch>
        </p:blipFill>
        <p:spPr>
          <a:xfrm>
            <a:off x="1069215" y="2024521"/>
            <a:ext cx="9486900" cy="4133850"/>
          </a:xfrm>
          <a:prstGeom prst="rect">
            <a:avLst/>
          </a:prstGeom>
        </p:spPr>
      </p:pic>
      <p:sp>
        <p:nvSpPr>
          <p:cNvPr id="5" name="Title 1"/>
          <p:cNvSpPr txBox="1">
            <a:spLocks/>
          </p:cNvSpPr>
          <p:nvPr/>
        </p:nvSpPr>
        <p:spPr>
          <a:xfrm>
            <a:off x="1809469" y="15532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BorderImage.html</a:t>
            </a:r>
          </a:p>
        </p:txBody>
      </p:sp>
    </p:spTree>
    <p:extLst>
      <p:ext uri="{BB962C8B-B14F-4D97-AF65-F5344CB8AC3E}">
        <p14:creationId xmlns:p14="http://schemas.microsoft.com/office/powerpoint/2010/main" val="11082579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Border-image-source</a:t>
            </a:r>
          </a:p>
        </p:txBody>
      </p:sp>
      <p:pic>
        <p:nvPicPr>
          <p:cNvPr id="4" name="Content Placeholder 3"/>
          <p:cNvPicPr>
            <a:picLocks noGrp="1" noChangeAspect="1"/>
          </p:cNvPicPr>
          <p:nvPr>
            <p:ph idx="1"/>
          </p:nvPr>
        </p:nvPicPr>
        <p:blipFill>
          <a:blip r:embed="rId2"/>
          <a:stretch>
            <a:fillRect/>
          </a:stretch>
        </p:blipFill>
        <p:spPr>
          <a:xfrm>
            <a:off x="1151531" y="1690688"/>
            <a:ext cx="8935902" cy="4351338"/>
          </a:xfrm>
          <a:prstGeom prst="rect">
            <a:avLst/>
          </a:prstGeom>
        </p:spPr>
      </p:pic>
    </p:spTree>
    <p:extLst>
      <p:ext uri="{BB962C8B-B14F-4D97-AF65-F5344CB8AC3E}">
        <p14:creationId xmlns:p14="http://schemas.microsoft.com/office/powerpoint/2010/main" val="11730328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Border-image-slice</a:t>
            </a:r>
          </a:p>
        </p:txBody>
      </p:sp>
      <p:pic>
        <p:nvPicPr>
          <p:cNvPr id="5" name="Content Placeholder 4"/>
          <p:cNvPicPr>
            <a:picLocks noGrp="1" noChangeAspect="1"/>
          </p:cNvPicPr>
          <p:nvPr>
            <p:ph idx="1"/>
          </p:nvPr>
        </p:nvPicPr>
        <p:blipFill>
          <a:blip r:embed="rId2"/>
          <a:stretch>
            <a:fillRect/>
          </a:stretch>
        </p:blipFill>
        <p:spPr>
          <a:xfrm>
            <a:off x="4597758" y="1582603"/>
            <a:ext cx="4636395" cy="4893971"/>
          </a:xfrm>
          <a:prstGeom prst="rect">
            <a:avLst/>
          </a:prstGeom>
        </p:spPr>
      </p:pic>
      <p:sp>
        <p:nvSpPr>
          <p:cNvPr id="6" name="Title 1"/>
          <p:cNvSpPr txBox="1">
            <a:spLocks/>
          </p:cNvSpPr>
          <p:nvPr/>
        </p:nvSpPr>
        <p:spPr>
          <a:xfrm>
            <a:off x="1809469" y="1553290"/>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BorderImageSlice.html</a:t>
            </a:r>
          </a:p>
        </p:txBody>
      </p:sp>
    </p:spTree>
    <p:extLst>
      <p:ext uri="{BB962C8B-B14F-4D97-AF65-F5344CB8AC3E}">
        <p14:creationId xmlns:p14="http://schemas.microsoft.com/office/powerpoint/2010/main" val="198793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Border-image-slice</a:t>
            </a:r>
          </a:p>
        </p:txBody>
      </p:sp>
      <p:pic>
        <p:nvPicPr>
          <p:cNvPr id="4" name="Content Placeholder 3"/>
          <p:cNvPicPr>
            <a:picLocks noGrp="1" noChangeAspect="1"/>
          </p:cNvPicPr>
          <p:nvPr>
            <p:ph idx="1"/>
          </p:nvPr>
        </p:nvPicPr>
        <p:blipFill>
          <a:blip r:embed="rId2"/>
          <a:stretch>
            <a:fillRect/>
          </a:stretch>
        </p:blipFill>
        <p:spPr>
          <a:xfrm>
            <a:off x="1524040" y="1825625"/>
            <a:ext cx="9143919" cy="4351338"/>
          </a:xfrm>
          <a:prstGeom prst="rect">
            <a:avLst/>
          </a:prstGeom>
        </p:spPr>
      </p:pic>
    </p:spTree>
    <p:extLst>
      <p:ext uri="{BB962C8B-B14F-4D97-AF65-F5344CB8AC3E}">
        <p14:creationId xmlns:p14="http://schemas.microsoft.com/office/powerpoint/2010/main" val="12814370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Border-image-width</a:t>
            </a:r>
          </a:p>
        </p:txBody>
      </p:sp>
      <p:pic>
        <p:nvPicPr>
          <p:cNvPr id="4" name="Content Placeholder 3"/>
          <p:cNvPicPr>
            <a:picLocks noGrp="1" noChangeAspect="1"/>
          </p:cNvPicPr>
          <p:nvPr>
            <p:ph idx="1"/>
          </p:nvPr>
        </p:nvPicPr>
        <p:blipFill>
          <a:blip r:embed="rId2"/>
          <a:stretch>
            <a:fillRect/>
          </a:stretch>
        </p:blipFill>
        <p:spPr>
          <a:xfrm>
            <a:off x="2833352" y="1545464"/>
            <a:ext cx="5485687" cy="5035639"/>
          </a:xfrm>
          <a:prstGeom prst="rect">
            <a:avLst/>
          </a:prstGeom>
        </p:spPr>
      </p:pic>
      <p:sp>
        <p:nvSpPr>
          <p:cNvPr id="5" name="Title 1"/>
          <p:cNvSpPr txBox="1">
            <a:spLocks/>
          </p:cNvSpPr>
          <p:nvPr/>
        </p:nvSpPr>
        <p:spPr>
          <a:xfrm>
            <a:off x="7772388" y="1729324"/>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BorderImageWidth.html</a:t>
            </a:r>
          </a:p>
        </p:txBody>
      </p:sp>
    </p:spTree>
    <p:extLst>
      <p:ext uri="{BB962C8B-B14F-4D97-AF65-F5344CB8AC3E}">
        <p14:creationId xmlns:p14="http://schemas.microsoft.com/office/powerpoint/2010/main" val="14357217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Border-image-width</a:t>
            </a:r>
          </a:p>
        </p:txBody>
      </p:sp>
      <p:pic>
        <p:nvPicPr>
          <p:cNvPr id="4" name="Content Placeholder 3"/>
          <p:cNvPicPr>
            <a:picLocks noGrp="1" noChangeAspect="1"/>
          </p:cNvPicPr>
          <p:nvPr>
            <p:ph idx="1"/>
          </p:nvPr>
        </p:nvPicPr>
        <p:blipFill>
          <a:blip r:embed="rId2"/>
          <a:stretch>
            <a:fillRect/>
          </a:stretch>
        </p:blipFill>
        <p:spPr>
          <a:xfrm>
            <a:off x="1524040" y="1825625"/>
            <a:ext cx="9143919" cy="4351338"/>
          </a:xfrm>
          <a:prstGeom prst="rect">
            <a:avLst/>
          </a:prstGeom>
        </p:spPr>
      </p:pic>
    </p:spTree>
    <p:extLst>
      <p:ext uri="{BB962C8B-B14F-4D97-AF65-F5344CB8AC3E}">
        <p14:creationId xmlns:p14="http://schemas.microsoft.com/office/powerpoint/2010/main" val="328724346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Border-image-outset</a:t>
            </a:r>
          </a:p>
        </p:txBody>
      </p:sp>
      <p:pic>
        <p:nvPicPr>
          <p:cNvPr id="4" name="Content Placeholder 3"/>
          <p:cNvPicPr>
            <a:picLocks noGrp="1" noChangeAspect="1"/>
          </p:cNvPicPr>
          <p:nvPr>
            <p:ph idx="1"/>
          </p:nvPr>
        </p:nvPicPr>
        <p:blipFill>
          <a:blip r:embed="rId2"/>
          <a:stretch>
            <a:fillRect/>
          </a:stretch>
        </p:blipFill>
        <p:spPr>
          <a:xfrm>
            <a:off x="1263276" y="1825625"/>
            <a:ext cx="3998743" cy="4351338"/>
          </a:xfrm>
          <a:prstGeom prst="rect">
            <a:avLst/>
          </a:prstGeom>
        </p:spPr>
      </p:pic>
      <p:sp>
        <p:nvSpPr>
          <p:cNvPr id="5" name="Title 1"/>
          <p:cNvSpPr txBox="1">
            <a:spLocks/>
          </p:cNvSpPr>
          <p:nvPr/>
        </p:nvSpPr>
        <p:spPr>
          <a:xfrm>
            <a:off x="7772388" y="1729324"/>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BorderImageOutset.html</a:t>
            </a:r>
          </a:p>
        </p:txBody>
      </p:sp>
    </p:spTree>
    <p:extLst>
      <p:ext uri="{BB962C8B-B14F-4D97-AF65-F5344CB8AC3E}">
        <p14:creationId xmlns:p14="http://schemas.microsoft.com/office/powerpoint/2010/main" val="21103797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Border-image-outset</a:t>
            </a:r>
          </a:p>
        </p:txBody>
      </p:sp>
      <p:pic>
        <p:nvPicPr>
          <p:cNvPr id="4" name="Content Placeholder 3"/>
          <p:cNvPicPr>
            <a:picLocks noGrp="1" noChangeAspect="1"/>
          </p:cNvPicPr>
          <p:nvPr>
            <p:ph idx="1"/>
          </p:nvPr>
        </p:nvPicPr>
        <p:blipFill>
          <a:blip r:embed="rId2"/>
          <a:stretch>
            <a:fillRect/>
          </a:stretch>
        </p:blipFill>
        <p:spPr>
          <a:xfrm>
            <a:off x="1484123" y="1825625"/>
            <a:ext cx="9223753" cy="4351338"/>
          </a:xfrm>
          <a:prstGeom prst="rect">
            <a:avLst/>
          </a:prstGeom>
        </p:spPr>
      </p:pic>
    </p:spTree>
    <p:extLst>
      <p:ext uri="{BB962C8B-B14F-4D97-AF65-F5344CB8AC3E}">
        <p14:creationId xmlns:p14="http://schemas.microsoft.com/office/powerpoint/2010/main" val="3492186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Border-image-repeat</a:t>
            </a:r>
          </a:p>
        </p:txBody>
      </p:sp>
      <p:pic>
        <p:nvPicPr>
          <p:cNvPr id="4" name="Content Placeholder 3"/>
          <p:cNvPicPr>
            <a:picLocks noGrp="1" noChangeAspect="1"/>
          </p:cNvPicPr>
          <p:nvPr>
            <p:ph idx="1"/>
          </p:nvPr>
        </p:nvPicPr>
        <p:blipFill>
          <a:blip r:embed="rId2"/>
          <a:stretch>
            <a:fillRect/>
          </a:stretch>
        </p:blipFill>
        <p:spPr>
          <a:xfrm>
            <a:off x="2398434" y="1825625"/>
            <a:ext cx="7395131" cy="4351338"/>
          </a:xfrm>
          <a:prstGeom prst="rect">
            <a:avLst/>
          </a:prstGeom>
        </p:spPr>
      </p:pic>
      <p:sp>
        <p:nvSpPr>
          <p:cNvPr id="5" name="Title 1"/>
          <p:cNvSpPr txBox="1">
            <a:spLocks/>
          </p:cNvSpPr>
          <p:nvPr/>
        </p:nvSpPr>
        <p:spPr>
          <a:xfrm>
            <a:off x="7772388" y="1729324"/>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BorderImageRepeat.html</a:t>
            </a:r>
          </a:p>
        </p:txBody>
      </p:sp>
    </p:spTree>
    <p:extLst>
      <p:ext uri="{BB962C8B-B14F-4D97-AF65-F5344CB8AC3E}">
        <p14:creationId xmlns:p14="http://schemas.microsoft.com/office/powerpoint/2010/main" val="42477790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Border-image-repeat</a:t>
            </a:r>
          </a:p>
        </p:txBody>
      </p:sp>
      <p:pic>
        <p:nvPicPr>
          <p:cNvPr id="4" name="Content Placeholder 3"/>
          <p:cNvPicPr>
            <a:picLocks noGrp="1" noChangeAspect="1"/>
          </p:cNvPicPr>
          <p:nvPr>
            <p:ph idx="1"/>
          </p:nvPr>
        </p:nvPicPr>
        <p:blipFill>
          <a:blip r:embed="rId2"/>
          <a:stretch>
            <a:fillRect/>
          </a:stretch>
        </p:blipFill>
        <p:spPr>
          <a:xfrm>
            <a:off x="1535000" y="1825625"/>
            <a:ext cx="9121999" cy="4351338"/>
          </a:xfrm>
          <a:prstGeom prst="rect">
            <a:avLst/>
          </a:prstGeom>
        </p:spPr>
      </p:pic>
    </p:spTree>
    <p:extLst>
      <p:ext uri="{BB962C8B-B14F-4D97-AF65-F5344CB8AC3E}">
        <p14:creationId xmlns:p14="http://schemas.microsoft.com/office/powerpoint/2010/main" val="10322379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margins</a:t>
            </a:r>
          </a:p>
        </p:txBody>
      </p:sp>
      <p:sp>
        <p:nvSpPr>
          <p:cNvPr id="3" name="Content Placeholder 2"/>
          <p:cNvSpPr>
            <a:spLocks noGrp="1"/>
          </p:cNvSpPr>
          <p:nvPr>
            <p:ph idx="1"/>
          </p:nvPr>
        </p:nvSpPr>
        <p:spPr/>
        <p:txBody>
          <a:bodyPr>
            <a:normAutofit fontScale="92500" lnSpcReduction="10000"/>
          </a:bodyPr>
          <a:lstStyle/>
          <a:p>
            <a:r>
              <a:rPr lang="en-US" dirty="0"/>
              <a:t>The CSS margin  properties are used to create space around elements, outside of any defined borders.</a:t>
            </a:r>
          </a:p>
          <a:p>
            <a:r>
              <a:rPr lang="en-US" dirty="0"/>
              <a:t>With CSS, you have full control over the margins. There are properties for setting the margin for each side of an element (top, right, bottom, and left).</a:t>
            </a:r>
          </a:p>
          <a:p>
            <a:r>
              <a:rPr lang="en-US" dirty="0"/>
              <a:t>CSS has properties for specifying the margin for each side of an element:</a:t>
            </a:r>
          </a:p>
          <a:p>
            <a:pPr marL="514350" indent="-514350">
              <a:buFont typeface="+mj-lt"/>
              <a:buAutoNum type="arabicPeriod"/>
            </a:pPr>
            <a:r>
              <a:rPr lang="en-US" dirty="0"/>
              <a:t>Margin-top</a:t>
            </a:r>
          </a:p>
          <a:p>
            <a:pPr marL="514350" indent="-514350">
              <a:buFont typeface="+mj-lt"/>
              <a:buAutoNum type="arabicPeriod"/>
            </a:pPr>
            <a:r>
              <a:rPr lang="en-US" dirty="0"/>
              <a:t>Margin-bottom</a:t>
            </a:r>
          </a:p>
          <a:p>
            <a:pPr marL="514350" indent="-514350">
              <a:buFont typeface="+mj-lt"/>
              <a:buAutoNum type="arabicPeriod"/>
            </a:pPr>
            <a:r>
              <a:rPr lang="en-US" dirty="0"/>
              <a:t>Margin-right</a:t>
            </a:r>
          </a:p>
          <a:p>
            <a:pPr marL="514350" indent="-514350">
              <a:buFont typeface="+mj-lt"/>
              <a:buAutoNum type="arabicPeriod"/>
            </a:pPr>
            <a:r>
              <a:rPr lang="en-US" dirty="0"/>
              <a:t>Margin-left</a:t>
            </a:r>
          </a:p>
        </p:txBody>
      </p:sp>
    </p:spTree>
    <p:extLst>
      <p:ext uri="{BB962C8B-B14F-4D97-AF65-F5344CB8AC3E}">
        <p14:creationId xmlns:p14="http://schemas.microsoft.com/office/powerpoint/2010/main" val="11918174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9555" y="390883"/>
            <a:ext cx="7078014" cy="1325563"/>
          </a:xfrm>
        </p:spPr>
        <p:txBody>
          <a:bodyPr/>
          <a:lstStyle/>
          <a:p>
            <a:r>
              <a:rPr lang="en-US" dirty="0"/>
              <a:t>margins</a:t>
            </a:r>
          </a:p>
        </p:txBody>
      </p:sp>
      <p:sp>
        <p:nvSpPr>
          <p:cNvPr id="3" name="Content Placeholder 2"/>
          <p:cNvSpPr>
            <a:spLocks noGrp="1"/>
          </p:cNvSpPr>
          <p:nvPr>
            <p:ph idx="1"/>
          </p:nvPr>
        </p:nvSpPr>
        <p:spPr/>
        <p:txBody>
          <a:bodyPr/>
          <a:lstStyle/>
          <a:p>
            <a:r>
              <a:rPr lang="en-US" dirty="0"/>
              <a:t>All the margin properties can have the following values:</a:t>
            </a:r>
          </a:p>
          <a:p>
            <a:pPr marL="514350" indent="-514350">
              <a:buFont typeface="+mj-lt"/>
              <a:buAutoNum type="arabicPeriod"/>
            </a:pPr>
            <a:r>
              <a:rPr lang="en-US" dirty="0"/>
              <a:t>auto - the browser calculates the margin</a:t>
            </a:r>
          </a:p>
          <a:p>
            <a:pPr marL="514350" indent="-514350">
              <a:buFont typeface="+mj-lt"/>
              <a:buAutoNum type="arabicPeriod"/>
            </a:pPr>
            <a:r>
              <a:rPr lang="en-US" i="1" dirty="0"/>
              <a:t>length</a:t>
            </a:r>
            <a:r>
              <a:rPr lang="en-US" dirty="0"/>
              <a:t> - specifies a margin in </a:t>
            </a:r>
            <a:r>
              <a:rPr lang="en-US" dirty="0" err="1"/>
              <a:t>px</a:t>
            </a:r>
            <a:r>
              <a:rPr lang="en-US" dirty="0"/>
              <a:t>, </a:t>
            </a:r>
            <a:r>
              <a:rPr lang="en-US" dirty="0" err="1"/>
              <a:t>pt</a:t>
            </a:r>
            <a:r>
              <a:rPr lang="en-US" dirty="0"/>
              <a:t>, cm, etc.</a:t>
            </a:r>
          </a:p>
          <a:p>
            <a:pPr marL="514350" indent="-514350">
              <a:buFont typeface="+mj-lt"/>
              <a:buAutoNum type="arabicPeriod"/>
            </a:pPr>
            <a:r>
              <a:rPr lang="en-US" i="1" dirty="0"/>
              <a:t>%</a:t>
            </a:r>
            <a:r>
              <a:rPr lang="en-US" dirty="0"/>
              <a:t> - specifies a margin in % of the width of the containing element</a:t>
            </a:r>
          </a:p>
          <a:p>
            <a:pPr marL="514350" indent="-514350">
              <a:buFont typeface="+mj-lt"/>
              <a:buAutoNum type="arabicPeriod"/>
            </a:pPr>
            <a:r>
              <a:rPr lang="en-US" dirty="0"/>
              <a:t>inherit - specifies that the margin should be inherited from the parent element</a:t>
            </a:r>
          </a:p>
          <a:p>
            <a:r>
              <a:rPr lang="en-US" dirty="0"/>
              <a:t>Negative values are allowed.</a:t>
            </a:r>
          </a:p>
        </p:txBody>
      </p:sp>
    </p:spTree>
    <p:extLst>
      <p:ext uri="{BB962C8B-B14F-4D97-AF65-F5344CB8AC3E}">
        <p14:creationId xmlns:p14="http://schemas.microsoft.com/office/powerpoint/2010/main" val="40616409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margins</a:t>
            </a:r>
          </a:p>
        </p:txBody>
      </p:sp>
      <p:pic>
        <p:nvPicPr>
          <p:cNvPr id="4" name="Content Placeholder 3"/>
          <p:cNvPicPr>
            <a:picLocks noGrp="1" noChangeAspect="1"/>
          </p:cNvPicPr>
          <p:nvPr>
            <p:ph idx="1"/>
          </p:nvPr>
        </p:nvPicPr>
        <p:blipFill>
          <a:blip r:embed="rId2"/>
          <a:stretch>
            <a:fillRect/>
          </a:stretch>
        </p:blipFill>
        <p:spPr>
          <a:xfrm>
            <a:off x="838200" y="2698716"/>
            <a:ext cx="7810500" cy="3171825"/>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margin.html</a:t>
            </a:r>
          </a:p>
        </p:txBody>
      </p:sp>
    </p:spTree>
    <p:extLst>
      <p:ext uri="{BB962C8B-B14F-4D97-AF65-F5344CB8AC3E}">
        <p14:creationId xmlns:p14="http://schemas.microsoft.com/office/powerpoint/2010/main" val="27230966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margins</a:t>
            </a:r>
          </a:p>
        </p:txBody>
      </p:sp>
      <p:pic>
        <p:nvPicPr>
          <p:cNvPr id="4" name="Content Placeholder 3"/>
          <p:cNvPicPr>
            <a:picLocks noGrp="1" noChangeAspect="1"/>
          </p:cNvPicPr>
          <p:nvPr>
            <p:ph idx="1"/>
          </p:nvPr>
        </p:nvPicPr>
        <p:blipFill>
          <a:blip r:embed="rId2"/>
          <a:stretch>
            <a:fillRect/>
          </a:stretch>
        </p:blipFill>
        <p:spPr>
          <a:xfrm>
            <a:off x="1519237" y="2634456"/>
            <a:ext cx="9153525" cy="2733675"/>
          </a:xfrm>
          <a:prstGeom prst="rect">
            <a:avLst/>
          </a:prstGeom>
        </p:spPr>
      </p:pic>
    </p:spTree>
    <p:extLst>
      <p:ext uri="{BB962C8B-B14F-4D97-AF65-F5344CB8AC3E}">
        <p14:creationId xmlns:p14="http://schemas.microsoft.com/office/powerpoint/2010/main" val="31162904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 top</a:t>
            </a:r>
          </a:p>
        </p:txBody>
      </p:sp>
      <p:pic>
        <p:nvPicPr>
          <p:cNvPr id="4" name="Content Placeholder 3"/>
          <p:cNvPicPr>
            <a:picLocks noGrp="1" noChangeAspect="1"/>
          </p:cNvPicPr>
          <p:nvPr>
            <p:ph idx="1"/>
          </p:nvPr>
        </p:nvPicPr>
        <p:blipFill>
          <a:blip r:embed="rId2"/>
          <a:stretch>
            <a:fillRect/>
          </a:stretch>
        </p:blipFill>
        <p:spPr>
          <a:xfrm>
            <a:off x="1585912" y="3301206"/>
            <a:ext cx="9020175" cy="1400175"/>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margintop.html</a:t>
            </a:r>
          </a:p>
        </p:txBody>
      </p:sp>
    </p:spTree>
    <p:extLst>
      <p:ext uri="{BB962C8B-B14F-4D97-AF65-F5344CB8AC3E}">
        <p14:creationId xmlns:p14="http://schemas.microsoft.com/office/powerpoint/2010/main" val="23930102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2097877"/>
            <a:ext cx="10515600" cy="3806834"/>
          </a:xfrm>
          <a:prstGeom prst="rect">
            <a:avLst/>
          </a:prstGeom>
        </p:spPr>
      </p:pic>
    </p:spTree>
    <p:extLst>
      <p:ext uri="{BB962C8B-B14F-4D97-AF65-F5344CB8AC3E}">
        <p14:creationId xmlns:p14="http://schemas.microsoft.com/office/powerpoint/2010/main" val="37431000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Margin-bottom</a:t>
            </a:r>
          </a:p>
        </p:txBody>
      </p:sp>
      <p:pic>
        <p:nvPicPr>
          <p:cNvPr id="4" name="Content Placeholder 3"/>
          <p:cNvPicPr>
            <a:picLocks noGrp="1" noChangeAspect="1"/>
          </p:cNvPicPr>
          <p:nvPr>
            <p:ph idx="1"/>
          </p:nvPr>
        </p:nvPicPr>
        <p:blipFill>
          <a:blip r:embed="rId2"/>
          <a:stretch>
            <a:fillRect/>
          </a:stretch>
        </p:blipFill>
        <p:spPr>
          <a:xfrm>
            <a:off x="1423987" y="3182144"/>
            <a:ext cx="9344025" cy="1638300"/>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marginbottom.html</a:t>
            </a:r>
          </a:p>
        </p:txBody>
      </p:sp>
    </p:spTree>
    <p:extLst>
      <p:ext uri="{BB962C8B-B14F-4D97-AF65-F5344CB8AC3E}">
        <p14:creationId xmlns:p14="http://schemas.microsoft.com/office/powerpoint/2010/main" val="17845157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Margin-bottom</a:t>
            </a:r>
          </a:p>
        </p:txBody>
      </p:sp>
      <p:pic>
        <p:nvPicPr>
          <p:cNvPr id="4" name="Content Placeholder 3"/>
          <p:cNvPicPr>
            <a:picLocks noGrp="1" noChangeAspect="1"/>
          </p:cNvPicPr>
          <p:nvPr>
            <p:ph idx="1"/>
          </p:nvPr>
        </p:nvPicPr>
        <p:blipFill>
          <a:blip r:embed="rId2"/>
          <a:stretch>
            <a:fillRect/>
          </a:stretch>
        </p:blipFill>
        <p:spPr>
          <a:xfrm>
            <a:off x="838200" y="2205371"/>
            <a:ext cx="10515600" cy="3591845"/>
          </a:xfrm>
          <a:prstGeom prst="rect">
            <a:avLst/>
          </a:prstGeom>
        </p:spPr>
      </p:pic>
    </p:spTree>
    <p:extLst>
      <p:ext uri="{BB962C8B-B14F-4D97-AF65-F5344CB8AC3E}">
        <p14:creationId xmlns:p14="http://schemas.microsoft.com/office/powerpoint/2010/main" val="32308754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 left</a:t>
            </a:r>
          </a:p>
        </p:txBody>
      </p:sp>
      <p:pic>
        <p:nvPicPr>
          <p:cNvPr id="4" name="Content Placeholder 3"/>
          <p:cNvPicPr>
            <a:picLocks noGrp="1" noChangeAspect="1"/>
          </p:cNvPicPr>
          <p:nvPr>
            <p:ph idx="1"/>
          </p:nvPr>
        </p:nvPicPr>
        <p:blipFill>
          <a:blip r:embed="rId2"/>
          <a:stretch>
            <a:fillRect/>
          </a:stretch>
        </p:blipFill>
        <p:spPr>
          <a:xfrm>
            <a:off x="1547812" y="3291681"/>
            <a:ext cx="9096375" cy="1419225"/>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marginleft.html</a:t>
            </a:r>
          </a:p>
        </p:txBody>
      </p:sp>
    </p:spTree>
    <p:extLst>
      <p:ext uri="{BB962C8B-B14F-4D97-AF65-F5344CB8AC3E}">
        <p14:creationId xmlns:p14="http://schemas.microsoft.com/office/powerpoint/2010/main" val="38561779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 left</a:t>
            </a:r>
          </a:p>
        </p:txBody>
      </p:sp>
      <p:pic>
        <p:nvPicPr>
          <p:cNvPr id="4" name="Content Placeholder 3"/>
          <p:cNvPicPr>
            <a:picLocks noGrp="1" noChangeAspect="1"/>
          </p:cNvPicPr>
          <p:nvPr>
            <p:ph idx="1"/>
          </p:nvPr>
        </p:nvPicPr>
        <p:blipFill>
          <a:blip r:embed="rId2"/>
          <a:stretch>
            <a:fillRect/>
          </a:stretch>
        </p:blipFill>
        <p:spPr>
          <a:xfrm>
            <a:off x="838200" y="2176759"/>
            <a:ext cx="10515600" cy="3649070"/>
          </a:xfrm>
          <a:prstGeom prst="rect">
            <a:avLst/>
          </a:prstGeom>
        </p:spPr>
      </p:pic>
    </p:spTree>
    <p:extLst>
      <p:ext uri="{BB962C8B-B14F-4D97-AF65-F5344CB8AC3E}">
        <p14:creationId xmlns:p14="http://schemas.microsoft.com/office/powerpoint/2010/main" val="7547138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 right</a:t>
            </a:r>
          </a:p>
        </p:txBody>
      </p:sp>
      <p:pic>
        <p:nvPicPr>
          <p:cNvPr id="4" name="Content Placeholder 3"/>
          <p:cNvPicPr>
            <a:picLocks noGrp="1" noChangeAspect="1"/>
          </p:cNvPicPr>
          <p:nvPr>
            <p:ph idx="1"/>
          </p:nvPr>
        </p:nvPicPr>
        <p:blipFill>
          <a:blip r:embed="rId2"/>
          <a:stretch>
            <a:fillRect/>
          </a:stretch>
        </p:blipFill>
        <p:spPr>
          <a:xfrm>
            <a:off x="1428750" y="3353594"/>
            <a:ext cx="9334500" cy="1295400"/>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marginright.html</a:t>
            </a:r>
          </a:p>
        </p:txBody>
      </p:sp>
    </p:spTree>
    <p:extLst>
      <p:ext uri="{BB962C8B-B14F-4D97-AF65-F5344CB8AC3E}">
        <p14:creationId xmlns:p14="http://schemas.microsoft.com/office/powerpoint/2010/main" val="2516367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Margin right</a:t>
            </a:r>
          </a:p>
        </p:txBody>
      </p:sp>
      <p:pic>
        <p:nvPicPr>
          <p:cNvPr id="4" name="Content Placeholder 3"/>
          <p:cNvPicPr>
            <a:picLocks noGrp="1" noChangeAspect="1"/>
          </p:cNvPicPr>
          <p:nvPr>
            <p:ph idx="1"/>
          </p:nvPr>
        </p:nvPicPr>
        <p:blipFill>
          <a:blip r:embed="rId2"/>
          <a:stretch>
            <a:fillRect/>
          </a:stretch>
        </p:blipFill>
        <p:spPr>
          <a:xfrm>
            <a:off x="838200" y="2197494"/>
            <a:ext cx="10515600" cy="3607599"/>
          </a:xfrm>
          <a:prstGeom prst="rect">
            <a:avLst/>
          </a:prstGeom>
        </p:spPr>
      </p:pic>
    </p:spTree>
    <p:extLst>
      <p:ext uri="{BB962C8B-B14F-4D97-AF65-F5344CB8AC3E}">
        <p14:creationId xmlns:p14="http://schemas.microsoft.com/office/powerpoint/2010/main" val="4417010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a:t>
            </a:r>
          </a:p>
        </p:txBody>
      </p:sp>
      <p:sp>
        <p:nvSpPr>
          <p:cNvPr id="3" name="Content Placeholder 2"/>
          <p:cNvSpPr>
            <a:spLocks noGrp="1"/>
          </p:cNvSpPr>
          <p:nvPr>
            <p:ph idx="1"/>
          </p:nvPr>
        </p:nvSpPr>
        <p:spPr/>
        <p:txBody>
          <a:bodyPr/>
          <a:lstStyle/>
          <a:p>
            <a:r>
              <a:rPr lang="en-US" dirty="0"/>
              <a:t>Padding is used to create space around an element's content, inside of any defined borders.</a:t>
            </a:r>
          </a:p>
          <a:p>
            <a:r>
              <a:rPr lang="en-US" dirty="0"/>
              <a:t>The </a:t>
            </a:r>
            <a:r>
              <a:rPr lang="en-US" dirty="0" err="1"/>
              <a:t>css</a:t>
            </a:r>
            <a:r>
              <a:rPr lang="en-US" dirty="0"/>
              <a:t> padding properties are used to generate space around an element's content, inside of any defined borders.</a:t>
            </a:r>
          </a:p>
          <a:p>
            <a:r>
              <a:rPr lang="en-US" dirty="0"/>
              <a:t>With CSS, you have full control over the padding. There are properties for setting the padding for each side of an element (top, right, bottom, and left).</a:t>
            </a:r>
          </a:p>
          <a:p>
            <a:endParaRPr lang="en-US" dirty="0"/>
          </a:p>
        </p:txBody>
      </p:sp>
    </p:spTree>
    <p:extLst>
      <p:ext uri="{BB962C8B-B14F-4D97-AF65-F5344CB8AC3E}">
        <p14:creationId xmlns:p14="http://schemas.microsoft.com/office/powerpoint/2010/main" val="333937575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a:t>
            </a:r>
          </a:p>
        </p:txBody>
      </p:sp>
      <p:sp>
        <p:nvSpPr>
          <p:cNvPr id="3" name="Content Placeholder 2"/>
          <p:cNvSpPr>
            <a:spLocks noGrp="1"/>
          </p:cNvSpPr>
          <p:nvPr>
            <p:ph idx="1"/>
          </p:nvPr>
        </p:nvSpPr>
        <p:spPr/>
        <p:txBody>
          <a:bodyPr/>
          <a:lstStyle/>
          <a:p>
            <a:r>
              <a:rPr lang="en-US" dirty="0"/>
              <a:t>CSS has properties for specifying the padding for each side of an element:</a:t>
            </a:r>
          </a:p>
          <a:p>
            <a:r>
              <a:rPr lang="en-US" dirty="0"/>
              <a:t>Padding-top</a:t>
            </a:r>
          </a:p>
          <a:p>
            <a:r>
              <a:rPr lang="en-US" dirty="0"/>
              <a:t>Padding-right</a:t>
            </a:r>
          </a:p>
          <a:p>
            <a:r>
              <a:rPr lang="en-US" dirty="0"/>
              <a:t>Padding-bottom</a:t>
            </a:r>
          </a:p>
          <a:p>
            <a:r>
              <a:rPr lang="en-US" dirty="0"/>
              <a:t>Padding-left</a:t>
            </a:r>
            <a:endParaRPr lang="en-US" b="1" dirty="0"/>
          </a:p>
        </p:txBody>
      </p:sp>
    </p:spTree>
    <p:extLst>
      <p:ext uri="{BB962C8B-B14F-4D97-AF65-F5344CB8AC3E}">
        <p14:creationId xmlns:p14="http://schemas.microsoft.com/office/powerpoint/2010/main" val="308119150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a:t>
            </a:r>
          </a:p>
        </p:txBody>
      </p:sp>
      <p:pic>
        <p:nvPicPr>
          <p:cNvPr id="4" name="Content Placeholder 3"/>
          <p:cNvPicPr>
            <a:picLocks noGrp="1" noChangeAspect="1"/>
          </p:cNvPicPr>
          <p:nvPr>
            <p:ph idx="1"/>
          </p:nvPr>
        </p:nvPicPr>
        <p:blipFill>
          <a:blip r:embed="rId2"/>
          <a:stretch>
            <a:fillRect/>
          </a:stretch>
        </p:blipFill>
        <p:spPr>
          <a:xfrm>
            <a:off x="2747962" y="2020094"/>
            <a:ext cx="6696075" cy="3962400"/>
          </a:xfrm>
          <a:prstGeom prst="rect">
            <a:avLst/>
          </a:prstGeom>
        </p:spPr>
      </p:pic>
      <p:sp>
        <p:nvSpPr>
          <p:cNvPr id="5" name="Title 1"/>
          <p:cNvSpPr txBox="1">
            <a:spLocks/>
          </p:cNvSpPr>
          <p:nvPr/>
        </p:nvSpPr>
        <p:spPr>
          <a:xfrm>
            <a:off x="8094360" y="1897839"/>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padding.html</a:t>
            </a:r>
          </a:p>
        </p:txBody>
      </p:sp>
    </p:spTree>
    <p:extLst>
      <p:ext uri="{BB962C8B-B14F-4D97-AF65-F5344CB8AC3E}">
        <p14:creationId xmlns:p14="http://schemas.microsoft.com/office/powerpoint/2010/main" val="34862261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a:t>
            </a:r>
          </a:p>
        </p:txBody>
      </p:sp>
      <p:pic>
        <p:nvPicPr>
          <p:cNvPr id="4" name="Content Placeholder 3"/>
          <p:cNvPicPr>
            <a:picLocks noGrp="1" noChangeAspect="1"/>
          </p:cNvPicPr>
          <p:nvPr>
            <p:ph idx="1"/>
          </p:nvPr>
        </p:nvPicPr>
        <p:blipFill>
          <a:blip r:embed="rId2"/>
          <a:stretch>
            <a:fillRect/>
          </a:stretch>
        </p:blipFill>
        <p:spPr>
          <a:xfrm>
            <a:off x="838200" y="3444955"/>
            <a:ext cx="10515600" cy="1112678"/>
          </a:xfrm>
          <a:prstGeom prst="rect">
            <a:avLst/>
          </a:prstGeom>
        </p:spPr>
      </p:pic>
    </p:spTree>
    <p:extLst>
      <p:ext uri="{BB962C8B-B14F-4D97-AF65-F5344CB8AC3E}">
        <p14:creationId xmlns:p14="http://schemas.microsoft.com/office/powerpoint/2010/main" val="1741466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bottom</a:t>
            </a:r>
          </a:p>
        </p:txBody>
      </p:sp>
      <p:pic>
        <p:nvPicPr>
          <p:cNvPr id="4" name="Content Placeholder 3"/>
          <p:cNvPicPr>
            <a:picLocks noGrp="1" noChangeAspect="1"/>
          </p:cNvPicPr>
          <p:nvPr>
            <p:ph idx="1"/>
          </p:nvPr>
        </p:nvPicPr>
        <p:blipFill>
          <a:blip r:embed="rId2"/>
          <a:stretch>
            <a:fillRect/>
          </a:stretch>
        </p:blipFill>
        <p:spPr>
          <a:xfrm>
            <a:off x="3686175" y="2877344"/>
            <a:ext cx="4819650" cy="2247900"/>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paddingright.html</a:t>
            </a:r>
          </a:p>
        </p:txBody>
      </p:sp>
    </p:spTree>
    <p:extLst>
      <p:ext uri="{BB962C8B-B14F-4D97-AF65-F5344CB8AC3E}">
        <p14:creationId xmlns:p14="http://schemas.microsoft.com/office/powerpoint/2010/main" val="31977735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bottom</a:t>
            </a:r>
          </a:p>
        </p:txBody>
      </p:sp>
      <p:pic>
        <p:nvPicPr>
          <p:cNvPr id="4" name="Content Placeholder 3"/>
          <p:cNvPicPr>
            <a:picLocks noGrp="1" noChangeAspect="1"/>
          </p:cNvPicPr>
          <p:nvPr>
            <p:ph idx="1"/>
          </p:nvPr>
        </p:nvPicPr>
        <p:blipFill>
          <a:blip r:embed="rId2"/>
          <a:stretch>
            <a:fillRect/>
          </a:stretch>
        </p:blipFill>
        <p:spPr>
          <a:xfrm>
            <a:off x="4300537" y="3225006"/>
            <a:ext cx="3590925" cy="1552575"/>
          </a:xfrm>
          <a:prstGeom prst="rect">
            <a:avLst/>
          </a:prstGeom>
        </p:spPr>
      </p:pic>
    </p:spTree>
    <p:extLst>
      <p:ext uri="{BB962C8B-B14F-4D97-AF65-F5344CB8AC3E}">
        <p14:creationId xmlns:p14="http://schemas.microsoft.com/office/powerpoint/2010/main" val="14274215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top</a:t>
            </a:r>
          </a:p>
        </p:txBody>
      </p:sp>
      <p:pic>
        <p:nvPicPr>
          <p:cNvPr id="4" name="Content Placeholder 3"/>
          <p:cNvPicPr>
            <a:picLocks noGrp="1" noChangeAspect="1"/>
          </p:cNvPicPr>
          <p:nvPr>
            <p:ph idx="1"/>
          </p:nvPr>
        </p:nvPicPr>
        <p:blipFill>
          <a:blip r:embed="rId2"/>
          <a:stretch>
            <a:fillRect/>
          </a:stretch>
        </p:blipFill>
        <p:spPr>
          <a:xfrm>
            <a:off x="3895725" y="2096294"/>
            <a:ext cx="4400550" cy="3810000"/>
          </a:xfrm>
          <a:prstGeom prst="rect">
            <a:avLst/>
          </a:prstGeom>
        </p:spPr>
      </p:pic>
      <p:sp>
        <p:nvSpPr>
          <p:cNvPr id="5" name="Title 1"/>
          <p:cNvSpPr txBox="1">
            <a:spLocks/>
          </p:cNvSpPr>
          <p:nvPr/>
        </p:nvSpPr>
        <p:spPr>
          <a:xfrm>
            <a:off x="4552669" y="114847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paddingtop.html</a:t>
            </a:r>
          </a:p>
        </p:txBody>
      </p:sp>
    </p:spTree>
    <p:extLst>
      <p:ext uri="{BB962C8B-B14F-4D97-AF65-F5344CB8AC3E}">
        <p14:creationId xmlns:p14="http://schemas.microsoft.com/office/powerpoint/2010/main" val="11231511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top</a:t>
            </a:r>
          </a:p>
        </p:txBody>
      </p:sp>
      <p:pic>
        <p:nvPicPr>
          <p:cNvPr id="4" name="Content Placeholder 3"/>
          <p:cNvPicPr>
            <a:picLocks noGrp="1" noChangeAspect="1"/>
          </p:cNvPicPr>
          <p:nvPr>
            <p:ph idx="1"/>
          </p:nvPr>
        </p:nvPicPr>
        <p:blipFill>
          <a:blip r:embed="rId2"/>
          <a:stretch>
            <a:fillRect/>
          </a:stretch>
        </p:blipFill>
        <p:spPr>
          <a:xfrm>
            <a:off x="838200" y="3472356"/>
            <a:ext cx="10515600" cy="1057875"/>
          </a:xfrm>
          <a:prstGeom prst="rect">
            <a:avLst/>
          </a:prstGeom>
        </p:spPr>
      </p:pic>
    </p:spTree>
    <p:extLst>
      <p:ext uri="{BB962C8B-B14F-4D97-AF65-F5344CB8AC3E}">
        <p14:creationId xmlns:p14="http://schemas.microsoft.com/office/powerpoint/2010/main" val="263374506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left</a:t>
            </a:r>
          </a:p>
        </p:txBody>
      </p:sp>
      <p:pic>
        <p:nvPicPr>
          <p:cNvPr id="4" name="Content Placeholder 3"/>
          <p:cNvPicPr>
            <a:picLocks noGrp="1" noChangeAspect="1"/>
          </p:cNvPicPr>
          <p:nvPr>
            <p:ph idx="1"/>
          </p:nvPr>
        </p:nvPicPr>
        <p:blipFill>
          <a:blip r:embed="rId2"/>
          <a:stretch>
            <a:fillRect/>
          </a:stretch>
        </p:blipFill>
        <p:spPr>
          <a:xfrm>
            <a:off x="3552825" y="2782094"/>
            <a:ext cx="5086350" cy="2438400"/>
          </a:xfrm>
          <a:prstGeom prst="rect">
            <a:avLst/>
          </a:prstGeom>
        </p:spPr>
      </p:pic>
      <p:sp>
        <p:nvSpPr>
          <p:cNvPr id="5" name="Title 1"/>
          <p:cNvSpPr txBox="1">
            <a:spLocks/>
          </p:cNvSpPr>
          <p:nvPr/>
        </p:nvSpPr>
        <p:spPr>
          <a:xfrm>
            <a:off x="3599633" y="1923597"/>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paddingleft.html</a:t>
            </a:r>
          </a:p>
        </p:txBody>
      </p:sp>
    </p:spTree>
    <p:extLst>
      <p:ext uri="{BB962C8B-B14F-4D97-AF65-F5344CB8AC3E}">
        <p14:creationId xmlns:p14="http://schemas.microsoft.com/office/powerpoint/2010/main" val="17484048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left</a:t>
            </a:r>
          </a:p>
        </p:txBody>
      </p:sp>
      <p:pic>
        <p:nvPicPr>
          <p:cNvPr id="4" name="Content Placeholder 3"/>
          <p:cNvPicPr>
            <a:picLocks noGrp="1" noChangeAspect="1"/>
          </p:cNvPicPr>
          <p:nvPr>
            <p:ph idx="1"/>
          </p:nvPr>
        </p:nvPicPr>
        <p:blipFill>
          <a:blip r:embed="rId2"/>
          <a:stretch>
            <a:fillRect/>
          </a:stretch>
        </p:blipFill>
        <p:spPr>
          <a:xfrm>
            <a:off x="2528887" y="2958306"/>
            <a:ext cx="7134225" cy="2085975"/>
          </a:xfrm>
          <a:prstGeom prst="rect">
            <a:avLst/>
          </a:prstGeom>
        </p:spPr>
      </p:pic>
    </p:spTree>
    <p:extLst>
      <p:ext uri="{BB962C8B-B14F-4D97-AF65-F5344CB8AC3E}">
        <p14:creationId xmlns:p14="http://schemas.microsoft.com/office/powerpoint/2010/main" val="36644019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right</a:t>
            </a:r>
          </a:p>
        </p:txBody>
      </p:sp>
      <p:pic>
        <p:nvPicPr>
          <p:cNvPr id="4" name="Content Placeholder 3"/>
          <p:cNvPicPr>
            <a:picLocks noGrp="1" noChangeAspect="1"/>
          </p:cNvPicPr>
          <p:nvPr>
            <p:ph idx="1"/>
          </p:nvPr>
        </p:nvPicPr>
        <p:blipFill>
          <a:blip r:embed="rId2"/>
          <a:stretch>
            <a:fillRect/>
          </a:stretch>
        </p:blipFill>
        <p:spPr>
          <a:xfrm>
            <a:off x="3367087" y="2296319"/>
            <a:ext cx="5457825" cy="3409950"/>
          </a:xfrm>
          <a:prstGeom prst="rect">
            <a:avLst/>
          </a:prstGeom>
        </p:spPr>
      </p:pic>
      <p:sp>
        <p:nvSpPr>
          <p:cNvPr id="5" name="Title 1"/>
          <p:cNvSpPr txBox="1">
            <a:spLocks/>
          </p:cNvSpPr>
          <p:nvPr/>
        </p:nvSpPr>
        <p:spPr>
          <a:xfrm>
            <a:off x="5402675" y="169068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paddingright.html</a:t>
            </a:r>
          </a:p>
        </p:txBody>
      </p:sp>
    </p:spTree>
    <p:extLst>
      <p:ext uri="{BB962C8B-B14F-4D97-AF65-F5344CB8AC3E}">
        <p14:creationId xmlns:p14="http://schemas.microsoft.com/office/powerpoint/2010/main" val="93809688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Padding right</a:t>
            </a:r>
          </a:p>
        </p:txBody>
      </p:sp>
      <p:pic>
        <p:nvPicPr>
          <p:cNvPr id="4" name="Content Placeholder 3"/>
          <p:cNvPicPr>
            <a:picLocks noGrp="1" noChangeAspect="1"/>
          </p:cNvPicPr>
          <p:nvPr>
            <p:ph idx="1"/>
          </p:nvPr>
        </p:nvPicPr>
        <p:blipFill>
          <a:blip r:embed="rId2"/>
          <a:stretch>
            <a:fillRect/>
          </a:stretch>
        </p:blipFill>
        <p:spPr>
          <a:xfrm>
            <a:off x="838200" y="3312625"/>
            <a:ext cx="10515600" cy="1377337"/>
          </a:xfrm>
          <a:prstGeom prst="rect">
            <a:avLst/>
          </a:prstGeom>
        </p:spPr>
      </p:pic>
    </p:spTree>
    <p:extLst>
      <p:ext uri="{BB962C8B-B14F-4D97-AF65-F5344CB8AC3E}">
        <p14:creationId xmlns:p14="http://schemas.microsoft.com/office/powerpoint/2010/main" val="1739996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positioning using CSS</a:t>
            </a:r>
          </a:p>
        </p:txBody>
      </p:sp>
      <p:sp>
        <p:nvSpPr>
          <p:cNvPr id="3" name="Content Placeholder 2"/>
          <p:cNvSpPr>
            <a:spLocks noGrp="1"/>
          </p:cNvSpPr>
          <p:nvPr>
            <p:ph idx="1"/>
          </p:nvPr>
        </p:nvSpPr>
        <p:spPr/>
        <p:txBody>
          <a:bodyPr/>
          <a:lstStyle/>
          <a:p>
            <a:r>
              <a:rPr lang="en-US" dirty="0"/>
              <a:t>positioning property specifies the type of positioning method used for an element .</a:t>
            </a:r>
          </a:p>
          <a:p>
            <a:r>
              <a:rPr lang="en-US" dirty="0"/>
              <a:t>There are five different position values:</a:t>
            </a:r>
          </a:p>
          <a:p>
            <a:pPr marL="514350" indent="-514350">
              <a:buFont typeface="+mj-lt"/>
              <a:buAutoNum type="arabicPeriod"/>
            </a:pPr>
            <a:r>
              <a:rPr lang="en-US" dirty="0"/>
              <a:t>Static</a:t>
            </a:r>
          </a:p>
          <a:p>
            <a:pPr marL="514350" indent="-514350">
              <a:buFont typeface="+mj-lt"/>
              <a:buAutoNum type="arabicPeriod"/>
            </a:pPr>
            <a:r>
              <a:rPr lang="en-US" dirty="0"/>
              <a:t>Relative</a:t>
            </a:r>
          </a:p>
          <a:p>
            <a:pPr marL="514350" indent="-514350">
              <a:buFont typeface="+mj-lt"/>
              <a:buAutoNum type="arabicPeriod"/>
            </a:pPr>
            <a:r>
              <a:rPr lang="en-US" dirty="0"/>
              <a:t> fixed</a:t>
            </a:r>
          </a:p>
          <a:p>
            <a:pPr marL="514350" indent="-514350">
              <a:buFont typeface="+mj-lt"/>
              <a:buAutoNum type="arabicPeriod"/>
            </a:pPr>
            <a:r>
              <a:rPr lang="en-US" dirty="0"/>
              <a:t>Absolute</a:t>
            </a:r>
          </a:p>
          <a:p>
            <a:pPr marL="514350" indent="-514350">
              <a:buFont typeface="+mj-lt"/>
              <a:buAutoNum type="arabicPeriod"/>
            </a:pPr>
            <a:r>
              <a:rPr lang="en-US" dirty="0"/>
              <a:t>sticky</a:t>
            </a:r>
          </a:p>
        </p:txBody>
      </p:sp>
    </p:spTree>
    <p:extLst>
      <p:ext uri="{BB962C8B-B14F-4D97-AF65-F5344CB8AC3E}">
        <p14:creationId xmlns:p14="http://schemas.microsoft.com/office/powerpoint/2010/main" val="22400514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static</a:t>
            </a:r>
          </a:p>
        </p:txBody>
      </p:sp>
      <p:sp>
        <p:nvSpPr>
          <p:cNvPr id="3" name="Content Placeholder 2"/>
          <p:cNvSpPr>
            <a:spLocks noGrp="1"/>
          </p:cNvSpPr>
          <p:nvPr>
            <p:ph idx="1"/>
          </p:nvPr>
        </p:nvSpPr>
        <p:spPr/>
        <p:txBody>
          <a:bodyPr/>
          <a:lstStyle/>
          <a:p>
            <a:r>
              <a:rPr lang="en-US" dirty="0"/>
              <a:t>HTML elements are positioned static by default.</a:t>
            </a:r>
          </a:p>
          <a:p>
            <a:r>
              <a:rPr lang="en-US" dirty="0"/>
              <a:t>Static positioned elements are not affected by the top, bottom, left, and right properties.</a:t>
            </a:r>
          </a:p>
          <a:p>
            <a:r>
              <a:rPr lang="en-IN" dirty="0"/>
              <a:t>An element with position: static </a:t>
            </a:r>
            <a:r>
              <a:rPr lang="en-US" dirty="0"/>
              <a:t> is not positioned in any special way; it is always positioned according to the normal flow of the page:</a:t>
            </a:r>
            <a:endParaRPr lang="en-IN" dirty="0"/>
          </a:p>
        </p:txBody>
      </p:sp>
    </p:spTree>
    <p:extLst>
      <p:ext uri="{BB962C8B-B14F-4D97-AF65-F5344CB8AC3E}">
        <p14:creationId xmlns:p14="http://schemas.microsoft.com/office/powerpoint/2010/main" val="276710574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468156"/>
            <a:ext cx="10515600" cy="1325563"/>
          </a:xfrm>
        </p:spPr>
        <p:txBody>
          <a:bodyPr/>
          <a:lstStyle/>
          <a:p>
            <a:r>
              <a:rPr lang="en-IN" dirty="0"/>
              <a:t>position: static</a:t>
            </a:r>
          </a:p>
        </p:txBody>
      </p:sp>
      <p:pic>
        <p:nvPicPr>
          <p:cNvPr id="4" name="Content Placeholder 3"/>
          <p:cNvPicPr>
            <a:picLocks noGrp="1" noChangeAspect="1"/>
          </p:cNvPicPr>
          <p:nvPr>
            <p:ph idx="1"/>
          </p:nvPr>
        </p:nvPicPr>
        <p:blipFill>
          <a:blip r:embed="rId2"/>
          <a:stretch>
            <a:fillRect/>
          </a:stretch>
        </p:blipFill>
        <p:spPr>
          <a:xfrm>
            <a:off x="995362" y="2320399"/>
            <a:ext cx="10201275" cy="4314825"/>
          </a:xfrm>
          <a:prstGeom prst="rect">
            <a:avLst/>
          </a:prstGeom>
        </p:spPr>
      </p:pic>
      <p:sp>
        <p:nvSpPr>
          <p:cNvPr id="5" name="Title 1"/>
          <p:cNvSpPr txBox="1">
            <a:spLocks/>
          </p:cNvSpPr>
          <p:nvPr/>
        </p:nvSpPr>
        <p:spPr>
          <a:xfrm>
            <a:off x="5402675" y="169068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positionStatic.html</a:t>
            </a:r>
          </a:p>
        </p:txBody>
      </p:sp>
    </p:spTree>
    <p:extLst>
      <p:ext uri="{BB962C8B-B14F-4D97-AF65-F5344CB8AC3E}">
        <p14:creationId xmlns:p14="http://schemas.microsoft.com/office/powerpoint/2010/main" val="26608745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static output</a:t>
            </a:r>
          </a:p>
        </p:txBody>
      </p:sp>
      <p:pic>
        <p:nvPicPr>
          <p:cNvPr id="4" name="Content Placeholder 3"/>
          <p:cNvPicPr>
            <a:picLocks noGrp="1" noChangeAspect="1"/>
          </p:cNvPicPr>
          <p:nvPr>
            <p:ph idx="1"/>
          </p:nvPr>
        </p:nvPicPr>
        <p:blipFill>
          <a:blip r:embed="rId2"/>
          <a:stretch>
            <a:fillRect/>
          </a:stretch>
        </p:blipFill>
        <p:spPr>
          <a:xfrm>
            <a:off x="2247900" y="3420269"/>
            <a:ext cx="7696200" cy="1162050"/>
          </a:xfrm>
          <a:prstGeom prst="rect">
            <a:avLst/>
          </a:prstGeom>
        </p:spPr>
      </p:pic>
    </p:spTree>
    <p:extLst>
      <p:ext uri="{BB962C8B-B14F-4D97-AF65-F5344CB8AC3E}">
        <p14:creationId xmlns:p14="http://schemas.microsoft.com/office/powerpoint/2010/main" val="21405899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relative</a:t>
            </a:r>
          </a:p>
        </p:txBody>
      </p:sp>
      <p:sp>
        <p:nvSpPr>
          <p:cNvPr id="3" name="Content Placeholder 2"/>
          <p:cNvSpPr>
            <a:spLocks noGrp="1"/>
          </p:cNvSpPr>
          <p:nvPr>
            <p:ph idx="1"/>
          </p:nvPr>
        </p:nvSpPr>
        <p:spPr/>
        <p:txBody>
          <a:bodyPr/>
          <a:lstStyle/>
          <a:p>
            <a:r>
              <a:rPr lang="en-IN" dirty="0"/>
              <a:t>An element with </a:t>
            </a:r>
            <a:r>
              <a:rPr lang="en-IN" dirty="0">
                <a:solidFill>
                  <a:srgbClr val="00B050"/>
                </a:solidFill>
              </a:rPr>
              <a:t>position: relative </a:t>
            </a:r>
            <a:r>
              <a:rPr lang="en-US" dirty="0"/>
              <a:t>is positioned relative to its normal position.</a:t>
            </a:r>
          </a:p>
          <a:p>
            <a:r>
              <a:rPr lang="en-US" dirty="0"/>
              <a:t>Setting the top, right, bottom, and left properties of a relatively-positioned element will cause it to be adjusted away from its normal position. Other content will not be adjusted to fit into any gap left by the element.</a:t>
            </a:r>
            <a:endParaRPr lang="en-IN" dirty="0">
              <a:solidFill>
                <a:srgbClr val="00B050"/>
              </a:solidFill>
            </a:endParaRPr>
          </a:p>
        </p:txBody>
      </p:sp>
    </p:spTree>
    <p:extLst>
      <p:ext uri="{BB962C8B-B14F-4D97-AF65-F5344CB8AC3E}">
        <p14:creationId xmlns:p14="http://schemas.microsoft.com/office/powerpoint/2010/main" val="14066229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relative</a:t>
            </a:r>
          </a:p>
        </p:txBody>
      </p:sp>
      <p:pic>
        <p:nvPicPr>
          <p:cNvPr id="4" name="Content Placeholder 3"/>
          <p:cNvPicPr>
            <a:picLocks noGrp="1" noChangeAspect="1"/>
          </p:cNvPicPr>
          <p:nvPr>
            <p:ph idx="1"/>
          </p:nvPr>
        </p:nvPicPr>
        <p:blipFill>
          <a:blip r:embed="rId2"/>
          <a:stretch>
            <a:fillRect/>
          </a:stretch>
        </p:blipFill>
        <p:spPr>
          <a:xfrm>
            <a:off x="3137621" y="1825625"/>
            <a:ext cx="5916758" cy="4351338"/>
          </a:xfrm>
          <a:prstGeom prst="rect">
            <a:avLst/>
          </a:prstGeom>
        </p:spPr>
      </p:pic>
      <p:sp>
        <p:nvSpPr>
          <p:cNvPr id="5" name="Title 1"/>
          <p:cNvSpPr txBox="1">
            <a:spLocks/>
          </p:cNvSpPr>
          <p:nvPr/>
        </p:nvSpPr>
        <p:spPr>
          <a:xfrm>
            <a:off x="5402675" y="169068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positionRelative.html</a:t>
            </a:r>
          </a:p>
        </p:txBody>
      </p:sp>
    </p:spTree>
    <p:extLst>
      <p:ext uri="{BB962C8B-B14F-4D97-AF65-F5344CB8AC3E}">
        <p14:creationId xmlns:p14="http://schemas.microsoft.com/office/powerpoint/2010/main" val="174401014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relative output</a:t>
            </a:r>
          </a:p>
        </p:txBody>
      </p:sp>
      <p:pic>
        <p:nvPicPr>
          <p:cNvPr id="4" name="Content Placeholder 3"/>
          <p:cNvPicPr>
            <a:picLocks noGrp="1" noChangeAspect="1"/>
          </p:cNvPicPr>
          <p:nvPr>
            <p:ph idx="1"/>
          </p:nvPr>
        </p:nvPicPr>
        <p:blipFill>
          <a:blip r:embed="rId2"/>
          <a:stretch>
            <a:fillRect/>
          </a:stretch>
        </p:blipFill>
        <p:spPr>
          <a:xfrm>
            <a:off x="2271712" y="3124994"/>
            <a:ext cx="7648575" cy="1752600"/>
          </a:xfrm>
          <a:prstGeom prst="rect">
            <a:avLst/>
          </a:prstGeom>
        </p:spPr>
      </p:pic>
    </p:spTree>
    <p:extLst>
      <p:ext uri="{BB962C8B-B14F-4D97-AF65-F5344CB8AC3E}">
        <p14:creationId xmlns:p14="http://schemas.microsoft.com/office/powerpoint/2010/main" val="426054476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fixed</a:t>
            </a:r>
          </a:p>
        </p:txBody>
      </p:sp>
      <p:sp>
        <p:nvSpPr>
          <p:cNvPr id="3" name="Content Placeholder 2"/>
          <p:cNvSpPr>
            <a:spLocks noGrp="1"/>
          </p:cNvSpPr>
          <p:nvPr>
            <p:ph idx="1"/>
          </p:nvPr>
        </p:nvSpPr>
        <p:spPr/>
        <p:txBody>
          <a:bodyPr/>
          <a:lstStyle/>
          <a:p>
            <a:r>
              <a:rPr lang="en-IN" dirty="0"/>
              <a:t>An element with </a:t>
            </a:r>
            <a:r>
              <a:rPr lang="en-IN" dirty="0">
                <a:solidFill>
                  <a:srgbClr val="00B050"/>
                </a:solidFill>
              </a:rPr>
              <a:t>position: fixed </a:t>
            </a:r>
            <a:r>
              <a:rPr lang="en-US" dirty="0"/>
              <a:t>is positioned relative to the viewport, which means it always stays in the same place even if the page is scrolled. The top, right, bottom, and left properties are used to position the element.</a:t>
            </a:r>
          </a:p>
          <a:p>
            <a:r>
              <a:rPr lang="en-US" dirty="0"/>
              <a:t>A fixed element does not leave a gap in the page where it would normally have been located.</a:t>
            </a:r>
          </a:p>
          <a:p>
            <a:r>
              <a:rPr lang="en-US" dirty="0"/>
              <a:t>Notice the fixed element in the lower-right corner of the page. </a:t>
            </a:r>
          </a:p>
          <a:p>
            <a:endParaRPr lang="en-IN" dirty="0">
              <a:solidFill>
                <a:srgbClr val="00B050"/>
              </a:solidFill>
            </a:endParaRPr>
          </a:p>
        </p:txBody>
      </p:sp>
    </p:spTree>
    <p:extLst>
      <p:ext uri="{BB962C8B-B14F-4D97-AF65-F5344CB8AC3E}">
        <p14:creationId xmlns:p14="http://schemas.microsoft.com/office/powerpoint/2010/main" val="184482511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36" y="297656"/>
            <a:ext cx="10515600" cy="1325563"/>
          </a:xfrm>
        </p:spPr>
        <p:txBody>
          <a:bodyPr/>
          <a:lstStyle/>
          <a:p>
            <a:r>
              <a:rPr lang="en-IN" dirty="0"/>
              <a:t>position: fixed</a:t>
            </a:r>
          </a:p>
        </p:txBody>
      </p:sp>
      <p:pic>
        <p:nvPicPr>
          <p:cNvPr id="4" name="Content Placeholder 3"/>
          <p:cNvPicPr>
            <a:picLocks noGrp="1" noChangeAspect="1"/>
          </p:cNvPicPr>
          <p:nvPr>
            <p:ph idx="1"/>
          </p:nvPr>
        </p:nvPicPr>
        <p:blipFill>
          <a:blip r:embed="rId2"/>
          <a:stretch>
            <a:fillRect/>
          </a:stretch>
        </p:blipFill>
        <p:spPr>
          <a:xfrm>
            <a:off x="1203963" y="1825625"/>
            <a:ext cx="9784073" cy="4351338"/>
          </a:xfrm>
          <a:prstGeom prst="rect">
            <a:avLst/>
          </a:prstGeom>
        </p:spPr>
      </p:pic>
      <p:sp>
        <p:nvSpPr>
          <p:cNvPr id="5" name="Title 1"/>
          <p:cNvSpPr txBox="1">
            <a:spLocks/>
          </p:cNvSpPr>
          <p:nvPr/>
        </p:nvSpPr>
        <p:spPr>
          <a:xfrm>
            <a:off x="5402675" y="1690688"/>
            <a:ext cx="3904739" cy="542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positionFixed.html</a:t>
            </a:r>
          </a:p>
        </p:txBody>
      </p:sp>
    </p:spTree>
    <p:extLst>
      <p:ext uri="{BB962C8B-B14F-4D97-AF65-F5344CB8AC3E}">
        <p14:creationId xmlns:p14="http://schemas.microsoft.com/office/powerpoint/2010/main" val="9332888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fixed output</a:t>
            </a:r>
          </a:p>
        </p:txBody>
      </p:sp>
      <p:pic>
        <p:nvPicPr>
          <p:cNvPr id="4" name="Content Placeholder 3"/>
          <p:cNvPicPr>
            <a:picLocks noGrp="1" noChangeAspect="1"/>
          </p:cNvPicPr>
          <p:nvPr>
            <p:ph idx="1"/>
          </p:nvPr>
        </p:nvPicPr>
        <p:blipFill>
          <a:blip r:embed="rId2"/>
          <a:stretch>
            <a:fillRect/>
          </a:stretch>
        </p:blipFill>
        <p:spPr>
          <a:xfrm>
            <a:off x="1771650" y="3225006"/>
            <a:ext cx="8648700" cy="1552575"/>
          </a:xfrm>
          <a:prstGeom prst="rect">
            <a:avLst/>
          </a:prstGeom>
        </p:spPr>
      </p:pic>
    </p:spTree>
    <p:extLst>
      <p:ext uri="{BB962C8B-B14F-4D97-AF65-F5344CB8AC3E}">
        <p14:creationId xmlns:p14="http://schemas.microsoft.com/office/powerpoint/2010/main" val="33857164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absolute</a:t>
            </a:r>
          </a:p>
        </p:txBody>
      </p:sp>
      <p:sp>
        <p:nvSpPr>
          <p:cNvPr id="3" name="Content Placeholder 2"/>
          <p:cNvSpPr>
            <a:spLocks noGrp="1"/>
          </p:cNvSpPr>
          <p:nvPr>
            <p:ph idx="1"/>
          </p:nvPr>
        </p:nvSpPr>
        <p:spPr/>
        <p:txBody>
          <a:bodyPr/>
          <a:lstStyle/>
          <a:p>
            <a:r>
              <a:rPr lang="en-IN" dirty="0"/>
              <a:t>An element with </a:t>
            </a:r>
            <a:r>
              <a:rPr lang="en-IN" dirty="0">
                <a:solidFill>
                  <a:srgbClr val="00B050"/>
                </a:solidFill>
              </a:rPr>
              <a:t>position: absolute </a:t>
            </a:r>
            <a:r>
              <a:rPr lang="en-US" dirty="0"/>
              <a:t>is positioned relative to the nearest positioned ancestor (instead of positioned relative to the viewport, like fixed).</a:t>
            </a:r>
          </a:p>
          <a:p>
            <a:r>
              <a:rPr lang="en-US" dirty="0"/>
              <a:t>If an absolute positioned element has no positioned ancestors, it uses the document body, and moves along with page scrolling.</a:t>
            </a:r>
          </a:p>
          <a:p>
            <a:r>
              <a:rPr lang="en-US" dirty="0"/>
              <a:t>Absolute positioned elements are removed from the normal flow, and can overlap elements.</a:t>
            </a:r>
          </a:p>
          <a:p>
            <a:endParaRPr lang="en-IN" dirty="0"/>
          </a:p>
        </p:txBody>
      </p:sp>
    </p:spTree>
    <p:extLst>
      <p:ext uri="{BB962C8B-B14F-4D97-AF65-F5344CB8AC3E}">
        <p14:creationId xmlns:p14="http://schemas.microsoft.com/office/powerpoint/2010/main" val="40924451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absolute</a:t>
            </a:r>
          </a:p>
        </p:txBody>
      </p:sp>
      <p:pic>
        <p:nvPicPr>
          <p:cNvPr id="4" name="Content Placeholder 3"/>
          <p:cNvPicPr>
            <a:picLocks noGrp="1" noChangeAspect="1"/>
          </p:cNvPicPr>
          <p:nvPr>
            <p:ph idx="1"/>
          </p:nvPr>
        </p:nvPicPr>
        <p:blipFill>
          <a:blip r:embed="rId2"/>
          <a:stretch>
            <a:fillRect/>
          </a:stretch>
        </p:blipFill>
        <p:spPr>
          <a:xfrm>
            <a:off x="1241951" y="1825625"/>
            <a:ext cx="9708098" cy="4351338"/>
          </a:xfrm>
          <a:prstGeom prst="rect">
            <a:avLst/>
          </a:prstGeom>
        </p:spPr>
      </p:pic>
    </p:spTree>
    <p:extLst>
      <p:ext uri="{BB962C8B-B14F-4D97-AF65-F5344CB8AC3E}">
        <p14:creationId xmlns:p14="http://schemas.microsoft.com/office/powerpoint/2010/main" val="109898267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position: absolute output</a:t>
            </a:r>
          </a:p>
        </p:txBody>
      </p:sp>
      <p:pic>
        <p:nvPicPr>
          <p:cNvPr id="4" name="Content Placeholder 3"/>
          <p:cNvPicPr>
            <a:picLocks noGrp="1" noChangeAspect="1"/>
          </p:cNvPicPr>
          <p:nvPr>
            <p:ph idx="1"/>
          </p:nvPr>
        </p:nvPicPr>
        <p:blipFill>
          <a:blip r:embed="rId2"/>
          <a:stretch>
            <a:fillRect/>
          </a:stretch>
        </p:blipFill>
        <p:spPr>
          <a:xfrm>
            <a:off x="1776412" y="2534444"/>
            <a:ext cx="8639175" cy="2933700"/>
          </a:xfrm>
          <a:prstGeom prst="rect">
            <a:avLst/>
          </a:prstGeom>
        </p:spPr>
      </p:pic>
    </p:spTree>
    <p:extLst>
      <p:ext uri="{BB962C8B-B14F-4D97-AF65-F5344CB8AC3E}">
        <p14:creationId xmlns:p14="http://schemas.microsoft.com/office/powerpoint/2010/main" val="2654428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7127</TotalTime>
  <Words>3490</Words>
  <Application>Microsoft Office PowerPoint</Application>
  <PresentationFormat>Widescreen</PresentationFormat>
  <Paragraphs>558</Paragraphs>
  <Slides>134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134</vt:i4>
      </vt:variant>
    </vt:vector>
  </HeadingPairs>
  <TitlesOfParts>
    <vt:vector size="138" baseType="lpstr">
      <vt:lpstr>Arial</vt:lpstr>
      <vt:lpstr>Calibri</vt:lpstr>
      <vt:lpstr>Calibri Light</vt:lpstr>
      <vt:lpstr>Office Theme</vt:lpstr>
      <vt:lpstr>Bachelor Of Engineering  In  Information Technology  Semester Three, Second Year(Odd semester) 14th July  2025 to 26th November 2025 </vt:lpstr>
      <vt:lpstr>App Development</vt:lpstr>
      <vt:lpstr>UNIT 1 :Cascading Style Sheets Refer Web Technologies: HTML, Javascript, PHP, Java, JSP, ASP.NET, XML and AJAX, Black Book; Publisher: Dreamtech Press(2015) ; ISBN: 978-81-7722-997-4  </vt:lpstr>
      <vt:lpstr>Need for CSS(Cascading Style Sheets)</vt:lpstr>
      <vt:lpstr>Basic syntax and structure of CSS</vt:lpstr>
      <vt:lpstr> Using CSS</vt:lpstr>
      <vt:lpstr>PowerPoint Presentation</vt:lpstr>
      <vt:lpstr>Attributes of the &lt;style&gt; Element</vt:lpstr>
      <vt:lpstr>Inline styles</vt:lpstr>
      <vt:lpstr>Inline styles</vt:lpstr>
      <vt:lpstr>PowerPoint Presentation</vt:lpstr>
      <vt:lpstr>External style sheets</vt:lpstr>
      <vt:lpstr>Creating External style sheet</vt:lpstr>
      <vt:lpstr>Style.css</vt:lpstr>
      <vt:lpstr>Linking an HTML Document to an External Style sheet </vt:lpstr>
      <vt:lpstr>ExternalStyleSheets.html </vt:lpstr>
      <vt:lpstr>Internal style sheets</vt:lpstr>
      <vt:lpstr>InternalStyleSheets.html </vt:lpstr>
      <vt:lpstr>Internal style sheets</vt:lpstr>
      <vt:lpstr>Using style classes</vt:lpstr>
      <vt:lpstr>Using style classes</vt:lpstr>
      <vt:lpstr>StyleClasses.html </vt:lpstr>
      <vt:lpstr>StyleClasses.html</vt:lpstr>
      <vt:lpstr>Multiple styles</vt:lpstr>
      <vt:lpstr>PowerPoint Presentation</vt:lpstr>
      <vt:lpstr>Background property</vt:lpstr>
      <vt:lpstr>Background-color property</vt:lpstr>
      <vt:lpstr>Background image property</vt:lpstr>
      <vt:lpstr>Background image property</vt:lpstr>
      <vt:lpstr>background-position property</vt:lpstr>
      <vt:lpstr>background-size property</vt:lpstr>
      <vt:lpstr>background-size pixel property</vt:lpstr>
      <vt:lpstr>background-repeat property</vt:lpstr>
      <vt:lpstr>background-origin property</vt:lpstr>
      <vt:lpstr>background-clip property</vt:lpstr>
      <vt:lpstr>background-clip Border-Box property</vt:lpstr>
      <vt:lpstr>background-clip Padding-Box property</vt:lpstr>
      <vt:lpstr>background-clip Content-Box property</vt:lpstr>
      <vt:lpstr>background-clip Text property</vt:lpstr>
      <vt:lpstr>background-clip Text property</vt:lpstr>
      <vt:lpstr>background-attachment property</vt:lpstr>
      <vt:lpstr>background-attachment scroll property</vt:lpstr>
      <vt:lpstr>background-attachment Fixed property</vt:lpstr>
      <vt:lpstr>background-attachment local property</vt:lpstr>
      <vt:lpstr>background-attachment scroll v/s local</vt:lpstr>
      <vt:lpstr>manipulating texts</vt:lpstr>
      <vt:lpstr>text color</vt:lpstr>
      <vt:lpstr>text direction</vt:lpstr>
      <vt:lpstr>letter-spacing</vt:lpstr>
      <vt:lpstr>word-spacing</vt:lpstr>
      <vt:lpstr> text-indent</vt:lpstr>
      <vt:lpstr>text-align</vt:lpstr>
      <vt:lpstr>text-decoration property</vt:lpstr>
      <vt:lpstr>text-decoration-line property</vt:lpstr>
      <vt:lpstr>text-decoration-color</vt:lpstr>
      <vt:lpstr>text-decoration-style property</vt:lpstr>
      <vt:lpstr>text-decoration-thickness property</vt:lpstr>
      <vt:lpstr>text-indent property</vt:lpstr>
      <vt:lpstr>text-shadow property</vt:lpstr>
      <vt:lpstr>text-transform</vt:lpstr>
      <vt:lpstr>white-space</vt:lpstr>
      <vt:lpstr>Font property</vt:lpstr>
      <vt:lpstr>Generic Font Families</vt:lpstr>
      <vt:lpstr>Difference Between Serif and Sans-serif Fonts</vt:lpstr>
      <vt:lpstr>The CSS font-family Property</vt:lpstr>
      <vt:lpstr>The Font-family Property</vt:lpstr>
      <vt:lpstr>The Font-size Property</vt:lpstr>
      <vt:lpstr>Set Font Size With Pixels</vt:lpstr>
      <vt:lpstr>Set Font Size With em</vt:lpstr>
      <vt:lpstr>Set Font Size With em</vt:lpstr>
      <vt:lpstr>Use a Combination of Percent and Em</vt:lpstr>
      <vt:lpstr>Use a Combination of Percent and Em</vt:lpstr>
      <vt:lpstr>The Font-size-adjust Property</vt:lpstr>
      <vt:lpstr>The Font-size-adjust Property</vt:lpstr>
      <vt:lpstr>The Font-size-adjust Property</vt:lpstr>
      <vt:lpstr>The Font-size-adjust Property</vt:lpstr>
      <vt:lpstr>The font-stretch property</vt:lpstr>
      <vt:lpstr>The font-stretch property</vt:lpstr>
      <vt:lpstr>The font-style property</vt:lpstr>
      <vt:lpstr>The font-variant property</vt:lpstr>
      <vt:lpstr>The font-variant property</vt:lpstr>
      <vt:lpstr>The font-weight property</vt:lpstr>
      <vt:lpstr>values of the font-weight property</vt:lpstr>
      <vt:lpstr>The font-weight property</vt:lpstr>
      <vt:lpstr>Border Property</vt:lpstr>
      <vt:lpstr>Border Image Property</vt:lpstr>
      <vt:lpstr>Border Image Property</vt:lpstr>
      <vt:lpstr>Border-image-source</vt:lpstr>
      <vt:lpstr>Border-image-source</vt:lpstr>
      <vt:lpstr>Border-image-slice</vt:lpstr>
      <vt:lpstr>Border-image-slice</vt:lpstr>
      <vt:lpstr>Border-image-width</vt:lpstr>
      <vt:lpstr>Border-image-width</vt:lpstr>
      <vt:lpstr>Border-image-outset</vt:lpstr>
      <vt:lpstr>Border-image-outset</vt:lpstr>
      <vt:lpstr>Border-image-repeat</vt:lpstr>
      <vt:lpstr>Border-image-repeat</vt:lpstr>
      <vt:lpstr>margins</vt:lpstr>
      <vt:lpstr>margins</vt:lpstr>
      <vt:lpstr>margins</vt:lpstr>
      <vt:lpstr>margins</vt:lpstr>
      <vt:lpstr>Margin top</vt:lpstr>
      <vt:lpstr>PowerPoint Presentation</vt:lpstr>
      <vt:lpstr>Margin-bottom</vt:lpstr>
      <vt:lpstr>Margin-bottom</vt:lpstr>
      <vt:lpstr>Margin left</vt:lpstr>
      <vt:lpstr>Margin left</vt:lpstr>
      <vt:lpstr>Margin right</vt:lpstr>
      <vt:lpstr>Margin right</vt:lpstr>
      <vt:lpstr>padding</vt:lpstr>
      <vt:lpstr>padding</vt:lpstr>
      <vt:lpstr>padding</vt:lpstr>
      <vt:lpstr>padding</vt:lpstr>
      <vt:lpstr>Padding bottom</vt:lpstr>
      <vt:lpstr>Padding bottom</vt:lpstr>
      <vt:lpstr>Padding top</vt:lpstr>
      <vt:lpstr>Padding top</vt:lpstr>
      <vt:lpstr>Padding left</vt:lpstr>
      <vt:lpstr>Padding left</vt:lpstr>
      <vt:lpstr>Padding right</vt:lpstr>
      <vt:lpstr>Padding right</vt:lpstr>
      <vt:lpstr>positioning using CSS</vt:lpstr>
      <vt:lpstr>position: static</vt:lpstr>
      <vt:lpstr>position: static</vt:lpstr>
      <vt:lpstr>position: static output</vt:lpstr>
      <vt:lpstr>position: relative</vt:lpstr>
      <vt:lpstr>position: relative</vt:lpstr>
      <vt:lpstr>position: relative output</vt:lpstr>
      <vt:lpstr>position: fixed</vt:lpstr>
      <vt:lpstr>position: fixed</vt:lpstr>
      <vt:lpstr>position: fixed output</vt:lpstr>
      <vt:lpstr>position: absolute</vt:lpstr>
      <vt:lpstr>position: absolute</vt:lpstr>
      <vt:lpstr>position: absolute output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the Work Breakdown Structure</dc:title>
  <dc:creator>student</dc:creator>
  <cp:lastModifiedBy>STUDENT</cp:lastModifiedBy>
  <cp:revision>2080</cp:revision>
  <dcterms:created xsi:type="dcterms:W3CDTF">2017-01-16T04:52:19Z</dcterms:created>
  <dcterms:modified xsi:type="dcterms:W3CDTF">2025-07-31T03:35:45Z</dcterms:modified>
</cp:coreProperties>
</file>